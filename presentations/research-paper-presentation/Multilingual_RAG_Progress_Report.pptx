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27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this deck is focused on the work completed up to this point. The project has moved from paper review and benchmarks into a functioning multilingual RAG system with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main framing. Emphasize that the project is not just making an app; it is building and evaluating a multilingual RAG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roadmap of the presentation. It quickly shows the work has a clear sequence and measurable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the project to both XRAG and the mentor paper. It explains why BGE-M3 became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an important part of the work was understanding and normalizing the data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motivation slide. The baseline did not just produce numbers; it told us that evidence selection drives answer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BM25 as the starting point and not the final approach. It was useful because it was simple and 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key number: BM25 Top-4 retrieved complete support for 32 out of 50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 negative result that still matters. Dense retrieval was tested carefully, including fixing the truncation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completes the early retrieval experiment story: BM25, E5, and hybrid were all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software organization and implementation. It shows the project is now a runnable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V1 was important because it proved the full system loop could run: retrieval, prompting, generation, and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Dr. Agrawal’s paper. The implementation follows the CROSS-style retrieval idea, not NSAR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major retrieval result. Top-20 retrieved complete support for 40 out of 50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has the best end-to-end result. Top-20 scored 90% point-based accuracy on the first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measurable improvement over time. V1 to V2 is a clear research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remaining errors are not random; they point directly to the next system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showing the mentor that there are tangible outputs to upload 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status slide. It answers: what is done, what is in progress, and what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immediate next step after the completed work. Keep it grounded in the evidence we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clear questions. The goal of Tuesday is to get confirmation before finalizing the Friday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8372D03A-7041-3ECC-5738-6901BE6D03DB}"/>
              </a:ext>
            </a:extLst>
          </p:cNvPr>
          <p:cNvSpPr/>
          <p:nvPr/>
        </p:nvSpPr>
        <p:spPr>
          <a:xfrm>
            <a:off x="8458201" y="3495981"/>
            <a:ext cx="2377440" cy="147835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53B3E1FE-6826-98C4-0F0E-22747A65AC18}"/>
              </a:ext>
            </a:extLst>
          </p:cNvPr>
          <p:cNvSpPr/>
          <p:nvPr/>
        </p:nvSpPr>
        <p:spPr>
          <a:xfrm>
            <a:off x="5928362" y="3493008"/>
            <a:ext cx="2302042" cy="147835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32AADA76-0B4C-FA47-B3B1-059EBAF85BEB}"/>
              </a:ext>
            </a:extLst>
          </p:cNvPr>
          <p:cNvSpPr/>
          <p:nvPr/>
        </p:nvSpPr>
        <p:spPr>
          <a:xfrm>
            <a:off x="3185161" y="3493008"/>
            <a:ext cx="2529839" cy="147835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D0F66C70-14D1-AF69-1888-D57405370932}"/>
              </a:ext>
            </a:extLst>
          </p:cNvPr>
          <p:cNvSpPr/>
          <p:nvPr/>
        </p:nvSpPr>
        <p:spPr>
          <a:xfrm>
            <a:off x="758037" y="3495981"/>
            <a:ext cx="2194561" cy="147835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5FC11513-BF12-F2BF-258F-BDEA48301B3E}"/>
              </a:ext>
            </a:extLst>
          </p:cNvPr>
          <p:cNvSpPr/>
          <p:nvPr/>
        </p:nvSpPr>
        <p:spPr>
          <a:xfrm>
            <a:off x="978568" y="2404759"/>
            <a:ext cx="10222831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PROGRESS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</a:rPr>
              <a:t>What I’ve Completed So Far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Multilingual RAG system development using XRAG, BM25, BGE-M3, and GPT generation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Baseline testing  →  Retriever experiments  →  Clean system build  →  BGE-M3 V2 results  →  V3 plan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4D399"/>
                </a:solidFill>
              </a:rPr>
              <a:t>CURRENT SYSTEM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3950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V2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BGE-M3 sentence retrieval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0A5FA"/>
                </a:solidFill>
              </a:rPr>
              <a:t>EVALUATION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39502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50 + 10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45582" y="4450078"/>
            <a:ext cx="2529839" cy="34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50 retrieval, 10 generation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BBF24"/>
                </a:solidFill>
              </a:rPr>
              <a:t>BEST SCORE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3640" y="39502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18/20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63640" y="4434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Top-20 generation comparison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5997" y="366161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72B6"/>
                </a:solidFill>
              </a:rPr>
              <a:t>NEXT STEP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85997" y="3862779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V3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48299" y="4343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filtered evidence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CB83D52B-3B3B-4309-43EE-179A6E5D2CF3}"/>
              </a:ext>
            </a:extLst>
          </p:cNvPr>
          <p:cNvSpPr/>
          <p:nvPr/>
        </p:nvSpPr>
        <p:spPr>
          <a:xfrm>
            <a:off x="502920" y="2999874"/>
            <a:ext cx="10911840" cy="23257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2A15848-6BE5-5AFF-8941-CCBC6C997062}"/>
              </a:ext>
            </a:extLst>
          </p:cNvPr>
          <p:cNvSpPr/>
          <p:nvPr/>
        </p:nvSpPr>
        <p:spPr>
          <a:xfrm>
            <a:off x="502920" y="1275347"/>
            <a:ext cx="10558112" cy="148389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PROJECT FOCUS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Project Goal and Current Framing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957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Goal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Build and evaluate a multilingual RAG system that retrieves evidence from news articles and answers XRAG-style questions accurately.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10957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Current framing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105156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I am using XRAG to measure multilingual evidence retrieval and answer generation.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I first tested baseline conditions and simple retrievers.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I then built a clean RAG system and moved toward BGE-M3 sentence-level retrieval based on the mentor paper.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strongest system so far is BGE-M3 Top-20 sentence retrieval followed by GPT generation.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C854C63D-863C-E5CE-8DCD-CFEDD12C0C28}"/>
              </a:ext>
            </a:extLst>
          </p:cNvPr>
          <p:cNvSpPr/>
          <p:nvPr/>
        </p:nvSpPr>
        <p:spPr>
          <a:xfrm>
            <a:off x="624535" y="5742432"/>
            <a:ext cx="11064239" cy="4979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337F44C6-C03E-500B-8F17-2B337552BE62}"/>
              </a:ext>
            </a:extLst>
          </p:cNvPr>
          <p:cNvSpPr/>
          <p:nvPr/>
        </p:nvSpPr>
        <p:spPr>
          <a:xfrm>
            <a:off x="744777" y="4626590"/>
            <a:ext cx="10443363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A626D931-A21E-1D88-A58D-276DAA230E52}"/>
              </a:ext>
            </a:extLst>
          </p:cNvPr>
          <p:cNvSpPr/>
          <p:nvPr/>
        </p:nvSpPr>
        <p:spPr>
          <a:xfrm>
            <a:off x="728312" y="3782370"/>
            <a:ext cx="10443364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18AF25E1-1849-615A-4F62-7959EEAD509E}"/>
              </a:ext>
            </a:extLst>
          </p:cNvPr>
          <p:cNvSpPr/>
          <p:nvPr/>
        </p:nvSpPr>
        <p:spPr>
          <a:xfrm>
            <a:off x="744778" y="2916936"/>
            <a:ext cx="10443363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8285307F-8240-60CF-104F-5EE21DC25DC7}"/>
              </a:ext>
            </a:extLst>
          </p:cNvPr>
          <p:cNvSpPr/>
          <p:nvPr/>
        </p:nvSpPr>
        <p:spPr>
          <a:xfrm>
            <a:off x="758036" y="2093704"/>
            <a:ext cx="10383205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16907631-9044-7F4E-2743-20DE2076444C}"/>
              </a:ext>
            </a:extLst>
          </p:cNvPr>
          <p:cNvSpPr/>
          <p:nvPr/>
        </p:nvSpPr>
        <p:spPr>
          <a:xfrm>
            <a:off x="758037" y="1283129"/>
            <a:ext cx="10383204" cy="7194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WHAT HAS BEEN DONE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Progress Timeline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Research foundation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69080" y="1472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Studied XRAG plus the mentor CROSS/NSAR paper; defined the benchmark and system direction.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Generation baselines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69080" y="229514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Compared no-doc, support-only, all-doc, and retrieved-doc conditions; confirmed evidence quality matters.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312724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Retriever experiments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69080" y="311810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Tested BM25, chunked E5, and BM25+E5 hybrid retrieval; BM25 became the early baseline.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Clean system build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69080" y="3941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Created Multilingual_RAG_System and built rag_system_v1.py as a working BM25 RAG pipeline.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7240" y="477316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54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BGE-M3 System V2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69080" y="47640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Built sentence-level BGE-M3 retrieval and compared Top-10 vs Top-20 generation.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7240" y="580644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This timeline shows the project moved from research review into a working, measured system.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297D4FEE-B5D0-F521-92C2-FA135C85A815}"/>
              </a:ext>
            </a:extLst>
          </p:cNvPr>
          <p:cNvSpPr/>
          <p:nvPr/>
        </p:nvSpPr>
        <p:spPr>
          <a:xfrm>
            <a:off x="223785" y="4924927"/>
            <a:ext cx="11206215" cy="51575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B53EF34A-57B7-B540-C504-03D1CA0283C3}"/>
              </a:ext>
            </a:extLst>
          </p:cNvPr>
          <p:cNvSpPr/>
          <p:nvPr/>
        </p:nvSpPr>
        <p:spPr>
          <a:xfrm>
            <a:off x="6210147" y="1297646"/>
            <a:ext cx="5474970" cy="289736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96A014C9-07BA-76C3-8CE7-F9B24D6A0EB5}"/>
              </a:ext>
            </a:extLst>
          </p:cNvPr>
          <p:cNvSpPr/>
          <p:nvPr/>
        </p:nvSpPr>
        <p:spPr>
          <a:xfrm>
            <a:off x="313182" y="1298448"/>
            <a:ext cx="5782818" cy="28965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Research Foundation I Used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957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XRAG benchmark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1206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Multilingual questions with gold answers and candidate news articles.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Support labels identify which articles contain the required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Distractor articles make it possible to measure evidence-selection errors.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Mentor paper connection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292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CROSS uses sentence-level BGE-M3 retrieval for multilingual long-context evidence selection.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NSAR adds structured fact extraction and Python-based reasoning.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I used the CROSS idea to move from BM25 article retrieval to BGE-M3 sentence retrieval.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8060" y="4993907"/>
            <a:ext cx="11928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4D399"/>
                </a:solidFill>
              </a:rPr>
              <a:t>Research takeaway: retrieval and reasoning should be separated, measured, and improved independently.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31D94D54-A047-8B4B-7963-9CC5D8AE0D6A}"/>
              </a:ext>
            </a:extLst>
          </p:cNvPr>
          <p:cNvSpPr/>
          <p:nvPr/>
        </p:nvSpPr>
        <p:spPr>
          <a:xfrm>
            <a:off x="414046" y="1364742"/>
            <a:ext cx="10787353" cy="12207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62589F93-09BD-F46E-500A-80293A949568}"/>
              </a:ext>
            </a:extLst>
          </p:cNvPr>
          <p:cNvSpPr/>
          <p:nvPr/>
        </p:nvSpPr>
        <p:spPr>
          <a:xfrm>
            <a:off x="372376" y="3063240"/>
            <a:ext cx="8725903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XRAG SAMPLE AND PARSING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Data and Setup Completed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</a:rPr>
              <a:t>LANGUAGES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17556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Arabic + Spanish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CANDIDATES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articles per question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1508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LABELS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17556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is_support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2240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article-level support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2B6"/>
                </a:solidFill>
              </a:rPr>
              <a:t>TASKS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17556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mono/multi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7260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retrieval types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3483864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Data engineering/debugging completed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3547872"/>
            <a:ext cx="1060704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Fixed article parsing because XRAG articles were stored as plain strings.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Fixed support-label detection from arrays such as [0, 2, 0, 0, ...].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Fixed metadata fields because the sample used q_type and a_type.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Verified the system could run in preview mode before making API calls.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BFC42271-2C54-00DB-39BC-9747591C3124}"/>
              </a:ext>
            </a:extLst>
          </p:cNvPr>
          <p:cNvSpPr/>
          <p:nvPr/>
        </p:nvSpPr>
        <p:spPr>
          <a:xfrm>
            <a:off x="3228974" y="5586984"/>
            <a:ext cx="5690435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234262B9-CE58-83D3-8CC4-17E816D684CD}"/>
              </a:ext>
            </a:extLst>
          </p:cNvPr>
          <p:cNvSpPr/>
          <p:nvPr/>
        </p:nvSpPr>
        <p:spPr>
          <a:xfrm>
            <a:off x="1800123" y="1481488"/>
            <a:ext cx="8723497" cy="39287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4BD3960F-4BF7-9F11-14E9-86FB4E5B303C}"/>
              </a:ext>
            </a:extLst>
          </p:cNvPr>
          <p:cNvSpPr/>
          <p:nvPr/>
        </p:nvSpPr>
        <p:spPr>
          <a:xfrm>
            <a:off x="6137910" y="2240279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F517FCAC-311C-EA67-697A-B7173AF0FD65}"/>
              </a:ext>
            </a:extLst>
          </p:cNvPr>
          <p:cNvSpPr/>
          <p:nvPr/>
        </p:nvSpPr>
        <p:spPr>
          <a:xfrm>
            <a:off x="491490" y="2240279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WHY EVIDENCE SELECTION BECAME CENTRAL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Initial Generation Baselines Completed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Question only  →  Support only  →  All documents  →  Retrieved documents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What I tested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9377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The model answering without documents.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model answering with only gold support documents.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model answering with all eight documents, including distractors.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model answering with automatically retrieved documents.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2535" y="2404872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Main result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990247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The model performed best with clean support evidence. Adding all documents introduced distractors and reduced answer quality.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29137" y="5586984"/>
            <a:ext cx="55902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4D399"/>
                </a:solidFill>
              </a:rPr>
              <a:t>This made retrieval the next major research problem.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2BE09C2A-1714-C2E9-17B1-F335D91AF95D}"/>
              </a:ext>
            </a:extLst>
          </p:cNvPr>
          <p:cNvSpPr/>
          <p:nvPr/>
        </p:nvSpPr>
        <p:spPr>
          <a:xfrm>
            <a:off x="6307302" y="1281604"/>
            <a:ext cx="5474970" cy="301607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FB531B76-E266-147D-E78D-AA94A9DDF2EF}"/>
              </a:ext>
            </a:extLst>
          </p:cNvPr>
          <p:cNvSpPr/>
          <p:nvPr/>
        </p:nvSpPr>
        <p:spPr>
          <a:xfrm>
            <a:off x="522351" y="1281604"/>
            <a:ext cx="5701986" cy="301607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FIRST AUTOMATIC RETRIEVER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BM25 Document-Level Retrieval Built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What I built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30352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Installed and tested rank-bm25.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Created scripts to rank all eight XRAG candidate articles.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Compared selected articles against true support labels.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Created failure analysis by language, task type, and question type.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7816" y="14173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Why BM25 mattered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7816" y="1709928"/>
            <a:ext cx="507492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Simple and interpretable keyword-based retriever.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Strong for names, places, dates, and exact event wording.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No API calls required.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Established the first retrieval baseline before dense retrieval.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07B0021-6FB0-1655-68F0-809A50C7EF44}"/>
              </a:ext>
            </a:extLst>
          </p:cNvPr>
          <p:cNvSpPr/>
          <p:nvPr/>
        </p:nvSpPr>
        <p:spPr>
          <a:xfrm>
            <a:off x="6513042" y="1321307"/>
            <a:ext cx="4916958" cy="366777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F31D618-18B6-4A1E-C91F-123C6B1482C7}"/>
              </a:ext>
            </a:extLst>
          </p:cNvPr>
          <p:cNvSpPr/>
          <p:nvPr/>
        </p:nvSpPr>
        <p:spPr>
          <a:xfrm>
            <a:off x="705231" y="1540764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BASELINE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BM25 Top-K Results on 50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486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setting   | Complete support   | Recall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---------------+--------------------+---------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Top-1          | 7/50               | 0.250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Top-2          | 20/50              | 0.540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Top-3          | 25/50              | 0.650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Top-4          | 32/50              | 0.740 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612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BM25 setting   |   Complete support   |   Recall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6812280" y="146304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Main finding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39712" y="1874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BM25 Top-4 gave the best document-level support coverage, but it also added more distractor evidence.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3246120"/>
            <a:ext cx="4480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Top-4 became the V1 retrieval setting.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trade-off was recall vs. evidence cleanliness.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This set up the need for stronger evidence selection.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0B3AD42-2AAB-A5C7-3984-AAC3836BF383}"/>
              </a:ext>
            </a:extLst>
          </p:cNvPr>
          <p:cNvSpPr/>
          <p:nvPr/>
        </p:nvSpPr>
        <p:spPr>
          <a:xfrm>
            <a:off x="6233007" y="1281603"/>
            <a:ext cx="5474970" cy="296153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0A13A58-9300-A578-0D40-7D41E2B9B689}"/>
              </a:ext>
            </a:extLst>
          </p:cNvPr>
          <p:cNvSpPr/>
          <p:nvPr/>
        </p:nvSpPr>
        <p:spPr>
          <a:xfrm>
            <a:off x="596646" y="1281604"/>
            <a:ext cx="5474970" cy="296153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TESTED BUT DID NOT BEAT BM25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Dense Retrieval Attempt: Multilingual E5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What I tested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303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Tested multilingual E5 as a dense semantic retriever.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First tried full-article embeddings.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Found article lengths exceeded the 512-token limit.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Implemented 400-token chunks with 80-token overlap.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What I learned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749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Full-article E5 was unfair because of truncation.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Chunking fixed the method, but not the performance.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E5 often retrieved topically related but answer-irrelevant articles.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BM25 remained stronger in the pilot.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FB839995-5E2A-E3DA-56B2-51687F44ED8E}"/>
              </a:ext>
            </a:extLst>
          </p:cNvPr>
          <p:cNvSpPr/>
          <p:nvPr/>
        </p:nvSpPr>
        <p:spPr>
          <a:xfrm>
            <a:off x="6893494" y="1243583"/>
            <a:ext cx="4795281" cy="297179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5B6ED04E-7BF5-F039-5044-5E9072628152}"/>
              </a:ext>
            </a:extLst>
          </p:cNvPr>
          <p:cNvSpPr/>
          <p:nvPr/>
        </p:nvSpPr>
        <p:spPr>
          <a:xfrm>
            <a:off x="502920" y="1475392"/>
            <a:ext cx="633222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BM25 + E5 WITH RECIPROCAL RANK FUSION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Hybrid Retrieval Tested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0372" y="1329088"/>
            <a:ext cx="576072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   | Complete support @ Top-2   | MRR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-------------+----------------------------+--------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        | 10/20                      | 0.773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 E5   | 4/20                       | 0.568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RRF   | 8/20                       | 0.685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6128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Retriever   |   Complete support @ Top-2   |   MRR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6995160" y="1463040"/>
            <a:ext cx="4693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22592" y="18745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The hybrid did not outperform BM25 because E5 did not add unique complete-support successes at Top-2.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22592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BM25 stayed as the best early baseline until the BGE-M3 pivot.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D4E7BCD6-3D5A-28C6-5701-44D094577D08}"/>
              </a:ext>
            </a:extLst>
          </p:cNvPr>
          <p:cNvSpPr/>
          <p:nvPr/>
        </p:nvSpPr>
        <p:spPr>
          <a:xfrm>
            <a:off x="632459" y="4946904"/>
            <a:ext cx="11056315" cy="37177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2692A16-AE5D-4BE1-7E7E-3E98550EB938}"/>
              </a:ext>
            </a:extLst>
          </p:cNvPr>
          <p:cNvSpPr/>
          <p:nvPr/>
        </p:nvSpPr>
        <p:spPr>
          <a:xfrm>
            <a:off x="6320790" y="1344168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D95FC32A-0096-1552-F6EE-FB5EF5E9C0C4}"/>
              </a:ext>
            </a:extLst>
          </p:cNvPr>
          <p:cNvSpPr/>
          <p:nvPr/>
        </p:nvSpPr>
        <p:spPr>
          <a:xfrm>
            <a:off x="491490" y="1344168"/>
            <a:ext cx="575691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FROM EXPERIMENTS TO RUNNABLE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Clean System Build Completed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New project structure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2120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Created a separate Multilingual_RAG_System folder.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Kept XRAG_Baseline_Tests as the experiment folder.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Set up a fresh virtual environment and requirements file.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Created outputs, data, src, and utility structure.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1525123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Main code files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749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check_setup.py verified environment and data files.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rag_system_v1.py implemented BM25 RAG with preview and generation modes.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review scripts created scoring CSVs and summaries.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Outcome: I now have a clean system implementation separate from the baseline experiments.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09C96549-F458-18ED-2A53-4997B98D728B}"/>
              </a:ext>
            </a:extLst>
          </p:cNvPr>
          <p:cNvSpPr/>
          <p:nvPr/>
        </p:nvSpPr>
        <p:spPr>
          <a:xfrm>
            <a:off x="1022083" y="1297689"/>
            <a:ext cx="10143222" cy="59587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5FAE359C-81C7-CD57-3BD2-A41485C67A73}"/>
              </a:ext>
            </a:extLst>
          </p:cNvPr>
          <p:cNvSpPr/>
          <p:nvPr/>
        </p:nvSpPr>
        <p:spPr>
          <a:xfrm>
            <a:off x="6096000" y="2075688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D18504C-A08E-583C-578B-4AE44C1F3C2F}"/>
              </a:ext>
            </a:extLst>
          </p:cNvPr>
          <p:cNvSpPr/>
          <p:nvPr/>
        </p:nvSpPr>
        <p:spPr>
          <a:xfrm>
            <a:off x="468630" y="2075689"/>
            <a:ext cx="5474970" cy="26791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FIRST CLEAN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System V1: BM25 RAG Results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XRAG question  →  BM25 Top-4  →  controlled prompt  →  GPT answer  →  manual score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21208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metric           | Result          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--------------------+-----------------------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10 examples   | 10 generated answers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score        | 15/20           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            | 75%             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language    | 10/10                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V1 metric   |   Result</a:t>
            </a:r>
            <a:endParaRPr lang="en-US" sz="100" dirty="0"/>
          </a:p>
        </p:txBody>
      </p:sp>
      <p:sp>
        <p:nvSpPr>
          <p:cNvPr id="9" name="Text 7"/>
          <p:cNvSpPr/>
          <p:nvPr/>
        </p:nvSpPr>
        <p:spPr>
          <a:xfrm>
            <a:off x="6370625" y="233172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Main lesson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70625" y="2683764"/>
            <a:ext cx="47548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CBD5E1"/>
                </a:solidFill>
              </a:rPr>
              <a:t>The system worked end-to-end.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Retrieval success did not always guarantee correct generation.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Some answers were partially correct even when retrieval missed support.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Retrieval and generation needed to be evaluated separately.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F9E5CBA-13E7-7717-29FF-1DCE23D984CD}"/>
              </a:ext>
            </a:extLst>
          </p:cNvPr>
          <p:cNvSpPr/>
          <p:nvPr/>
        </p:nvSpPr>
        <p:spPr>
          <a:xfrm>
            <a:off x="6233006" y="1216152"/>
            <a:ext cx="5410353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D814A13-3372-640D-73B8-B1DAED6CD018}"/>
              </a:ext>
            </a:extLst>
          </p:cNvPr>
          <p:cNvSpPr/>
          <p:nvPr/>
        </p:nvSpPr>
        <p:spPr>
          <a:xfrm>
            <a:off x="548640" y="1216153"/>
            <a:ext cx="557784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MENTOR-PAPER DIRECTION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Pivot to BGE-M3 Based on CROSS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Why I changed direction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303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CBD5E1"/>
                </a:solidFill>
              </a:rPr>
              <a:t>The mentor paper uses BGE-M3 sentence-level retrieval in CROSS.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Sentence-level evidence is more focused than full-article retrieval.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BGE-M3 is designed for multilingual dense retrieval.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</a:rPr>
              <a:t>This fits the cross-lingual evidence-selection problem better than BM25.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What V2 does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749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Splits all eight articles into sentences.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Embeds the question and sentences with BGE-M3.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Ranks sentences by similarity.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Tests sentence caps Top-3, Top-5, Top-10, Top-20, and Top-50.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C164648-9E7F-4655-5491-846469C022CB}"/>
              </a:ext>
            </a:extLst>
          </p:cNvPr>
          <p:cNvSpPr/>
          <p:nvPr/>
        </p:nvSpPr>
        <p:spPr>
          <a:xfrm>
            <a:off x="7658100" y="1243584"/>
            <a:ext cx="390906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5721A553-4F39-5708-2C6B-3F18A8568F57}"/>
              </a:ext>
            </a:extLst>
          </p:cNvPr>
          <p:cNvSpPr/>
          <p:nvPr/>
        </p:nvSpPr>
        <p:spPr>
          <a:xfrm>
            <a:off x="548640" y="1216153"/>
            <a:ext cx="7031254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SENTENCE-LEVEL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BGE-M3 Retrieval Evaluation on 50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19" y="1417320"/>
            <a:ext cx="6848375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 cap   | Support recall   | Complete support   | Any support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---------------+------------------+--------------------+--------------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Top-3          | 0.550            | 20/50              | 35/50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Top-5          | 0.630            | 23/50              | 40/50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Top-10         | 0.770            | 31/50              | 46/50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Top-20         | 0.880            | 40/50              | 48/50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Top-50         | 1.000            | 50/50              | 50/50      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16128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Sentence cap   |   Support recall   |   Complete support   |   Any support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8352322" y="1480927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Best practical cap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75270" y="19659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Top-20 gave the best balance so far: high support coverage without sending 50 sentences into generation.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75270" y="3108960"/>
            <a:ext cx="3474720" cy="16691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Top-50 proves the support articles are reachable, but it likely adds too much distractor text.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D66A2952-D6DB-B3BE-F618-8A20CF25D676}"/>
              </a:ext>
            </a:extLst>
          </p:cNvPr>
          <p:cNvSpPr/>
          <p:nvPr/>
        </p:nvSpPr>
        <p:spPr>
          <a:xfrm>
            <a:off x="6721482" y="1216153"/>
            <a:ext cx="4708518" cy="431034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683F3456-5259-CF79-6113-40612C298867}"/>
              </a:ext>
            </a:extLst>
          </p:cNvPr>
          <p:cNvSpPr/>
          <p:nvPr/>
        </p:nvSpPr>
        <p:spPr>
          <a:xfrm>
            <a:off x="548640" y="1216153"/>
            <a:ext cx="5743074" cy="431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END-TO-END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System V2 Generation: Top-10 vs Top-20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2434" y="2815389"/>
            <a:ext cx="5669280" cy="122722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      | Manual score   | Complete support   | Avg recall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----------------+----------------+--------------------+-------------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BGE-M3 Top-10   | 16/20          | 5/10               | 0.700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BGE-M3 Top-20   | 18/20          | 8/10               | 0.900     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612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Condition   |   Manual score   |   Complete support   |   Avg recall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6995160" y="1600200"/>
            <a:ext cx="4693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</a:rPr>
              <a:t>Result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022592" y="199339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Top-20 became the strongest tested system so far, scoring 18/20 on the first 10 generated answers.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0" y="3429000"/>
            <a:ext cx="42976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Top-20 retrieved more complete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Top-20 improved answer quality over Top-10.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remaining errors were mostly detail-selection problems.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AB213E0-4A34-DC0B-2638-50DEA9CCEA18}"/>
              </a:ext>
            </a:extLst>
          </p:cNvPr>
          <p:cNvSpPr/>
          <p:nvPr/>
        </p:nvSpPr>
        <p:spPr>
          <a:xfrm>
            <a:off x="6708647" y="1216153"/>
            <a:ext cx="4721353" cy="324355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502685D-54A6-4F46-DE46-EDF3DC0D68A0}"/>
              </a:ext>
            </a:extLst>
          </p:cNvPr>
          <p:cNvSpPr/>
          <p:nvPr/>
        </p:nvSpPr>
        <p:spPr>
          <a:xfrm>
            <a:off x="182880" y="1216153"/>
            <a:ext cx="6309359" cy="324355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PROGRESS CHECKPOINT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What Improved from V1 to V2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6217920" cy="3042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  | Retriever                 | First-10 score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---------+---------------------------+-----------------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     | BM25 Top-4 documents      | 15/20 = 75%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     | BGE-M3 Top-10 sentences   | 16/20 = 80%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     | BGE-M3 Top-20 sentences   | 18/20 = 90%   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1612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7111F"/>
                </a:solidFill>
              </a:rPr>
              <a:t>System   |   Retriever   |   First-10 score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6995160" y="1600200"/>
            <a:ext cx="4693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Interpretation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09874" y="1965960"/>
            <a:ext cx="4528686" cy="232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The mentor-paper retrieval direction improved the system.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Sentence-level BGE-M3 retrieval gave more focused evidence than document-level BM25.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Higher recall helped, but evidence filtering is now the next bottleneck.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7DCE148-1224-7FC2-D45D-ED2391B51C9B}"/>
              </a:ext>
            </a:extLst>
          </p:cNvPr>
          <p:cNvSpPr/>
          <p:nvPr/>
        </p:nvSpPr>
        <p:spPr>
          <a:xfrm>
            <a:off x="548640" y="1216154"/>
            <a:ext cx="5547360" cy="3127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6E7D121-5D8D-D121-FA5F-E3A4BFC211DB}"/>
              </a:ext>
            </a:extLst>
          </p:cNvPr>
          <p:cNvSpPr/>
          <p:nvPr/>
        </p:nvSpPr>
        <p:spPr>
          <a:xfrm>
            <a:off x="6233006" y="1179577"/>
            <a:ext cx="5288433" cy="3127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WHAT STILL NEEDS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Failure Analysis: Remaining Issues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7185"/>
                </a:solidFill>
              </a:rPr>
              <a:t>Observed problems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25780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Similar events with different death counts or dates.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Correct support article retrieved, but model selected the wrong detail.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Repeated sentences or evidence from the same article.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Partial answers where the core comparison was right but a number was wrong.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Research meaning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7492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Retrieving support articles is necessary but not always sufficient.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generator needs cleaner, less repetitive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The next system should filter and rerank BGE-M3 Top-20 before generation.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865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Current conclusion: V2 improved retrieval and answers, but V3 needs evidence filtering.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3CEA4FD2-4619-4955-9E7F-D9D2F37A00C6}"/>
              </a:ext>
            </a:extLst>
          </p:cNvPr>
          <p:cNvSpPr/>
          <p:nvPr/>
        </p:nvSpPr>
        <p:spPr>
          <a:xfrm>
            <a:off x="6233006" y="1272301"/>
            <a:ext cx="5410353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121C671-BEF5-7C7F-491D-E646DAA005FB}"/>
              </a:ext>
            </a:extLst>
          </p:cNvPr>
          <p:cNvSpPr/>
          <p:nvPr/>
        </p:nvSpPr>
        <p:spPr>
          <a:xfrm>
            <a:off x="548640" y="1216153"/>
            <a:ext cx="554736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CONCRETE 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Artifacts Created So Far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4225" y="14173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</a:rPr>
              <a:t>Code files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3035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US" sz="2400" dirty="0">
                <a:solidFill>
                  <a:srgbClr val="CBD5E1"/>
                </a:solidFill>
              </a:rPr>
              <a:t>BM25 retrieval and failure-analysis scripts.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Chunked E5 and hybrid RRF scripts.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rag_system_v1.py for BM25 RAG.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evaluate_bge_m3_sentence_retrieval.py for 50-question BGE-M3 retrieval.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rag_system_v2_bge_m3.py for Top-10 vs Top-20 generation.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9400" y="1422935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Result files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074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2400" dirty="0">
                <a:solidFill>
                  <a:srgbClr val="CBD5E1"/>
                </a:solidFill>
              </a:rPr>
              <a:t>BM25 Top-K evaluation summaries.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BGE-M3 retrieval CSV, JSONL, and summary.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V2 generated outputs and review CSV.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Manual scored review and analysis workbook.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Progress notes and mentor-ready reports.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F20A59FE-F6EC-4A15-0F55-9681B46803BE}"/>
              </a:ext>
            </a:extLst>
          </p:cNvPr>
          <p:cNvSpPr/>
          <p:nvPr/>
        </p:nvSpPr>
        <p:spPr>
          <a:xfrm>
            <a:off x="8110486" y="1164016"/>
            <a:ext cx="355473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B9EE6009-620F-CA02-529F-2A73CE83D454}"/>
              </a:ext>
            </a:extLst>
          </p:cNvPr>
          <p:cNvSpPr/>
          <p:nvPr/>
        </p:nvSpPr>
        <p:spPr>
          <a:xfrm>
            <a:off x="4506728" y="1216153"/>
            <a:ext cx="355473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A3696A7-D01D-5544-651D-8635B0DA22A3}"/>
              </a:ext>
            </a:extLst>
          </p:cNvPr>
          <p:cNvSpPr/>
          <p:nvPr/>
        </p:nvSpPr>
        <p:spPr>
          <a:xfrm>
            <a:off x="548640" y="1216153"/>
            <a:ext cx="3909060" cy="3630167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</a:rPr>
              <a:t>WHERE I AM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Current Project Status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1062" y="1600200"/>
            <a:ext cx="1388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Completed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1062" y="2097305"/>
            <a:ext cx="3554730" cy="2663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XRAG paper/background study.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Initial generation baselines.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BM25, E5, and hybrid retrieval experiments.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Clean RAG System V1.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BGE-M3 sentence retrieval on 50 questions.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V2 Top-10 vs Top-20 generation comparison</a:t>
            </a:r>
            <a:r>
              <a:rPr lang="en-US" sz="1400" dirty="0">
                <a:solidFill>
                  <a:srgbClr val="CBD5E1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1724" y="1600200"/>
            <a:ext cx="1785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In progress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71724" y="1746504"/>
            <a:ext cx="2389472" cy="21357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V2 failure interpretation.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Designing V3 filtered retrieval.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21040" y="1588329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1783080"/>
            <a:ext cx="30632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Deduplicate Top-20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Limit repeated article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Filter/rerank to final Top-8 or Top-10.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Compare V2 and V3.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</a:rPr>
              <a:t>Strongest tested configuration so far: BGE-M3 Top-20 sentence retrieval + GPT generation.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IMMEDIATE TECHNICAL DIRECTION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212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Next Step: System V3 Evidence Filtering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927080" cy="0"/>
          </a:xfrm>
          <a:prstGeom prst="line">
            <a:avLst/>
          </a:prstGeom>
          <a:noFill/>
          <a:ln w="12700">
            <a:solidFill>
              <a:srgbClr val="284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BGE-M3 Top-20  →  deduplicate  →  article diversity  →  rerank/filter  →  final Top-8/10  →  GPT answer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1" y="2377440"/>
            <a:ext cx="510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Why V3 is the next step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09499"/>
            <a:ext cx="50292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dirty="0">
                <a:solidFill>
                  <a:srgbClr val="CBD5E1"/>
                </a:solidFill>
              </a:rPr>
              <a:t>Top-20 is strong for retrieval coverage.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But raw Top-20 can still include repeated or confusing evidence.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Filtering should preserve support while reducing distractors.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What I will compare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49377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rgbClr val="CBD5E1"/>
                </a:solidFill>
              </a:rPr>
              <a:t>V2 raw BGE-M3 Top-20 vs V3 filtered evidence.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Manual answer accuracy on the same first 10 questions.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Failure categories: wrong number, wrong event, incomplete answer.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Possible later addition: NSAR-style fact extraction and code reasoning.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0" y="6537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Progress report •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D3E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2120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TIMELINE TO AUGUST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100" b="1">
                <a:solidFill>
                  <a:srgbClr val="F5F8FF"/>
                </a:solidFill>
                <a:latin typeface="Aptos"/>
              </a:rPr>
              <a:t>Next Steps and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060704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" y="2148840"/>
            <a:ext cx="9555480" cy="5029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44168" y="19659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82880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2679192"/>
            <a:ext cx="1591056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711196"/>
            <a:ext cx="1499616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Jul 23–29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" y="3118104"/>
            <a:ext cx="1722120" cy="14403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Filtered retrieval</a:t>
            </a:r>
          </a:p>
          <a:p>
            <a:r>
              <a:rPr dirty="0">
                <a:solidFill>
                  <a:schemeClr val="bg1"/>
                </a:solidFill>
              </a:rPr>
              <a:t>Deduplication + article diversity</a:t>
            </a:r>
          </a:p>
          <a:p>
            <a:r>
              <a:rPr dirty="0">
                <a:solidFill>
                  <a:schemeClr val="bg1"/>
                </a:solidFill>
              </a:rPr>
              <a:t>Final Top-8/10 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3355848" y="19659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2514600"/>
            <a:ext cx="182880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07791" y="2679192"/>
            <a:ext cx="1591056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53512" y="2711196"/>
            <a:ext cx="1499616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Jul 30–Aug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6060" y="3138572"/>
            <a:ext cx="1828800" cy="171739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Compare V1, V2, V3</a:t>
            </a:r>
          </a:p>
          <a:p>
            <a:r>
              <a:rPr dirty="0">
                <a:solidFill>
                  <a:schemeClr val="bg1"/>
                </a:solidFill>
              </a:rPr>
              <a:t>Score 50 examples</a:t>
            </a:r>
          </a:p>
          <a:p>
            <a:r>
              <a:rPr dirty="0">
                <a:solidFill>
                  <a:schemeClr val="bg1"/>
                </a:solidFill>
              </a:rPr>
              <a:t>Create error analysis tables</a:t>
            </a:r>
          </a:p>
        </p:txBody>
      </p:sp>
      <p:sp>
        <p:nvSpPr>
          <p:cNvPr id="19" name="Oval 18"/>
          <p:cNvSpPr/>
          <p:nvPr/>
        </p:nvSpPr>
        <p:spPr>
          <a:xfrm>
            <a:off x="5367528" y="1965960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00600" y="2514600"/>
            <a:ext cx="182880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19472" y="2679192"/>
            <a:ext cx="1591056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2711196"/>
            <a:ext cx="1499616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Aug 7–10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2332" y="3067812"/>
            <a:ext cx="1499616" cy="171739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Summarize findings</a:t>
            </a:r>
          </a:p>
          <a:p>
            <a:r>
              <a:rPr dirty="0">
                <a:solidFill>
                  <a:schemeClr val="bg1"/>
                </a:solidFill>
              </a:rPr>
              <a:t>Prepare final figures</a:t>
            </a:r>
          </a:p>
          <a:p>
            <a:r>
              <a:rPr dirty="0">
                <a:solidFill>
                  <a:schemeClr val="bg1"/>
                </a:solidFill>
              </a:rPr>
              <a:t>Draft final report</a:t>
            </a:r>
          </a:p>
        </p:txBody>
      </p:sp>
      <p:sp>
        <p:nvSpPr>
          <p:cNvPr id="25" name="Oval 24"/>
          <p:cNvSpPr/>
          <p:nvPr/>
        </p:nvSpPr>
        <p:spPr>
          <a:xfrm>
            <a:off x="7379208" y="1965960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12280" y="2514600"/>
            <a:ext cx="182880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31152" y="2679192"/>
            <a:ext cx="1591056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6872" y="2711196"/>
            <a:ext cx="1499616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Aug 11–13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049845"/>
            <a:ext cx="1499616" cy="171739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Polish slides + report</a:t>
            </a:r>
          </a:p>
          <a:p>
            <a:r>
              <a:rPr dirty="0">
                <a:solidFill>
                  <a:schemeClr val="bg1"/>
                </a:solidFill>
              </a:rPr>
              <a:t>Clean code repository</a:t>
            </a:r>
          </a:p>
          <a:p>
            <a:r>
              <a:rPr dirty="0">
                <a:solidFill>
                  <a:schemeClr val="bg1"/>
                </a:solidFill>
              </a:rPr>
              <a:t>Upload final artifacts</a:t>
            </a:r>
          </a:p>
        </p:txBody>
      </p:sp>
      <p:sp>
        <p:nvSpPr>
          <p:cNvPr id="31" name="Oval 30"/>
          <p:cNvSpPr/>
          <p:nvPr/>
        </p:nvSpPr>
        <p:spPr>
          <a:xfrm>
            <a:off x="9390888" y="1965960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823960" y="2514600"/>
            <a:ext cx="182880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42832" y="2679192"/>
            <a:ext cx="1591056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88552" y="2711196"/>
            <a:ext cx="1499616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Aug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3065262"/>
            <a:ext cx="1709928" cy="14403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Present results</a:t>
            </a:r>
          </a:p>
          <a:p>
            <a:r>
              <a:rPr dirty="0">
                <a:solidFill>
                  <a:schemeClr val="bg1"/>
                </a:solidFill>
              </a:rPr>
              <a:t>Explain system progression</a:t>
            </a:r>
          </a:p>
          <a:p>
            <a:r>
              <a:rPr dirty="0">
                <a:solidFill>
                  <a:schemeClr val="bg1"/>
                </a:solidFill>
              </a:rPr>
              <a:t>Discuss future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257800"/>
            <a:ext cx="10012680" cy="72827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376672"/>
            <a:ext cx="9646920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Goal by Aug. 14: final working multilingual RAG system, comparative evaluation, error analysis, final report, and final presentation.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656539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Progress report •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2472</Words>
  <Application>Microsoft Office PowerPoint</Application>
  <PresentationFormat>Widescreen</PresentationFormat>
  <Paragraphs>360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RAG Progress Report — Completed Work</dc:title>
  <dc:subject>Progress report focused on work completed to date</dc:subject>
  <dc:creator>Zackery Lake</dc:creator>
  <cp:lastModifiedBy>Zackery Lake</cp:lastModifiedBy>
  <cp:revision>2</cp:revision>
  <dcterms:created xsi:type="dcterms:W3CDTF">2026-07-20T17:16:59Z</dcterms:created>
  <dcterms:modified xsi:type="dcterms:W3CDTF">2026-07-21T06:39:58Z</dcterms:modified>
</cp:coreProperties>
</file>