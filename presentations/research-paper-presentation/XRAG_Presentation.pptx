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83" r:id="rId4"/>
    <p:sldId id="284" r:id="rId5"/>
    <p:sldId id="290" r:id="rId6"/>
    <p:sldId id="258" r:id="rId7"/>
    <p:sldId id="259" r:id="rId8"/>
    <p:sldId id="260" r:id="rId9"/>
    <p:sldId id="261" r:id="rId10"/>
    <p:sldId id="262" r:id="rId11"/>
    <p:sldId id="263" r:id="rId12"/>
    <p:sldId id="264" r:id="rId13"/>
    <p:sldId id="265" r:id="rId14"/>
    <p:sldId id="266" r:id="rId15"/>
    <p:sldId id="267" r:id="rId16"/>
    <p:sldId id="268" r:id="rId17"/>
    <p:sldId id="285" r:id="rId18"/>
    <p:sldId id="286" r:id="rId19"/>
    <p:sldId id="287" r:id="rId20"/>
    <p:sldId id="288" r:id="rId21"/>
    <p:sldId id="289" r:id="rId22"/>
    <p:sldId id="269" r:id="rId23"/>
    <p:sldId id="270" r:id="rId24"/>
    <p:sldId id="271" r:id="rId25"/>
    <p:sldId id="272" r:id="rId26"/>
    <p:sldId id="273" r:id="rId27"/>
    <p:sldId id="274" r:id="rId28"/>
    <p:sldId id="275" r:id="rId29"/>
    <p:sldId id="276" r:id="rId30"/>
    <p:sldId id="277" r:id="rId31"/>
    <p:sldId id="278" r:id="rId32"/>
    <p:sldId id="279" r:id="rId33"/>
    <p:sldId id="281" r:id="rId34"/>
    <p:sldId id="282"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6" autoAdjust="0"/>
    <p:restoredTop sz="85036" autoAdjust="0"/>
  </p:normalViewPr>
  <p:slideViewPr>
    <p:cSldViewPr snapToGrid="0" snapToObjects="1">
      <p:cViewPr>
        <p:scale>
          <a:sx n="88" d="100"/>
          <a:sy n="88" d="100"/>
        </p:scale>
        <p:origin x="264"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5316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 minute.
Open by saying this presentation is mainly about the XRAG paper, not just my own experiments. Explain that my project is built on the paper's benchmark and problem setup. Emphasize that XRAG studies cross-lingual RAG, where the question and retrieved documents may be in different languages.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 seconds.
Say that most of the presentation is about the paper itself. My experiments are included near the end only to show why the paper matters for my REU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to 1.5 minutes.
Explain that regular RAG is already hard, but XRAG studies a more realistic situation. The user language does not always match the document language. This is especially important for global news, helpdesks, search systems, and multilingual communities.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Keep this simple. Define RAG as search first, answer second. Then say the key insight for both the paper and my project is that the answer quality depends on which documents the model sees.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Define both settings carefully because they are central to the paper. In monolingual retrieval, all evidence is English while the question is not. In multilingual retrieval, the evidence is split across English and the question language. Say this matters because the failure mode changes depending on the setting.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to 1.5 minutes.
This slide is the big summary of the paper. Make sure to emphasize that XRAG is not just a dataset of questions. It is a controlled benchmark where each question comes with labeled evidence and distractors.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the anatomy clearly. Each support article gives partial information. The distractors look related but do not answer. This controlled setup is exactly why XRAG is so useful for my project.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Say the authors wanted to avoid the problem where the model answers from memory. The paper tests this by giving models no documents. All models are under 16 percent, which suggests the questions really need retrieval.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Walk through each step. The important point is that XRAG is not just scraped data. It is generated carefully, checked by humans, translated professionally, and then given distractors.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Define the four question types in plain language. Emphasize that these are harder than simple lookup questions because the model often needs to combine information across two documents.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Use this slide to show that XRAG is large enough to benchmark but still controlled. Explain that the monolingual setting uses English documents, while the multilingual setting mixes English and the target language.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distractors using a simple example: an article can be about the same country or event but not answer the question. That kind of document can confuse an LLM. This is directly related to my project.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Emphasize that the evaluation is not just about factual answers. If the question is in German or Spanish and the model answers in English, that is wrong. The paper combines factual correctness with language correctness.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Talk through the table. The big point is that retrieval matters because no retrieval performs terribly. But even with correct support documents, models still make mistakes. That means the task is genuinely hard.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Say the human upper bound is important because it shows the task is answerable. The gap between humans and LLMs suggests the problem is not the dataset being impossible; it is the model’s reasoning and evidence use.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Explain monolingual retrieval again: the evidence is English, but the question is not. The surprising issue is response language correctness. The models may know the answer but still answer in the wrong language.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is one of the most important slides. Say that in multilingual retrieval, the model usually stays in the correct language, so the main challenge is different: reasoning across mixed-language evidence.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Use this slide as a recap of the paper’s findings. The two settings reveal different failure modes. This is exactly why a benchmark like XRAG is useful.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State limitations respectfully. The paper is strong, but it does not solve everything. My project can build on it by looking more deeply at retrieval and evidence filtering.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This is where you transition from the paper to your project. Say the paper is not just background reading. It directly supplies the dataset structure that lets me test retrieval and generation separately.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Say my project narrows in on evidence selection. XRAG lets me control what the model sees, which helps isolate whether errors come from retrieval, generation, or distractors.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Keep this concise. These are my pilot results, but the presentation is about the paper. Say the results support the XRAG paper’s idea that distractors and evidence selection matter. Also note this was only 20 questions, so it is preliminary.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this as a small extension of the paper. The paper controls the retrieval context, while my project starts testing retrievers. BM25 was the strongest baseline on the 20-question pilot.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Say the next step is to expand beyond the pilot and build a stronger retrieval pipeline. Make it clear that XRAG remains the benchmark foundation.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Close by connecting the paper and my project in one sentence. XRAG gives me the benchmark, and my project uses it to test retrieval and evidence selection.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seconds or skip if you are out of time.
This slide is for citation completeness.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6355080"/>
            <a:ext cx="11201400" cy="0"/>
          </a:xfrm>
          <a:prstGeom prst="line">
            <a:avLst/>
          </a:prstGeom>
          <a:noFill/>
          <a:ln w="12700">
            <a:solidFill>
              <a:srgbClr val="D9E2EF">
                <a:alpha val="80000"/>
              </a:srgbClr>
            </a:solidFill>
            <a:prstDash val="solid"/>
          </a:ln>
        </p:spPr>
        <p:txBody>
          <a:bodyPr/>
          <a:lstStyle/>
          <a:p>
            <a:endParaRPr lang="en-US"/>
          </a:p>
        </p:txBody>
      </p:sp>
      <p:sp>
        <p:nvSpPr>
          <p:cNvPr id="3" name="Text 1"/>
          <p:cNvSpPr/>
          <p:nvPr/>
        </p:nvSpPr>
        <p:spPr>
          <a:xfrm>
            <a:off x="502920" y="6437376"/>
            <a:ext cx="7040880" cy="228600"/>
          </a:xfrm>
          <a:prstGeom prst="rect">
            <a:avLst/>
          </a:prstGeom>
          <a:noFill/>
          <a:ln/>
        </p:spPr>
        <p:txBody>
          <a:bodyPr wrap="square" rtlCol="0" anchor="ctr"/>
          <a:lstStyle/>
          <a:p>
            <a:pPr marL="0" indent="0">
              <a:buNone/>
            </a:pPr>
            <a:r>
              <a:rPr lang="en-US" sz="750" dirty="0">
                <a:solidFill>
                  <a:srgbClr val="677487"/>
                </a:solidFill>
              </a:rPr>
              <a:t>XRAG paper presentation • Cross-lingual RAG + my REU project</a:t>
            </a:r>
            <a:endParaRPr lang="en-US" sz="750" dirty="0"/>
          </a:p>
        </p:txBody>
      </p:sp>
      <p:sp>
        <p:nvSpPr>
          <p:cNvPr id="4" name="Text 2"/>
          <p:cNvSpPr/>
          <p:nvPr/>
        </p:nvSpPr>
        <p:spPr>
          <a:xfrm>
            <a:off x="10561320" y="6437376"/>
            <a:ext cx="1097280" cy="228600"/>
          </a:xfrm>
          <a:prstGeom prst="rect">
            <a:avLst/>
          </a:prstGeom>
          <a:noFill/>
          <a:ln/>
        </p:spPr>
        <p:txBody>
          <a:bodyPr wrap="square" rtlCol="0" anchor="ctr"/>
          <a:lstStyle/>
          <a:p>
            <a:pPr marL="0" indent="0" algn="r">
              <a:buNone/>
            </a:pPr>
            <a:r>
              <a:rPr lang="en-US" sz="750" dirty="0">
                <a:solidFill>
                  <a:srgbClr val="677487"/>
                </a:solidFill>
              </a:rPr>
              <a:t>Zackery Lake</a:t>
            </a:r>
            <a:endParaRPr lang="en-US" sz="75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0D1C"/>
          </a:solidFill>
          <a:ln w="12700">
            <a:noFill/>
            <a:prstDash val="solid"/>
          </a:ln>
        </p:spPr>
        <p:txBody>
          <a:bodyPr/>
          <a:lstStyle/>
          <a:p>
            <a:endParaRPr/>
          </a:p>
        </p:txBody>
      </p:sp>
      <p:sp>
        <p:nvSpPr>
          <p:cNvPr id="3" name="Shape 1"/>
          <p:cNvSpPr/>
          <p:nvPr/>
        </p:nvSpPr>
        <p:spPr>
          <a:xfrm>
            <a:off x="-1280160" y="-777240"/>
            <a:ext cx="4297680" cy="4297680"/>
          </a:xfrm>
          <a:prstGeom prst="arc">
            <a:avLst/>
          </a:prstGeom>
          <a:solidFill>
            <a:srgbClr val="142448"/>
          </a:solidFill>
          <a:ln w="25400">
            <a:solidFill>
              <a:srgbClr val="142448">
                <a:alpha val="80000"/>
              </a:srgbClr>
            </a:solidFill>
            <a:prstDash val="solid"/>
          </a:ln>
        </p:spPr>
        <p:txBody>
          <a:bodyPr/>
          <a:lstStyle/>
          <a:p>
            <a:endParaRPr/>
          </a:p>
        </p:txBody>
      </p:sp>
      <p:sp>
        <p:nvSpPr>
          <p:cNvPr id="4" name="Shape 2"/>
          <p:cNvSpPr/>
          <p:nvPr/>
        </p:nvSpPr>
        <p:spPr>
          <a:xfrm>
            <a:off x="9326880" y="4480560"/>
            <a:ext cx="4206240" cy="4206240"/>
          </a:xfrm>
          <a:prstGeom prst="arc">
            <a:avLst/>
          </a:prstGeom>
          <a:solidFill>
            <a:srgbClr val="142448"/>
          </a:solidFill>
          <a:ln w="25400">
            <a:solidFill>
              <a:srgbClr val="142448">
                <a:alpha val="85000"/>
              </a:srgbClr>
            </a:solidFill>
            <a:prstDash val="solid"/>
          </a:ln>
        </p:spPr>
        <p:txBody>
          <a:bodyPr/>
          <a:lstStyle/>
          <a:p>
            <a:endParaRPr/>
          </a:p>
        </p:txBody>
      </p:sp>
      <p:sp>
        <p:nvSpPr>
          <p:cNvPr id="5" name="Text 3"/>
          <p:cNvSpPr/>
          <p:nvPr/>
        </p:nvSpPr>
        <p:spPr>
          <a:xfrm>
            <a:off x="685800" y="914400"/>
            <a:ext cx="4846320" cy="685800"/>
          </a:xfrm>
          <a:prstGeom prst="rect">
            <a:avLst/>
          </a:prstGeom>
          <a:noFill/>
          <a:ln>
            <a:noFill/>
          </a:ln>
        </p:spPr>
        <p:txBody>
          <a:bodyPr wrap="square" lIns="0" tIns="0" rIns="0" bIns="0" rtlCol="0" anchor="ctr"/>
          <a:lstStyle/>
          <a:p>
            <a:pPr marL="0" indent="0">
              <a:buNone/>
            </a:pPr>
            <a:r>
              <a:rPr lang="en-US" sz="4400" b="1" dirty="0">
                <a:solidFill>
                  <a:srgbClr val="A6B5CD"/>
                </a:solidFill>
                <a:latin typeface="Aptos Display" pitchFamily="34" charset="0"/>
                <a:ea typeface="Aptos Display" pitchFamily="34" charset="-122"/>
                <a:cs typeface="Aptos Display" pitchFamily="34" charset="-120"/>
              </a:rPr>
              <a:t>XRAG</a:t>
            </a:r>
            <a:endParaRPr lang="en-US" sz="4400" dirty="0"/>
          </a:p>
        </p:txBody>
      </p:sp>
      <p:sp>
        <p:nvSpPr>
          <p:cNvPr id="6" name="Text 4"/>
          <p:cNvSpPr/>
          <p:nvPr/>
        </p:nvSpPr>
        <p:spPr>
          <a:xfrm>
            <a:off x="713232" y="1627632"/>
            <a:ext cx="8046720" cy="347472"/>
          </a:xfrm>
          <a:prstGeom prst="rect">
            <a:avLst/>
          </a:prstGeom>
          <a:solidFill>
            <a:srgbClr val="11192D"/>
          </a:solidFill>
          <a:ln>
            <a:solidFill>
              <a:srgbClr val="405378"/>
            </a:solidFill>
          </a:ln>
        </p:spPr>
        <p:txBody>
          <a:bodyPr wrap="square" lIns="0" tIns="0" rIns="0" bIns="0" rtlCol="0" anchor="ctr"/>
          <a:lstStyle/>
          <a:p>
            <a:pPr marL="0" indent="0">
              <a:buNone/>
            </a:pPr>
            <a:r>
              <a:rPr lang="en-US" sz="1800" dirty="0">
                <a:solidFill>
                  <a:srgbClr val="22D3EE"/>
                </a:solidFill>
              </a:rPr>
              <a:t>Cross-lingual Retrieval-Augmented Generation</a:t>
            </a:r>
            <a:endParaRPr lang="en-US" sz="1800" dirty="0"/>
          </a:p>
        </p:txBody>
      </p:sp>
      <p:sp>
        <p:nvSpPr>
          <p:cNvPr id="7" name="Text 5"/>
          <p:cNvSpPr/>
          <p:nvPr/>
        </p:nvSpPr>
        <p:spPr>
          <a:xfrm>
            <a:off x="731520" y="2148840"/>
            <a:ext cx="6583680" cy="685800"/>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800" dirty="0">
                <a:solidFill>
                  <a:srgbClr val="F4F7FB"/>
                </a:solidFill>
              </a:rPr>
              <a:t>Research paper deep dive + how it becomes the foundation for my multilingual RAG project</a:t>
            </a:r>
            <a:endParaRPr lang="en-US" sz="1800" dirty="0"/>
          </a:p>
        </p:txBody>
      </p:sp>
      <p:sp>
        <p:nvSpPr>
          <p:cNvPr id="10" name="Text 8"/>
          <p:cNvSpPr/>
          <p:nvPr/>
        </p:nvSpPr>
        <p:spPr>
          <a:xfrm>
            <a:off x="749808" y="3886200"/>
            <a:ext cx="6217920" cy="438912"/>
          </a:xfrm>
          <a:prstGeom prst="rect">
            <a:avLst/>
          </a:prstGeom>
          <a:solidFill>
            <a:srgbClr val="11192D"/>
          </a:solidFill>
          <a:ln>
            <a:solidFill>
              <a:srgbClr val="405378"/>
            </a:solidFill>
          </a:ln>
        </p:spPr>
        <p:txBody>
          <a:bodyPr wrap="square" lIns="0" tIns="0" rIns="0" bIns="0" rtlCol="0" anchor="ctr"/>
          <a:lstStyle/>
          <a:p>
            <a:pPr marL="0" indent="0">
              <a:buNone/>
            </a:pPr>
            <a:r>
              <a:rPr lang="en-US" sz="1100" dirty="0">
                <a:solidFill>
                  <a:srgbClr val="F4F7FB"/>
                </a:solidFill>
              </a:rPr>
              <a:t>Wei Liu, Sony Trenous, Leonardo F. R. Ribeiro, Bill Byrne, Felix Hieber</a:t>
            </a:r>
            <a:endParaRPr lang="en-US" sz="1100" dirty="0"/>
          </a:p>
          <a:p>
            <a:pPr marL="0" indent="0">
              <a:buNone/>
            </a:pPr>
            <a:r>
              <a:rPr lang="en-US" sz="1100" dirty="0">
                <a:solidFill>
                  <a:srgbClr val="F4F7FB"/>
                </a:solidFill>
              </a:rPr>
              <a:t>Findings of EMNLP 2025</a:t>
            </a:r>
            <a:endParaRPr lang="en-US" sz="1100" dirty="0"/>
          </a:p>
        </p:txBody>
      </p:sp>
      <p:sp>
        <p:nvSpPr>
          <p:cNvPr id="11" name="Shape 9"/>
          <p:cNvSpPr/>
          <p:nvPr/>
        </p:nvSpPr>
        <p:spPr>
          <a:xfrm>
            <a:off x="8046720" y="1051560"/>
            <a:ext cx="3200400" cy="3566160"/>
          </a:xfrm>
          <a:prstGeom prst="roundRect">
            <a:avLst>
              <a:gd name="adj" fmla="val 2286"/>
            </a:avLst>
          </a:prstGeom>
          <a:solidFill>
            <a:srgbClr val="11192D"/>
          </a:solidFill>
          <a:ln w="12700">
            <a:solidFill>
              <a:srgbClr val="405378"/>
            </a:solidFill>
            <a:prstDash val="solid"/>
          </a:ln>
        </p:spPr>
        <p:txBody>
          <a:bodyPr/>
          <a:lstStyle/>
          <a:p>
            <a:endParaRPr/>
          </a:p>
        </p:txBody>
      </p:sp>
      <p:sp>
        <p:nvSpPr>
          <p:cNvPr id="12" name="Text 10"/>
          <p:cNvSpPr/>
          <p:nvPr/>
        </p:nvSpPr>
        <p:spPr>
          <a:xfrm>
            <a:off x="8321040" y="1325880"/>
            <a:ext cx="2606040" cy="27432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1300" b="1" dirty="0">
                <a:solidFill>
                  <a:srgbClr val="22D3EE"/>
                </a:solidFill>
              </a:rPr>
              <a:t>Core idea</a:t>
            </a:r>
            <a:endParaRPr lang="en-US" sz="1300" dirty="0"/>
          </a:p>
        </p:txBody>
      </p:sp>
      <p:sp>
        <p:nvSpPr>
          <p:cNvPr id="13" name="Shape 11"/>
          <p:cNvSpPr/>
          <p:nvPr/>
        </p:nvSpPr>
        <p:spPr>
          <a:xfrm>
            <a:off x="8302752" y="1874520"/>
            <a:ext cx="592074" cy="658368"/>
          </a:xfrm>
          <a:prstGeom prst="roundRect">
            <a:avLst>
              <a:gd name="adj" fmla="val 10811"/>
            </a:avLst>
          </a:prstGeom>
          <a:solidFill>
            <a:srgbClr val="11192D"/>
          </a:solidFill>
          <a:ln w="12700">
            <a:solidFill>
              <a:srgbClr val="405378"/>
            </a:solidFill>
            <a:prstDash val="solid"/>
          </a:ln>
        </p:spPr>
        <p:txBody>
          <a:bodyPr/>
          <a:lstStyle/>
          <a:p>
            <a:endParaRPr/>
          </a:p>
        </p:txBody>
      </p:sp>
      <p:sp>
        <p:nvSpPr>
          <p:cNvPr id="14" name="Text 12"/>
          <p:cNvSpPr/>
          <p:nvPr/>
        </p:nvSpPr>
        <p:spPr>
          <a:xfrm>
            <a:off x="8348472" y="2020824"/>
            <a:ext cx="500634"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Ask in one language</a:t>
            </a:r>
            <a:endParaRPr lang="en-US" sz="950" dirty="0"/>
          </a:p>
        </p:txBody>
      </p:sp>
      <p:sp>
        <p:nvSpPr>
          <p:cNvPr id="15" name="Shape 13"/>
          <p:cNvSpPr/>
          <p:nvPr/>
        </p:nvSpPr>
        <p:spPr>
          <a:xfrm rot="5400000">
            <a:off x="8871966" y="213055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6" name="Shape 14"/>
          <p:cNvSpPr/>
          <p:nvPr/>
        </p:nvSpPr>
        <p:spPr>
          <a:xfrm>
            <a:off x="9004554" y="1874520"/>
            <a:ext cx="592074" cy="658368"/>
          </a:xfrm>
          <a:prstGeom prst="roundRect">
            <a:avLst>
              <a:gd name="adj" fmla="val 10811"/>
            </a:avLst>
          </a:prstGeom>
          <a:solidFill>
            <a:srgbClr val="11192D"/>
          </a:solidFill>
          <a:ln w="12700">
            <a:solidFill>
              <a:srgbClr val="405378"/>
            </a:solidFill>
            <a:prstDash val="solid"/>
          </a:ln>
        </p:spPr>
        <p:txBody>
          <a:bodyPr/>
          <a:lstStyle/>
          <a:p>
            <a:endParaRPr/>
          </a:p>
        </p:txBody>
      </p:sp>
      <p:sp>
        <p:nvSpPr>
          <p:cNvPr id="17" name="Text 15"/>
          <p:cNvSpPr/>
          <p:nvPr/>
        </p:nvSpPr>
        <p:spPr>
          <a:xfrm>
            <a:off x="9050274" y="2020824"/>
            <a:ext cx="500634"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Retrieve across languages</a:t>
            </a:r>
            <a:endParaRPr lang="en-US" sz="950" dirty="0"/>
          </a:p>
        </p:txBody>
      </p:sp>
      <p:sp>
        <p:nvSpPr>
          <p:cNvPr id="18" name="Shape 16"/>
          <p:cNvSpPr/>
          <p:nvPr/>
        </p:nvSpPr>
        <p:spPr>
          <a:xfrm rot="5400000">
            <a:off x="9573768" y="213055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9" name="Shape 17"/>
          <p:cNvSpPr/>
          <p:nvPr/>
        </p:nvSpPr>
        <p:spPr>
          <a:xfrm>
            <a:off x="9706356" y="1874520"/>
            <a:ext cx="592074" cy="658368"/>
          </a:xfrm>
          <a:prstGeom prst="roundRect">
            <a:avLst>
              <a:gd name="adj" fmla="val 10811"/>
            </a:avLst>
          </a:prstGeom>
          <a:solidFill>
            <a:srgbClr val="11192D"/>
          </a:solidFill>
          <a:ln w="12700">
            <a:solidFill>
              <a:srgbClr val="405378"/>
            </a:solidFill>
            <a:prstDash val="solid"/>
          </a:ln>
        </p:spPr>
        <p:txBody>
          <a:bodyPr/>
          <a:lstStyle/>
          <a:p>
            <a:endParaRPr/>
          </a:p>
        </p:txBody>
      </p:sp>
      <p:sp>
        <p:nvSpPr>
          <p:cNvPr id="20" name="Text 18"/>
          <p:cNvSpPr/>
          <p:nvPr/>
        </p:nvSpPr>
        <p:spPr>
          <a:xfrm>
            <a:off x="9752076" y="2020824"/>
            <a:ext cx="500634"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Use evidence</a:t>
            </a:r>
            <a:endParaRPr lang="en-US" sz="950" dirty="0"/>
          </a:p>
        </p:txBody>
      </p:sp>
      <p:sp>
        <p:nvSpPr>
          <p:cNvPr id="21" name="Shape 19"/>
          <p:cNvSpPr/>
          <p:nvPr/>
        </p:nvSpPr>
        <p:spPr>
          <a:xfrm rot="5400000">
            <a:off x="10275570" y="213055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22" name="Shape 20"/>
          <p:cNvSpPr/>
          <p:nvPr/>
        </p:nvSpPr>
        <p:spPr>
          <a:xfrm>
            <a:off x="10408158" y="1874520"/>
            <a:ext cx="592074" cy="658368"/>
          </a:xfrm>
          <a:prstGeom prst="roundRect">
            <a:avLst>
              <a:gd name="adj" fmla="val 10811"/>
            </a:avLst>
          </a:prstGeom>
          <a:solidFill>
            <a:srgbClr val="11192D"/>
          </a:solidFill>
          <a:ln w="12700">
            <a:solidFill>
              <a:srgbClr val="405378"/>
            </a:solidFill>
            <a:prstDash val="solid"/>
          </a:ln>
        </p:spPr>
        <p:txBody>
          <a:bodyPr/>
          <a:lstStyle/>
          <a:p>
            <a:endParaRPr/>
          </a:p>
        </p:txBody>
      </p:sp>
      <p:sp>
        <p:nvSpPr>
          <p:cNvPr id="23" name="Text 21"/>
          <p:cNvSpPr/>
          <p:nvPr/>
        </p:nvSpPr>
        <p:spPr>
          <a:xfrm>
            <a:off x="10453878" y="2020824"/>
            <a:ext cx="500634"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Answer correctly</a:t>
            </a:r>
            <a:endParaRPr lang="en-US" sz="950" dirty="0"/>
          </a:p>
        </p:txBody>
      </p:sp>
      <p:sp>
        <p:nvSpPr>
          <p:cNvPr id="24" name="Text 22"/>
          <p:cNvSpPr/>
          <p:nvPr/>
        </p:nvSpPr>
        <p:spPr>
          <a:xfrm>
            <a:off x="8321040" y="3063240"/>
            <a:ext cx="2651760" cy="685800"/>
          </a:xfrm>
          <a:prstGeom prst="rect">
            <a:avLst/>
          </a:prstGeom>
          <a:solidFill>
            <a:srgbClr val="11192D"/>
          </a:solidFill>
          <a:ln>
            <a:solidFill>
              <a:srgbClr val="405378"/>
            </a:solidFill>
          </a:ln>
        </p:spPr>
        <p:txBody>
          <a:bodyPr wrap="square" lIns="0" tIns="0" rIns="0" bIns="0" rtlCol="0" anchor="ctr">
            <a:normAutofit/>
          </a:bodyPr>
          <a:lstStyle/>
          <a:p>
            <a:pPr marL="0" indent="0" algn="ctr">
              <a:buNone/>
            </a:pPr>
            <a:r>
              <a:rPr lang="en-US" sz="1100" dirty="0">
                <a:solidFill>
                  <a:srgbClr val="F4F7FB"/>
                </a:solidFill>
              </a:rPr>
              <a:t>The paper asks: can LLMs answer when the user language and retrieved evidence do not match?</a:t>
            </a:r>
            <a:endParaRPr lang="en-US" sz="110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Talk roadmap</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r>
              <a:t>The talk stays paper-focused, with a technical deep dive and a short bridge to my project.</a:t>
            </a:r>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Shape 5"/>
          <p:cNvSpPr/>
          <p:nvPr/>
        </p:nvSpPr>
        <p:spPr>
          <a:xfrm>
            <a:off x="685800" y="1417320"/>
            <a:ext cx="333756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8" name="Shape 6"/>
          <p:cNvSpPr/>
          <p:nvPr/>
        </p:nvSpPr>
        <p:spPr>
          <a:xfrm>
            <a:off x="685800" y="1417320"/>
            <a:ext cx="100584" cy="1143000"/>
          </a:xfrm>
          <a:prstGeom prst="rect">
            <a:avLst/>
          </a:prstGeom>
          <a:solidFill>
            <a:srgbClr val="22D3EE"/>
          </a:solidFill>
          <a:ln w="12700">
            <a:solidFill>
              <a:srgbClr val="22D3EE"/>
            </a:solidFill>
            <a:prstDash val="solid"/>
          </a:ln>
        </p:spPr>
        <p:txBody>
          <a:bodyPr/>
          <a:lstStyle/>
          <a:p>
            <a:endParaRPr/>
          </a:p>
        </p:txBody>
      </p:sp>
      <p:sp>
        <p:nvSpPr>
          <p:cNvPr id="9" name="Text 7"/>
          <p:cNvSpPr/>
          <p:nvPr/>
        </p:nvSpPr>
        <p:spPr>
          <a:xfrm>
            <a:off x="914400" y="1581912"/>
            <a:ext cx="30175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1. Paper motivation</a:t>
            </a:r>
            <a:endParaRPr lang="en-US" sz="1220" dirty="0"/>
          </a:p>
        </p:txBody>
      </p:sp>
      <p:sp>
        <p:nvSpPr>
          <p:cNvPr id="10" name="Text 8"/>
          <p:cNvSpPr/>
          <p:nvPr/>
        </p:nvSpPr>
        <p:spPr>
          <a:xfrm>
            <a:off x="914400" y="1947672"/>
            <a:ext cx="295351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Why normal RAG benchmarks are not enough for multilingual, real-world use.</a:t>
            </a:r>
            <a:endParaRPr lang="en-US" sz="1020" dirty="0"/>
          </a:p>
        </p:txBody>
      </p:sp>
      <p:sp>
        <p:nvSpPr>
          <p:cNvPr id="11" name="Shape 9"/>
          <p:cNvSpPr/>
          <p:nvPr/>
        </p:nvSpPr>
        <p:spPr>
          <a:xfrm>
            <a:off x="4434840" y="1417320"/>
            <a:ext cx="333756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12" name="Shape 10"/>
          <p:cNvSpPr/>
          <p:nvPr/>
        </p:nvSpPr>
        <p:spPr>
          <a:xfrm>
            <a:off x="4434840" y="1417320"/>
            <a:ext cx="100584" cy="1143000"/>
          </a:xfrm>
          <a:prstGeom prst="rect">
            <a:avLst/>
          </a:prstGeom>
          <a:solidFill>
            <a:srgbClr val="22D3EE"/>
          </a:solidFill>
          <a:ln w="12700">
            <a:solidFill>
              <a:srgbClr val="22D3EE"/>
            </a:solidFill>
            <a:prstDash val="solid"/>
          </a:ln>
        </p:spPr>
        <p:txBody>
          <a:bodyPr/>
          <a:lstStyle/>
          <a:p>
            <a:endParaRPr/>
          </a:p>
        </p:txBody>
      </p:sp>
      <p:sp>
        <p:nvSpPr>
          <p:cNvPr id="13" name="Text 11"/>
          <p:cNvSpPr/>
          <p:nvPr/>
        </p:nvSpPr>
        <p:spPr>
          <a:xfrm>
            <a:off x="4663440" y="1581912"/>
            <a:ext cx="30175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2. XRAG benchmark design</a:t>
            </a:r>
            <a:endParaRPr lang="en-US" sz="1220" dirty="0"/>
          </a:p>
        </p:txBody>
      </p:sp>
      <p:sp>
        <p:nvSpPr>
          <p:cNvPr id="14" name="Text 12"/>
          <p:cNvSpPr/>
          <p:nvPr/>
        </p:nvSpPr>
        <p:spPr>
          <a:xfrm>
            <a:off x="4663440" y="1947672"/>
            <a:ext cx="295351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How the dataset is built: support documents, distractors, translation, and human QA.</a:t>
            </a:r>
            <a:endParaRPr lang="en-US" sz="1020" dirty="0"/>
          </a:p>
        </p:txBody>
      </p:sp>
      <p:sp>
        <p:nvSpPr>
          <p:cNvPr id="15" name="Shape 13"/>
          <p:cNvSpPr/>
          <p:nvPr/>
        </p:nvSpPr>
        <p:spPr>
          <a:xfrm>
            <a:off x="8183880" y="1417320"/>
            <a:ext cx="333756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16" name="Shape 14"/>
          <p:cNvSpPr/>
          <p:nvPr/>
        </p:nvSpPr>
        <p:spPr>
          <a:xfrm>
            <a:off x="8183880" y="1417320"/>
            <a:ext cx="100584" cy="1143000"/>
          </a:xfrm>
          <a:prstGeom prst="rect">
            <a:avLst/>
          </a:prstGeom>
          <a:solidFill>
            <a:srgbClr val="22D3EE"/>
          </a:solidFill>
          <a:ln w="12700">
            <a:solidFill>
              <a:srgbClr val="22D3EE"/>
            </a:solidFill>
            <a:prstDash val="solid"/>
          </a:ln>
        </p:spPr>
        <p:txBody>
          <a:bodyPr/>
          <a:lstStyle/>
          <a:p>
            <a:endParaRPr/>
          </a:p>
        </p:txBody>
      </p:sp>
      <p:sp>
        <p:nvSpPr>
          <p:cNvPr id="17" name="Text 15"/>
          <p:cNvSpPr/>
          <p:nvPr/>
        </p:nvSpPr>
        <p:spPr>
          <a:xfrm>
            <a:off x="8412480" y="1581912"/>
            <a:ext cx="30175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3. Paper experiments</a:t>
            </a:r>
            <a:endParaRPr lang="en-US" sz="1220" dirty="0"/>
          </a:p>
        </p:txBody>
      </p:sp>
      <p:sp>
        <p:nvSpPr>
          <p:cNvPr id="18" name="Text 16"/>
          <p:cNvSpPr/>
          <p:nvPr/>
        </p:nvSpPr>
        <p:spPr>
          <a:xfrm>
            <a:off x="8412480" y="1947672"/>
            <a:ext cx="295351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What models were tested and what the paper found about cross-lingual failures.</a:t>
            </a:r>
            <a:endParaRPr lang="en-US" sz="1020" dirty="0"/>
          </a:p>
        </p:txBody>
      </p:sp>
      <p:sp>
        <p:nvSpPr>
          <p:cNvPr id="19" name="Shape 17"/>
          <p:cNvSpPr/>
          <p:nvPr/>
        </p:nvSpPr>
        <p:spPr>
          <a:xfrm>
            <a:off x="2011680" y="3200400"/>
            <a:ext cx="356616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20" name="Shape 18"/>
          <p:cNvSpPr/>
          <p:nvPr/>
        </p:nvSpPr>
        <p:spPr>
          <a:xfrm>
            <a:off x="2011680" y="3200400"/>
            <a:ext cx="100584" cy="1143000"/>
          </a:xfrm>
          <a:prstGeom prst="rect">
            <a:avLst/>
          </a:prstGeom>
          <a:solidFill>
            <a:srgbClr val="22D3EE"/>
          </a:solidFill>
          <a:ln w="12700">
            <a:solidFill>
              <a:srgbClr val="22D3EE"/>
            </a:solidFill>
            <a:prstDash val="solid"/>
          </a:ln>
        </p:spPr>
        <p:txBody>
          <a:bodyPr/>
          <a:lstStyle/>
          <a:p>
            <a:endParaRPr/>
          </a:p>
        </p:txBody>
      </p:sp>
      <p:sp>
        <p:nvSpPr>
          <p:cNvPr id="21" name="Text 19"/>
          <p:cNvSpPr/>
          <p:nvPr/>
        </p:nvSpPr>
        <p:spPr>
          <a:xfrm>
            <a:off x="2240280" y="3364992"/>
            <a:ext cx="32461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4. Connection to my project</a:t>
            </a:r>
            <a:endParaRPr lang="en-US" sz="1220" dirty="0"/>
          </a:p>
        </p:txBody>
      </p:sp>
      <p:sp>
        <p:nvSpPr>
          <p:cNvPr id="22" name="Text 20"/>
          <p:cNvSpPr/>
          <p:nvPr/>
        </p:nvSpPr>
        <p:spPr>
          <a:xfrm>
            <a:off x="2240280" y="3730752"/>
            <a:ext cx="318211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How I use XRAG to test multilingual RAG evidence selection.</a:t>
            </a:r>
            <a:endParaRPr lang="en-US" sz="1020" dirty="0"/>
          </a:p>
        </p:txBody>
      </p:sp>
      <p:sp>
        <p:nvSpPr>
          <p:cNvPr id="23" name="Shape 21"/>
          <p:cNvSpPr/>
          <p:nvPr/>
        </p:nvSpPr>
        <p:spPr>
          <a:xfrm>
            <a:off x="6583680" y="3200400"/>
            <a:ext cx="356616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24" name="Shape 22"/>
          <p:cNvSpPr/>
          <p:nvPr/>
        </p:nvSpPr>
        <p:spPr>
          <a:xfrm>
            <a:off x="6583680" y="3200400"/>
            <a:ext cx="100584" cy="1143000"/>
          </a:xfrm>
          <a:prstGeom prst="rect">
            <a:avLst/>
          </a:prstGeom>
          <a:solidFill>
            <a:srgbClr val="22D3EE"/>
          </a:solidFill>
          <a:ln w="12700">
            <a:solidFill>
              <a:srgbClr val="22D3EE"/>
            </a:solidFill>
            <a:prstDash val="solid"/>
          </a:ln>
        </p:spPr>
        <p:txBody>
          <a:bodyPr/>
          <a:lstStyle/>
          <a:p>
            <a:endParaRPr/>
          </a:p>
        </p:txBody>
      </p:sp>
      <p:sp>
        <p:nvSpPr>
          <p:cNvPr id="25" name="Text 23"/>
          <p:cNvSpPr/>
          <p:nvPr/>
        </p:nvSpPr>
        <p:spPr>
          <a:xfrm>
            <a:off x="6812280" y="3364992"/>
            <a:ext cx="32461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5. My small pilot</a:t>
            </a:r>
            <a:endParaRPr lang="en-US" sz="1220" dirty="0"/>
          </a:p>
        </p:txBody>
      </p:sp>
      <p:sp>
        <p:nvSpPr>
          <p:cNvPr id="26" name="Text 24"/>
          <p:cNvSpPr/>
          <p:nvPr/>
        </p:nvSpPr>
        <p:spPr>
          <a:xfrm>
            <a:off x="6812280" y="3730752"/>
            <a:ext cx="318211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Only a few slides on my tests: baselines, BM25 retrieval, and what comes next.</a:t>
            </a:r>
            <a:endParaRPr lang="en-US" sz="1020" dirty="0"/>
          </a:p>
        </p:txBody>
      </p:sp>
      <p:sp>
        <p:nvSpPr>
          <p:cNvPr id="27" name="Text 25"/>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Source focus: Liu et al., “XRAG: Cross-lingual Retrieval-Augmented Generation,” Findings of EMNLP 2025.</a:t>
            </a:r>
            <a:endParaRPr lang="en-US" sz="640" dirty="0"/>
          </a:p>
        </p:txBody>
      </p:sp>
      <p:sp>
        <p:nvSpPr>
          <p:cNvPr id="28"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20040"/>
            <a:ext cx="73152" cy="6172200"/>
          </a:xfrm>
          <a:prstGeom prst="rect">
            <a:avLst/>
          </a:prstGeom>
          <a:solidFill>
            <a:srgbClr val="2BD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12648" y="320040"/>
            <a:ext cx="27432" cy="6172200"/>
          </a:xfrm>
          <a:prstGeom prst="rect">
            <a:avLst/>
          </a:prstGeom>
          <a:solidFill>
            <a:srgbClr val="795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256032"/>
            <a:ext cx="1" cy="228600"/>
          </a:xfrm>
          <a:prstGeom prst="rect">
            <a:avLst/>
          </a:prstGeom>
          <a:noFill/>
        </p:spPr>
        <p:txBody>
          <a:bodyPr wrap="none" lIns="45720" rIns="45720">
            <a:spAutoFit/>
          </a:bodyPr>
          <a:lstStyle/>
          <a:p>
            <a:pPr algn="ctr"/>
            <a:r>
              <a:rPr sz="900" b="1">
                <a:solidFill>
                  <a:srgbClr val="FFC257"/>
                </a:solidFill>
                <a:latin typeface="Aptos"/>
              </a:rPr>
              <a:t>KEY TERMS</a:t>
            </a:r>
          </a:p>
        </p:txBody>
      </p:sp>
      <p:sp>
        <p:nvSpPr>
          <p:cNvPr id="6" name="TextBox 5"/>
          <p:cNvSpPr txBox="1"/>
          <p:nvPr/>
        </p:nvSpPr>
        <p:spPr>
          <a:xfrm>
            <a:off x="822960" y="502920"/>
            <a:ext cx="10241280" cy="594360"/>
          </a:xfrm>
          <a:prstGeom prst="rect">
            <a:avLst/>
          </a:prstGeom>
          <a:noFill/>
        </p:spPr>
        <p:txBody>
          <a:bodyPr wrap="none">
            <a:spAutoFit/>
          </a:bodyPr>
          <a:lstStyle/>
          <a:p>
            <a:r>
              <a:rPr sz="3400" b="1">
                <a:solidFill>
                  <a:srgbClr val="F5F7FA"/>
                </a:solidFill>
                <a:latin typeface="Aptos Display"/>
              </a:rPr>
              <a:t>Key terms before we start</a:t>
            </a:r>
          </a:p>
        </p:txBody>
      </p:sp>
      <p:sp>
        <p:nvSpPr>
          <p:cNvPr id="7" name="TextBox 6"/>
          <p:cNvSpPr txBox="1"/>
          <p:nvPr/>
        </p:nvSpPr>
        <p:spPr>
          <a:xfrm>
            <a:off x="850392" y="1078992"/>
            <a:ext cx="9875520" cy="320040"/>
          </a:xfrm>
          <a:prstGeom prst="rect">
            <a:avLst/>
          </a:prstGeom>
          <a:noFill/>
        </p:spPr>
        <p:txBody>
          <a:bodyPr wrap="none">
            <a:spAutoFit/>
          </a:bodyPr>
          <a:lstStyle/>
          <a:p>
            <a:r>
              <a:rPr sz="1500">
                <a:solidFill>
                  <a:srgbClr val="AEB8CD"/>
                </a:solidFill>
                <a:latin typeface="Aptos"/>
              </a:rPr>
              <a:t>These words will come up throughout the XRAG paper and my project.</a:t>
            </a:r>
          </a:p>
        </p:txBody>
      </p:sp>
      <p:sp>
        <p:nvSpPr>
          <p:cNvPr id="8" name="Rounded Rectangle 7"/>
          <p:cNvSpPr/>
          <p:nvPr/>
        </p:nvSpPr>
        <p:spPr>
          <a:xfrm>
            <a:off x="914400" y="1600200"/>
            <a:ext cx="1691640" cy="502920"/>
          </a:xfrm>
          <a:prstGeom prst="roundRect">
            <a:avLst/>
          </a:prstGeom>
          <a:solidFill>
            <a:srgbClr val="172037"/>
          </a:solidFill>
          <a:ln w="12700">
            <a:solidFill>
              <a:srgbClr val="2BD1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737360"/>
            <a:ext cx="1691640" cy="228600"/>
          </a:xfrm>
          <a:prstGeom prst="rect">
            <a:avLst/>
          </a:prstGeom>
          <a:noFill/>
        </p:spPr>
        <p:txBody>
          <a:bodyPr wrap="none">
            <a:spAutoFit/>
          </a:bodyPr>
          <a:lstStyle/>
          <a:p>
            <a:pPr algn="ctr"/>
            <a:r>
              <a:rPr sz="1400" b="1">
                <a:solidFill>
                  <a:srgbClr val="2BD1CE"/>
                </a:solidFill>
                <a:latin typeface="Aptos"/>
              </a:rPr>
              <a:t>Question</a:t>
            </a:r>
          </a:p>
        </p:txBody>
      </p:sp>
      <p:sp>
        <p:nvSpPr>
          <p:cNvPr id="10" name="Right Arrow 9"/>
          <p:cNvSpPr/>
          <p:nvPr/>
        </p:nvSpPr>
        <p:spPr>
          <a:xfrm>
            <a:off x="2679192" y="1746504"/>
            <a:ext cx="274320" cy="201168"/>
          </a:xfrm>
          <a:prstGeom prst="rightArrow">
            <a:avLst/>
          </a:prstGeom>
          <a:solidFill>
            <a:srgbClr val="AEB8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907792" y="1600200"/>
            <a:ext cx="1691640" cy="502920"/>
          </a:xfrm>
          <a:prstGeom prst="roundRect">
            <a:avLst/>
          </a:prstGeom>
          <a:solidFill>
            <a:srgbClr val="172037"/>
          </a:solidFill>
          <a:ln w="12700">
            <a:solidFill>
              <a:srgbClr val="795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07792" y="1737360"/>
            <a:ext cx="1691640" cy="228600"/>
          </a:xfrm>
          <a:prstGeom prst="rect">
            <a:avLst/>
          </a:prstGeom>
          <a:noFill/>
        </p:spPr>
        <p:txBody>
          <a:bodyPr wrap="none">
            <a:spAutoFit/>
          </a:bodyPr>
          <a:lstStyle/>
          <a:p>
            <a:pPr algn="ctr"/>
            <a:r>
              <a:rPr sz="1400" b="1">
                <a:solidFill>
                  <a:srgbClr val="7956FF"/>
                </a:solidFill>
                <a:latin typeface="Aptos"/>
              </a:rPr>
              <a:t>Retriever</a:t>
            </a:r>
          </a:p>
        </p:txBody>
      </p:sp>
      <p:sp>
        <p:nvSpPr>
          <p:cNvPr id="13" name="Right Arrow 12"/>
          <p:cNvSpPr/>
          <p:nvPr/>
        </p:nvSpPr>
        <p:spPr>
          <a:xfrm>
            <a:off x="4672584" y="1746504"/>
            <a:ext cx="274320" cy="201168"/>
          </a:xfrm>
          <a:prstGeom prst="rightArrow">
            <a:avLst/>
          </a:prstGeom>
          <a:solidFill>
            <a:srgbClr val="AEB8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901184" y="1600200"/>
            <a:ext cx="1691640" cy="502920"/>
          </a:xfrm>
          <a:prstGeom prst="roundRect">
            <a:avLst/>
          </a:prstGeom>
          <a:solidFill>
            <a:srgbClr val="172037"/>
          </a:solidFill>
          <a:ln w="12700">
            <a:solidFill>
              <a:srgbClr val="FFC2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01184" y="1737360"/>
            <a:ext cx="1691640" cy="228600"/>
          </a:xfrm>
          <a:prstGeom prst="rect">
            <a:avLst/>
          </a:prstGeom>
          <a:noFill/>
        </p:spPr>
        <p:txBody>
          <a:bodyPr wrap="none">
            <a:spAutoFit/>
          </a:bodyPr>
          <a:lstStyle/>
          <a:p>
            <a:pPr algn="ctr"/>
            <a:r>
              <a:rPr sz="1400" b="1">
                <a:solidFill>
                  <a:srgbClr val="FFC257"/>
                </a:solidFill>
                <a:latin typeface="Aptos"/>
              </a:rPr>
              <a:t>Evidence</a:t>
            </a:r>
          </a:p>
        </p:txBody>
      </p:sp>
      <p:sp>
        <p:nvSpPr>
          <p:cNvPr id="16" name="Right Arrow 15"/>
          <p:cNvSpPr/>
          <p:nvPr/>
        </p:nvSpPr>
        <p:spPr>
          <a:xfrm>
            <a:off x="6665976" y="1746504"/>
            <a:ext cx="274320" cy="201168"/>
          </a:xfrm>
          <a:prstGeom prst="rightArrow">
            <a:avLst/>
          </a:prstGeom>
          <a:solidFill>
            <a:srgbClr val="AEB8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894576" y="1600200"/>
            <a:ext cx="1691640" cy="502920"/>
          </a:xfrm>
          <a:prstGeom prst="roundRect">
            <a:avLst/>
          </a:prstGeom>
          <a:solidFill>
            <a:srgbClr val="172037"/>
          </a:solidFill>
          <a:ln w="12700">
            <a:solidFill>
              <a:srgbClr val="2BD1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94576" y="1737360"/>
            <a:ext cx="1691640" cy="228600"/>
          </a:xfrm>
          <a:prstGeom prst="rect">
            <a:avLst/>
          </a:prstGeom>
          <a:noFill/>
        </p:spPr>
        <p:txBody>
          <a:bodyPr wrap="none">
            <a:spAutoFit/>
          </a:bodyPr>
          <a:lstStyle/>
          <a:p>
            <a:pPr algn="ctr"/>
            <a:r>
              <a:rPr sz="1400" b="1">
                <a:solidFill>
                  <a:srgbClr val="2BD1CE"/>
                </a:solidFill>
                <a:latin typeface="Aptos"/>
              </a:rPr>
              <a:t>Generator</a:t>
            </a:r>
          </a:p>
        </p:txBody>
      </p:sp>
      <p:sp>
        <p:nvSpPr>
          <p:cNvPr id="19" name="Right Arrow 18"/>
          <p:cNvSpPr/>
          <p:nvPr/>
        </p:nvSpPr>
        <p:spPr>
          <a:xfrm>
            <a:off x="8659368" y="1746504"/>
            <a:ext cx="274320" cy="201168"/>
          </a:xfrm>
          <a:prstGeom prst="rightArrow">
            <a:avLst/>
          </a:prstGeom>
          <a:solidFill>
            <a:srgbClr val="AEB8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887968" y="1600200"/>
            <a:ext cx="1691640" cy="502920"/>
          </a:xfrm>
          <a:prstGeom prst="roundRect">
            <a:avLst/>
          </a:prstGeom>
          <a:solidFill>
            <a:srgbClr val="172037"/>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87968" y="1737360"/>
            <a:ext cx="1691640" cy="228600"/>
          </a:xfrm>
          <a:prstGeom prst="rect">
            <a:avLst/>
          </a:prstGeom>
          <a:noFill/>
        </p:spPr>
        <p:txBody>
          <a:bodyPr wrap="none">
            <a:spAutoFit/>
          </a:bodyPr>
          <a:lstStyle/>
          <a:p>
            <a:pPr algn="ctr"/>
            <a:r>
              <a:rPr sz="1400" b="1">
                <a:solidFill>
                  <a:srgbClr val="F5F7FA"/>
                </a:solidFill>
                <a:latin typeface="Aptos"/>
              </a:rPr>
              <a:t>Answer</a:t>
            </a:r>
          </a:p>
        </p:txBody>
      </p:sp>
      <p:sp>
        <p:nvSpPr>
          <p:cNvPr id="22" name="Rounded Rectangle 21"/>
          <p:cNvSpPr/>
          <p:nvPr/>
        </p:nvSpPr>
        <p:spPr>
          <a:xfrm>
            <a:off x="914400" y="274320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78992" y="2825496"/>
            <a:ext cx="4288536" cy="228600"/>
          </a:xfrm>
          <a:prstGeom prst="rect">
            <a:avLst/>
          </a:prstGeom>
          <a:noFill/>
        </p:spPr>
        <p:txBody>
          <a:bodyPr wrap="none">
            <a:spAutoFit/>
          </a:bodyPr>
          <a:lstStyle/>
          <a:p>
            <a:r>
              <a:rPr sz="1500" b="1">
                <a:solidFill>
                  <a:srgbClr val="2BD1CE"/>
                </a:solidFill>
                <a:latin typeface="Aptos"/>
              </a:rPr>
              <a:t>RAG</a:t>
            </a:r>
          </a:p>
        </p:txBody>
      </p:sp>
      <p:sp>
        <p:nvSpPr>
          <p:cNvPr id="24" name="TextBox 23"/>
          <p:cNvSpPr txBox="1"/>
          <p:nvPr/>
        </p:nvSpPr>
        <p:spPr>
          <a:xfrm>
            <a:off x="1078992" y="3099816"/>
            <a:ext cx="4288536" cy="347472"/>
          </a:xfrm>
          <a:prstGeom prst="rect">
            <a:avLst/>
          </a:prstGeom>
          <a:noFill/>
        </p:spPr>
        <p:txBody>
          <a:bodyPr wrap="square">
            <a:spAutoFit/>
          </a:bodyPr>
          <a:lstStyle/>
          <a:p>
            <a:r>
              <a:rPr sz="1070">
                <a:solidFill>
                  <a:srgbClr val="F5F7FA"/>
                </a:solidFill>
                <a:latin typeface="Aptos"/>
              </a:rPr>
              <a:t>Retrieval-Augmented Generation: search for documents first, then use an LLM to write the answer.</a:t>
            </a:r>
          </a:p>
        </p:txBody>
      </p:sp>
      <p:sp>
        <p:nvSpPr>
          <p:cNvPr id="25" name="Rounded Rectangle 24"/>
          <p:cNvSpPr/>
          <p:nvPr/>
        </p:nvSpPr>
        <p:spPr>
          <a:xfrm>
            <a:off x="914400" y="370332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78992" y="3785616"/>
            <a:ext cx="4288536" cy="228600"/>
          </a:xfrm>
          <a:prstGeom prst="rect">
            <a:avLst/>
          </a:prstGeom>
          <a:noFill/>
        </p:spPr>
        <p:txBody>
          <a:bodyPr wrap="none">
            <a:spAutoFit/>
          </a:bodyPr>
          <a:lstStyle/>
          <a:p>
            <a:r>
              <a:rPr sz="1500" b="1">
                <a:solidFill>
                  <a:srgbClr val="2BD1CE"/>
                </a:solidFill>
                <a:latin typeface="Aptos"/>
              </a:rPr>
              <a:t>Retriever</a:t>
            </a:r>
          </a:p>
        </p:txBody>
      </p:sp>
      <p:sp>
        <p:nvSpPr>
          <p:cNvPr id="27" name="TextBox 26"/>
          <p:cNvSpPr txBox="1"/>
          <p:nvPr/>
        </p:nvSpPr>
        <p:spPr>
          <a:xfrm>
            <a:off x="1078992" y="4059936"/>
            <a:ext cx="4288536" cy="347472"/>
          </a:xfrm>
          <a:prstGeom prst="rect">
            <a:avLst/>
          </a:prstGeom>
          <a:noFill/>
        </p:spPr>
        <p:txBody>
          <a:bodyPr wrap="square">
            <a:spAutoFit/>
          </a:bodyPr>
          <a:lstStyle/>
          <a:p>
            <a:r>
              <a:rPr sz="1070">
                <a:solidFill>
                  <a:srgbClr val="F5F7FA"/>
                </a:solidFill>
                <a:latin typeface="Aptos"/>
              </a:rPr>
              <a:t>The search part of the system; it ranks documents by how useful they seem for the question.</a:t>
            </a:r>
          </a:p>
        </p:txBody>
      </p:sp>
      <p:sp>
        <p:nvSpPr>
          <p:cNvPr id="28" name="Rounded Rectangle 27"/>
          <p:cNvSpPr/>
          <p:nvPr/>
        </p:nvSpPr>
        <p:spPr>
          <a:xfrm>
            <a:off x="914400" y="466344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78992" y="4745736"/>
            <a:ext cx="4288536" cy="228600"/>
          </a:xfrm>
          <a:prstGeom prst="rect">
            <a:avLst/>
          </a:prstGeom>
          <a:noFill/>
        </p:spPr>
        <p:txBody>
          <a:bodyPr wrap="none">
            <a:spAutoFit/>
          </a:bodyPr>
          <a:lstStyle/>
          <a:p>
            <a:r>
              <a:rPr sz="1500" b="1">
                <a:solidFill>
                  <a:srgbClr val="2BD1CE"/>
                </a:solidFill>
                <a:latin typeface="Aptos"/>
              </a:rPr>
              <a:t>Generator</a:t>
            </a:r>
          </a:p>
        </p:txBody>
      </p:sp>
      <p:sp>
        <p:nvSpPr>
          <p:cNvPr id="30" name="TextBox 29"/>
          <p:cNvSpPr txBox="1"/>
          <p:nvPr/>
        </p:nvSpPr>
        <p:spPr>
          <a:xfrm>
            <a:off x="1078992" y="5020056"/>
            <a:ext cx="4288536" cy="347472"/>
          </a:xfrm>
          <a:prstGeom prst="rect">
            <a:avLst/>
          </a:prstGeom>
          <a:noFill/>
        </p:spPr>
        <p:txBody>
          <a:bodyPr wrap="square">
            <a:spAutoFit/>
          </a:bodyPr>
          <a:lstStyle/>
          <a:p>
            <a:r>
              <a:rPr sz="1070">
                <a:solidFill>
                  <a:srgbClr val="F5F7FA"/>
                </a:solidFill>
                <a:latin typeface="Aptos"/>
              </a:rPr>
              <a:t>The language model that reads the selected evidence and writes the final answer.</a:t>
            </a:r>
          </a:p>
        </p:txBody>
      </p:sp>
      <p:sp>
        <p:nvSpPr>
          <p:cNvPr id="31" name="Rounded Rectangle 30"/>
          <p:cNvSpPr/>
          <p:nvPr/>
        </p:nvSpPr>
        <p:spPr>
          <a:xfrm>
            <a:off x="5989320" y="274320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53912" y="2825496"/>
            <a:ext cx="4288536" cy="228600"/>
          </a:xfrm>
          <a:prstGeom prst="rect">
            <a:avLst/>
          </a:prstGeom>
          <a:noFill/>
        </p:spPr>
        <p:txBody>
          <a:bodyPr wrap="none">
            <a:spAutoFit/>
          </a:bodyPr>
          <a:lstStyle/>
          <a:p>
            <a:r>
              <a:rPr sz="1500" b="1">
                <a:solidFill>
                  <a:srgbClr val="7956FF"/>
                </a:solidFill>
                <a:latin typeface="Aptos"/>
              </a:rPr>
              <a:t>Benchmark</a:t>
            </a:r>
          </a:p>
        </p:txBody>
      </p:sp>
      <p:sp>
        <p:nvSpPr>
          <p:cNvPr id="33" name="TextBox 32"/>
          <p:cNvSpPr txBox="1"/>
          <p:nvPr/>
        </p:nvSpPr>
        <p:spPr>
          <a:xfrm>
            <a:off x="6153912" y="3099816"/>
            <a:ext cx="4288536" cy="347472"/>
          </a:xfrm>
          <a:prstGeom prst="rect">
            <a:avLst/>
          </a:prstGeom>
          <a:noFill/>
        </p:spPr>
        <p:txBody>
          <a:bodyPr wrap="square">
            <a:spAutoFit/>
          </a:bodyPr>
          <a:lstStyle/>
          <a:p>
            <a:r>
              <a:rPr sz="1070">
                <a:solidFill>
                  <a:srgbClr val="F5F7FA"/>
                </a:solidFill>
                <a:latin typeface="Aptos"/>
              </a:rPr>
              <a:t>A controlled test dataset used to compare systems fairly.</a:t>
            </a:r>
          </a:p>
        </p:txBody>
      </p:sp>
      <p:sp>
        <p:nvSpPr>
          <p:cNvPr id="34" name="Rounded Rectangle 33"/>
          <p:cNvSpPr/>
          <p:nvPr/>
        </p:nvSpPr>
        <p:spPr>
          <a:xfrm>
            <a:off x="5989320" y="370332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53912" y="3785616"/>
            <a:ext cx="4288536" cy="228600"/>
          </a:xfrm>
          <a:prstGeom prst="rect">
            <a:avLst/>
          </a:prstGeom>
          <a:noFill/>
        </p:spPr>
        <p:txBody>
          <a:bodyPr wrap="none">
            <a:spAutoFit/>
          </a:bodyPr>
          <a:lstStyle/>
          <a:p>
            <a:r>
              <a:rPr sz="1500" b="1">
                <a:solidFill>
                  <a:srgbClr val="7956FF"/>
                </a:solidFill>
                <a:latin typeface="Aptos"/>
              </a:rPr>
              <a:t>Cross-lingual</a:t>
            </a:r>
          </a:p>
        </p:txBody>
      </p:sp>
      <p:sp>
        <p:nvSpPr>
          <p:cNvPr id="36" name="TextBox 35"/>
          <p:cNvSpPr txBox="1"/>
          <p:nvPr/>
        </p:nvSpPr>
        <p:spPr>
          <a:xfrm>
            <a:off x="6153912" y="4059936"/>
            <a:ext cx="4288536" cy="347472"/>
          </a:xfrm>
          <a:prstGeom prst="rect">
            <a:avLst/>
          </a:prstGeom>
          <a:noFill/>
        </p:spPr>
        <p:txBody>
          <a:bodyPr wrap="square">
            <a:spAutoFit/>
          </a:bodyPr>
          <a:lstStyle/>
          <a:p>
            <a:r>
              <a:rPr sz="1070">
                <a:solidFill>
                  <a:srgbClr val="F5F7FA"/>
                </a:solidFill>
                <a:latin typeface="Aptos"/>
              </a:rPr>
              <a:t>The question and evidence may be in different languages.</a:t>
            </a:r>
          </a:p>
        </p:txBody>
      </p:sp>
      <p:sp>
        <p:nvSpPr>
          <p:cNvPr id="37" name="Rounded Rectangle 36"/>
          <p:cNvSpPr/>
          <p:nvPr/>
        </p:nvSpPr>
        <p:spPr>
          <a:xfrm>
            <a:off x="5989320" y="466344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53912" y="4745736"/>
            <a:ext cx="4288536" cy="228600"/>
          </a:xfrm>
          <a:prstGeom prst="rect">
            <a:avLst/>
          </a:prstGeom>
          <a:noFill/>
        </p:spPr>
        <p:txBody>
          <a:bodyPr wrap="none">
            <a:spAutoFit/>
          </a:bodyPr>
          <a:lstStyle/>
          <a:p>
            <a:r>
              <a:rPr sz="1500" b="1">
                <a:solidFill>
                  <a:srgbClr val="7956FF"/>
                </a:solidFill>
                <a:latin typeface="Aptos"/>
              </a:rPr>
              <a:t>Evidence selection</a:t>
            </a:r>
          </a:p>
        </p:txBody>
      </p:sp>
      <p:sp>
        <p:nvSpPr>
          <p:cNvPr id="39" name="TextBox 38"/>
          <p:cNvSpPr txBox="1"/>
          <p:nvPr/>
        </p:nvSpPr>
        <p:spPr>
          <a:xfrm>
            <a:off x="6153912" y="5020056"/>
            <a:ext cx="4288536" cy="347472"/>
          </a:xfrm>
          <a:prstGeom prst="rect">
            <a:avLst/>
          </a:prstGeom>
          <a:noFill/>
        </p:spPr>
        <p:txBody>
          <a:bodyPr wrap="square">
            <a:spAutoFit/>
          </a:bodyPr>
          <a:lstStyle/>
          <a:p>
            <a:r>
              <a:rPr sz="1070">
                <a:solidFill>
                  <a:srgbClr val="F5F7FA"/>
                </a:solidFill>
                <a:latin typeface="Aptos"/>
              </a:rPr>
              <a:t>Choosing which documents to show the model before it answers.</a:t>
            </a:r>
          </a:p>
        </p:txBody>
      </p:sp>
      <p:sp>
        <p:nvSpPr>
          <p:cNvPr id="40" name="TextBox 39"/>
          <p:cNvSpPr txBox="1"/>
          <p:nvPr/>
        </p:nvSpPr>
        <p:spPr>
          <a:xfrm>
            <a:off x="9966960" y="6492240"/>
            <a:ext cx="1097280" cy="201168"/>
          </a:xfrm>
          <a:prstGeom prst="rect">
            <a:avLst/>
          </a:prstGeom>
          <a:noFill/>
        </p:spPr>
        <p:txBody>
          <a:bodyPr wrap="none">
            <a:spAutoFit/>
          </a:bodyPr>
          <a:lstStyle/>
          <a:p>
            <a:r>
              <a:rPr sz="900">
                <a:solidFill>
                  <a:srgbClr val="AEB8CD"/>
                </a:solidFill>
                <a:latin typeface="Aptos"/>
              </a:rPr>
              <a:t>2A / 29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0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20040"/>
            <a:ext cx="73152" cy="6172200"/>
          </a:xfrm>
          <a:prstGeom prst="rect">
            <a:avLst/>
          </a:prstGeom>
          <a:solidFill>
            <a:srgbClr val="2BD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12648" y="320040"/>
            <a:ext cx="27432" cy="6172200"/>
          </a:xfrm>
          <a:prstGeom prst="rect">
            <a:avLst/>
          </a:prstGeom>
          <a:solidFill>
            <a:srgbClr val="795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256032"/>
            <a:ext cx="1" cy="228600"/>
          </a:xfrm>
          <a:prstGeom prst="rect">
            <a:avLst/>
          </a:prstGeom>
          <a:noFill/>
        </p:spPr>
        <p:txBody>
          <a:bodyPr wrap="none" lIns="45720" rIns="45720">
            <a:spAutoFit/>
          </a:bodyPr>
          <a:lstStyle/>
          <a:p>
            <a:pPr algn="ctr"/>
            <a:r>
              <a:rPr sz="900" b="1">
                <a:solidFill>
                  <a:srgbClr val="FFC257"/>
                </a:solidFill>
                <a:latin typeface="Aptos"/>
              </a:rPr>
              <a:t>KEY TERMS</a:t>
            </a:r>
          </a:p>
        </p:txBody>
      </p:sp>
      <p:sp>
        <p:nvSpPr>
          <p:cNvPr id="6" name="TextBox 5"/>
          <p:cNvSpPr txBox="1"/>
          <p:nvPr/>
        </p:nvSpPr>
        <p:spPr>
          <a:xfrm>
            <a:off x="822960" y="502920"/>
            <a:ext cx="10241280" cy="594360"/>
          </a:xfrm>
          <a:prstGeom prst="rect">
            <a:avLst/>
          </a:prstGeom>
          <a:noFill/>
        </p:spPr>
        <p:txBody>
          <a:bodyPr wrap="none">
            <a:spAutoFit/>
          </a:bodyPr>
          <a:lstStyle/>
          <a:p>
            <a:r>
              <a:rPr sz="3400" b="1">
                <a:solidFill>
                  <a:srgbClr val="F5F7FA"/>
                </a:solidFill>
                <a:latin typeface="Aptos Display"/>
              </a:rPr>
              <a:t>XRAG-specific vocabulary</a:t>
            </a:r>
          </a:p>
        </p:txBody>
      </p:sp>
      <p:sp>
        <p:nvSpPr>
          <p:cNvPr id="7" name="TextBox 6"/>
          <p:cNvSpPr txBox="1"/>
          <p:nvPr/>
        </p:nvSpPr>
        <p:spPr>
          <a:xfrm>
            <a:off x="850392" y="1078992"/>
            <a:ext cx="9875520" cy="320040"/>
          </a:xfrm>
          <a:prstGeom prst="rect">
            <a:avLst/>
          </a:prstGeom>
          <a:noFill/>
        </p:spPr>
        <p:txBody>
          <a:bodyPr wrap="none">
            <a:spAutoFit/>
          </a:bodyPr>
          <a:lstStyle/>
          <a:p>
            <a:r>
              <a:rPr sz="1500">
                <a:solidFill>
                  <a:srgbClr val="AEB8CD"/>
                </a:solidFill>
                <a:latin typeface="Aptos"/>
              </a:rPr>
              <a:t>These terms explain how the benchmark is built and how I evaluate my system.</a:t>
            </a:r>
          </a:p>
        </p:txBody>
      </p:sp>
      <p:sp>
        <p:nvSpPr>
          <p:cNvPr id="8" name="Rounded Rectangle 7"/>
          <p:cNvSpPr/>
          <p:nvPr/>
        </p:nvSpPr>
        <p:spPr>
          <a:xfrm>
            <a:off x="914400" y="1417320"/>
            <a:ext cx="10058400" cy="658368"/>
          </a:xfrm>
          <a:prstGeom prst="roundRect">
            <a:avLst/>
          </a:prstGeom>
          <a:solidFill>
            <a:srgbClr val="172037"/>
          </a:solidFill>
          <a:ln w="12700">
            <a:solidFill>
              <a:srgbClr val="2BD1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1600200"/>
            <a:ext cx="9601200" cy="256032"/>
          </a:xfrm>
          <a:prstGeom prst="rect">
            <a:avLst/>
          </a:prstGeom>
          <a:noFill/>
        </p:spPr>
        <p:txBody>
          <a:bodyPr wrap="none">
            <a:spAutoFit/>
          </a:bodyPr>
          <a:lstStyle/>
          <a:p>
            <a:r>
              <a:rPr sz="1500" b="1">
                <a:solidFill>
                  <a:srgbClr val="F5F7FA"/>
                </a:solidFill>
                <a:latin typeface="Aptos"/>
              </a:rPr>
              <a:t>XRAG gives each question support documents and distractor documents, so we can test retrieval quality directly.</a:t>
            </a:r>
          </a:p>
        </p:txBody>
      </p:sp>
      <p:sp>
        <p:nvSpPr>
          <p:cNvPr id="10" name="Rounded Rectangle 9"/>
          <p:cNvSpPr/>
          <p:nvPr/>
        </p:nvSpPr>
        <p:spPr>
          <a:xfrm>
            <a:off x="914400" y="242316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2505456"/>
            <a:ext cx="4288536" cy="228600"/>
          </a:xfrm>
          <a:prstGeom prst="rect">
            <a:avLst/>
          </a:prstGeom>
          <a:noFill/>
        </p:spPr>
        <p:txBody>
          <a:bodyPr wrap="none">
            <a:spAutoFit/>
          </a:bodyPr>
          <a:lstStyle/>
          <a:p>
            <a:r>
              <a:rPr sz="1500" b="1">
                <a:solidFill>
                  <a:srgbClr val="2BD1CE"/>
                </a:solidFill>
                <a:latin typeface="Aptos"/>
              </a:rPr>
              <a:t>Support document</a:t>
            </a:r>
          </a:p>
        </p:txBody>
      </p:sp>
      <p:sp>
        <p:nvSpPr>
          <p:cNvPr id="12" name="TextBox 11"/>
          <p:cNvSpPr txBox="1"/>
          <p:nvPr/>
        </p:nvSpPr>
        <p:spPr>
          <a:xfrm>
            <a:off x="1078992" y="2779776"/>
            <a:ext cx="4288536" cy="347472"/>
          </a:xfrm>
          <a:prstGeom prst="rect">
            <a:avLst/>
          </a:prstGeom>
          <a:noFill/>
        </p:spPr>
        <p:txBody>
          <a:bodyPr wrap="square">
            <a:spAutoFit/>
          </a:bodyPr>
          <a:lstStyle/>
          <a:p>
            <a:r>
              <a:rPr sz="1070">
                <a:solidFill>
                  <a:srgbClr val="F5F7FA"/>
                </a:solidFill>
                <a:latin typeface="Aptos"/>
              </a:rPr>
              <a:t>A document labeled as containing evidence needed to answer the question.</a:t>
            </a:r>
          </a:p>
        </p:txBody>
      </p:sp>
      <p:sp>
        <p:nvSpPr>
          <p:cNvPr id="13" name="Rounded Rectangle 12"/>
          <p:cNvSpPr/>
          <p:nvPr/>
        </p:nvSpPr>
        <p:spPr>
          <a:xfrm>
            <a:off x="914400" y="338328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8992" y="3465576"/>
            <a:ext cx="4288536" cy="228600"/>
          </a:xfrm>
          <a:prstGeom prst="rect">
            <a:avLst/>
          </a:prstGeom>
          <a:noFill/>
        </p:spPr>
        <p:txBody>
          <a:bodyPr wrap="none">
            <a:spAutoFit/>
          </a:bodyPr>
          <a:lstStyle/>
          <a:p>
            <a:r>
              <a:rPr sz="1500" b="1">
                <a:solidFill>
                  <a:srgbClr val="2BD1CE"/>
                </a:solidFill>
                <a:latin typeface="Aptos"/>
              </a:rPr>
              <a:t>Distractor document</a:t>
            </a:r>
          </a:p>
        </p:txBody>
      </p:sp>
      <p:sp>
        <p:nvSpPr>
          <p:cNvPr id="15" name="TextBox 14"/>
          <p:cNvSpPr txBox="1"/>
          <p:nvPr/>
        </p:nvSpPr>
        <p:spPr>
          <a:xfrm>
            <a:off x="1078992" y="3739896"/>
            <a:ext cx="4288536" cy="347472"/>
          </a:xfrm>
          <a:prstGeom prst="rect">
            <a:avLst/>
          </a:prstGeom>
          <a:noFill/>
        </p:spPr>
        <p:txBody>
          <a:bodyPr wrap="square">
            <a:spAutoFit/>
          </a:bodyPr>
          <a:lstStyle/>
          <a:p>
            <a:r>
              <a:rPr sz="1070">
                <a:solidFill>
                  <a:srgbClr val="F5F7FA"/>
                </a:solidFill>
                <a:latin typeface="Aptos"/>
              </a:rPr>
              <a:t>A related article that looks useful but does not contain the needed answer evidence.</a:t>
            </a:r>
          </a:p>
        </p:txBody>
      </p:sp>
      <p:sp>
        <p:nvSpPr>
          <p:cNvPr id="16" name="Rounded Rectangle 15"/>
          <p:cNvSpPr/>
          <p:nvPr/>
        </p:nvSpPr>
        <p:spPr>
          <a:xfrm>
            <a:off x="914400" y="434340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78992" y="4425696"/>
            <a:ext cx="4288536" cy="228600"/>
          </a:xfrm>
          <a:prstGeom prst="rect">
            <a:avLst/>
          </a:prstGeom>
          <a:noFill/>
        </p:spPr>
        <p:txBody>
          <a:bodyPr wrap="none">
            <a:spAutoFit/>
          </a:bodyPr>
          <a:lstStyle/>
          <a:p>
            <a:r>
              <a:rPr sz="1500" b="1">
                <a:solidFill>
                  <a:srgbClr val="2BD1CE"/>
                </a:solidFill>
                <a:latin typeface="Aptos"/>
              </a:rPr>
              <a:t>Gold answer</a:t>
            </a:r>
          </a:p>
        </p:txBody>
      </p:sp>
      <p:sp>
        <p:nvSpPr>
          <p:cNvPr id="18" name="TextBox 17"/>
          <p:cNvSpPr txBox="1"/>
          <p:nvPr/>
        </p:nvSpPr>
        <p:spPr>
          <a:xfrm>
            <a:off x="1078992" y="4700016"/>
            <a:ext cx="4288536" cy="347472"/>
          </a:xfrm>
          <a:prstGeom prst="rect">
            <a:avLst/>
          </a:prstGeom>
          <a:noFill/>
        </p:spPr>
        <p:txBody>
          <a:bodyPr wrap="square">
            <a:spAutoFit/>
          </a:bodyPr>
          <a:lstStyle/>
          <a:p>
            <a:r>
              <a:rPr sz="1070">
                <a:solidFill>
                  <a:srgbClr val="F5F7FA"/>
                </a:solidFill>
                <a:latin typeface="Aptos"/>
              </a:rPr>
              <a:t>The reference answer used to score the model’s response.</a:t>
            </a:r>
          </a:p>
        </p:txBody>
      </p:sp>
      <p:sp>
        <p:nvSpPr>
          <p:cNvPr id="19" name="Rounded Rectangle 18"/>
          <p:cNvSpPr/>
          <p:nvPr/>
        </p:nvSpPr>
        <p:spPr>
          <a:xfrm>
            <a:off x="5989320" y="242316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53912" y="2505456"/>
            <a:ext cx="4288536" cy="228600"/>
          </a:xfrm>
          <a:prstGeom prst="rect">
            <a:avLst/>
          </a:prstGeom>
          <a:noFill/>
        </p:spPr>
        <p:txBody>
          <a:bodyPr wrap="none">
            <a:spAutoFit/>
          </a:bodyPr>
          <a:lstStyle/>
          <a:p>
            <a:r>
              <a:rPr sz="1500" b="1">
                <a:solidFill>
                  <a:srgbClr val="FFC257"/>
                </a:solidFill>
                <a:latin typeface="Aptos"/>
              </a:rPr>
              <a:t>Precision@K</a:t>
            </a:r>
          </a:p>
        </p:txBody>
      </p:sp>
      <p:sp>
        <p:nvSpPr>
          <p:cNvPr id="21" name="TextBox 20"/>
          <p:cNvSpPr txBox="1"/>
          <p:nvPr/>
        </p:nvSpPr>
        <p:spPr>
          <a:xfrm>
            <a:off x="6153912" y="2779776"/>
            <a:ext cx="4288536" cy="347472"/>
          </a:xfrm>
          <a:prstGeom prst="rect">
            <a:avLst/>
          </a:prstGeom>
          <a:noFill/>
        </p:spPr>
        <p:txBody>
          <a:bodyPr wrap="square">
            <a:spAutoFit/>
          </a:bodyPr>
          <a:lstStyle/>
          <a:p>
            <a:r>
              <a:rPr sz="1070">
                <a:solidFill>
                  <a:srgbClr val="F5F7FA"/>
                </a:solidFill>
                <a:latin typeface="Aptos"/>
              </a:rPr>
              <a:t>Of the top K documents retrieved, how many were actually relevant?</a:t>
            </a:r>
          </a:p>
        </p:txBody>
      </p:sp>
      <p:sp>
        <p:nvSpPr>
          <p:cNvPr id="22" name="Rounded Rectangle 21"/>
          <p:cNvSpPr/>
          <p:nvPr/>
        </p:nvSpPr>
        <p:spPr>
          <a:xfrm>
            <a:off x="5989320" y="338328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53912" y="3465576"/>
            <a:ext cx="4288536" cy="228600"/>
          </a:xfrm>
          <a:prstGeom prst="rect">
            <a:avLst/>
          </a:prstGeom>
          <a:noFill/>
        </p:spPr>
        <p:txBody>
          <a:bodyPr wrap="none">
            <a:spAutoFit/>
          </a:bodyPr>
          <a:lstStyle/>
          <a:p>
            <a:r>
              <a:rPr sz="1500" b="1">
                <a:solidFill>
                  <a:srgbClr val="FFC257"/>
                </a:solidFill>
                <a:latin typeface="Aptos"/>
              </a:rPr>
              <a:t>Recall@K</a:t>
            </a:r>
          </a:p>
        </p:txBody>
      </p:sp>
      <p:sp>
        <p:nvSpPr>
          <p:cNvPr id="24" name="TextBox 23"/>
          <p:cNvSpPr txBox="1"/>
          <p:nvPr/>
        </p:nvSpPr>
        <p:spPr>
          <a:xfrm>
            <a:off x="6153912" y="3739896"/>
            <a:ext cx="4288536" cy="347472"/>
          </a:xfrm>
          <a:prstGeom prst="rect">
            <a:avLst/>
          </a:prstGeom>
          <a:noFill/>
        </p:spPr>
        <p:txBody>
          <a:bodyPr wrap="square">
            <a:spAutoFit/>
          </a:bodyPr>
          <a:lstStyle/>
          <a:p>
            <a:r>
              <a:rPr sz="1070">
                <a:solidFill>
                  <a:srgbClr val="F5F7FA"/>
                </a:solidFill>
                <a:latin typeface="Aptos"/>
              </a:rPr>
              <a:t>Of all the needed support documents, how many did the retriever find?</a:t>
            </a:r>
          </a:p>
        </p:txBody>
      </p:sp>
      <p:sp>
        <p:nvSpPr>
          <p:cNvPr id="25" name="Rounded Rectangle 24"/>
          <p:cNvSpPr/>
          <p:nvPr/>
        </p:nvSpPr>
        <p:spPr>
          <a:xfrm>
            <a:off x="5989320" y="4343400"/>
            <a:ext cx="4617720" cy="804672"/>
          </a:xfrm>
          <a:prstGeom prst="roundRect">
            <a:avLst/>
          </a:prstGeom>
          <a:solidFill>
            <a:srgbClr val="11182B"/>
          </a:solidFill>
          <a:ln w="9525">
            <a:solidFill>
              <a:srgbClr val="273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53912" y="4425696"/>
            <a:ext cx="4288536" cy="228600"/>
          </a:xfrm>
          <a:prstGeom prst="rect">
            <a:avLst/>
          </a:prstGeom>
          <a:noFill/>
        </p:spPr>
        <p:txBody>
          <a:bodyPr wrap="none">
            <a:spAutoFit/>
          </a:bodyPr>
          <a:lstStyle/>
          <a:p>
            <a:r>
              <a:rPr sz="1500" b="1">
                <a:solidFill>
                  <a:srgbClr val="FFC257"/>
                </a:solidFill>
                <a:latin typeface="Aptos"/>
              </a:rPr>
              <a:t>Complete-support coverage</a:t>
            </a:r>
          </a:p>
        </p:txBody>
      </p:sp>
      <p:sp>
        <p:nvSpPr>
          <p:cNvPr id="27" name="TextBox 26"/>
          <p:cNvSpPr txBox="1"/>
          <p:nvPr/>
        </p:nvSpPr>
        <p:spPr>
          <a:xfrm>
            <a:off x="6153912" y="4700016"/>
            <a:ext cx="4288536" cy="347472"/>
          </a:xfrm>
          <a:prstGeom prst="rect">
            <a:avLst/>
          </a:prstGeom>
          <a:noFill/>
        </p:spPr>
        <p:txBody>
          <a:bodyPr wrap="square">
            <a:spAutoFit/>
          </a:bodyPr>
          <a:lstStyle/>
          <a:p>
            <a:r>
              <a:rPr sz="1070">
                <a:solidFill>
                  <a:srgbClr val="F5F7FA"/>
                </a:solidFill>
                <a:latin typeface="Aptos"/>
              </a:rPr>
              <a:t>Whether the retriever found every support document needed for a full answer.</a:t>
            </a:r>
          </a:p>
        </p:txBody>
      </p:sp>
      <p:sp>
        <p:nvSpPr>
          <p:cNvPr id="28" name="TextBox 27"/>
          <p:cNvSpPr txBox="1"/>
          <p:nvPr/>
        </p:nvSpPr>
        <p:spPr>
          <a:xfrm>
            <a:off x="9966960" y="6492240"/>
            <a:ext cx="1097280" cy="201168"/>
          </a:xfrm>
          <a:prstGeom prst="rect">
            <a:avLst/>
          </a:prstGeom>
          <a:noFill/>
        </p:spPr>
        <p:txBody>
          <a:bodyPr wrap="none">
            <a:spAutoFit/>
          </a:bodyPr>
          <a:lstStyle/>
          <a:p>
            <a:r>
              <a:rPr sz="900">
                <a:solidFill>
                  <a:srgbClr val="AEB8CD"/>
                </a:solidFill>
                <a:latin typeface="Aptos"/>
              </a:rPr>
              <a:t>2B / 29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C1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918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554480" cy="292608"/>
          </a:xfrm>
          <a:prstGeom prst="rect">
            <a:avLst/>
          </a:prstGeom>
          <a:noFill/>
        </p:spPr>
        <p:txBody>
          <a:bodyPr wrap="square" lIns="73152" tIns="36576" rIns="73152" bIns="36576">
            <a:spAutoFit/>
          </a:bodyPr>
          <a:lstStyle/>
          <a:p>
            <a:pPr algn="l"/>
            <a:r>
              <a:rPr sz="1100" b="1">
                <a:solidFill>
                  <a:srgbClr val="38D7FF"/>
                </a:solidFill>
                <a:latin typeface="Aptos Display"/>
              </a:rPr>
              <a:t>KEY TERMS</a:t>
            </a:r>
          </a:p>
        </p:txBody>
      </p:sp>
      <p:sp>
        <p:nvSpPr>
          <p:cNvPr id="4" name="TextBox 3"/>
          <p:cNvSpPr txBox="1"/>
          <p:nvPr/>
        </p:nvSpPr>
        <p:spPr>
          <a:xfrm>
            <a:off x="502920" y="667512"/>
            <a:ext cx="6949440" cy="502920"/>
          </a:xfrm>
          <a:prstGeom prst="rect">
            <a:avLst/>
          </a:prstGeom>
          <a:noFill/>
        </p:spPr>
        <p:txBody>
          <a:bodyPr wrap="square" lIns="73152" tIns="36576" rIns="73152" bIns="36576">
            <a:spAutoFit/>
          </a:bodyPr>
          <a:lstStyle/>
          <a:p>
            <a:pPr algn="l"/>
            <a:r>
              <a:rPr sz="3400" b="1">
                <a:solidFill>
                  <a:srgbClr val="FFFFFF"/>
                </a:solidFill>
                <a:latin typeface="Aptos Display"/>
              </a:rPr>
              <a:t>Technical vocabulary</a:t>
            </a:r>
          </a:p>
        </p:txBody>
      </p:sp>
      <p:sp>
        <p:nvSpPr>
          <p:cNvPr id="5" name="TextBox 4"/>
          <p:cNvSpPr txBox="1"/>
          <p:nvPr/>
        </p:nvSpPr>
        <p:spPr>
          <a:xfrm>
            <a:off x="521207" y="1179576"/>
            <a:ext cx="8595360" cy="320040"/>
          </a:xfrm>
          <a:prstGeom prst="rect">
            <a:avLst/>
          </a:prstGeom>
          <a:noFill/>
        </p:spPr>
        <p:txBody>
          <a:bodyPr wrap="square" lIns="73152" tIns="36576" rIns="73152" bIns="36576">
            <a:spAutoFit/>
          </a:bodyPr>
          <a:lstStyle/>
          <a:p>
            <a:pPr algn="l"/>
            <a:r>
              <a:rPr sz="1500" b="0">
                <a:solidFill>
                  <a:srgbClr val="B6C3D6"/>
                </a:solidFill>
                <a:latin typeface="Aptos"/>
              </a:rPr>
              <a:t>These terms are used in the XRAG paper and in my benchmark-to-system project.</a:t>
            </a:r>
          </a:p>
        </p:txBody>
      </p:sp>
      <p:sp>
        <p:nvSpPr>
          <p:cNvPr id="6" name="Rounded Rectangle 5"/>
          <p:cNvSpPr/>
          <p:nvPr/>
        </p:nvSpPr>
        <p:spPr>
          <a:xfrm>
            <a:off x="594360" y="1700784"/>
            <a:ext cx="5257800" cy="822960"/>
          </a:xfrm>
          <a:prstGeom prst="roundRect">
            <a:avLst/>
          </a:prstGeom>
          <a:solidFill>
            <a:srgbClr val="0F1B2E"/>
          </a:solidFill>
          <a:ln w="13970">
            <a:solidFill>
              <a:srgbClr val="31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700784"/>
            <a:ext cx="64008" cy="822960"/>
          </a:xfrm>
          <a:prstGeom prst="rect">
            <a:avLst/>
          </a:prstGeom>
          <a:solidFill>
            <a:srgbClr val="31D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764792"/>
            <a:ext cx="4983480" cy="246888"/>
          </a:xfrm>
          <a:prstGeom prst="rect">
            <a:avLst/>
          </a:prstGeom>
          <a:noFill/>
        </p:spPr>
        <p:txBody>
          <a:bodyPr wrap="square">
            <a:spAutoFit/>
          </a:bodyPr>
          <a:lstStyle/>
          <a:p>
            <a:r>
              <a:rPr sz="1650" b="1">
                <a:solidFill>
                  <a:srgbClr val="FFFFFF"/>
                </a:solidFill>
                <a:latin typeface="Aptos Display"/>
              </a:rPr>
              <a:t>Oracle retrieval</a:t>
            </a:r>
          </a:p>
        </p:txBody>
      </p:sp>
      <p:sp>
        <p:nvSpPr>
          <p:cNvPr id="9" name="TextBox 8"/>
          <p:cNvSpPr txBox="1"/>
          <p:nvPr/>
        </p:nvSpPr>
        <p:spPr>
          <a:xfrm>
            <a:off x="749808" y="2057400"/>
            <a:ext cx="4983480" cy="411480"/>
          </a:xfrm>
          <a:prstGeom prst="rect">
            <a:avLst/>
          </a:prstGeom>
          <a:noFill/>
        </p:spPr>
        <p:txBody>
          <a:bodyPr wrap="square">
            <a:spAutoFit/>
          </a:bodyPr>
          <a:lstStyle/>
          <a:p>
            <a:r>
              <a:rPr sz="1120">
                <a:solidFill>
                  <a:srgbClr val="CAD5E4"/>
                </a:solidFill>
                <a:latin typeface="Aptos"/>
              </a:rPr>
              <a:t>A controlled condition where the model receives the true support documents from the benchmark.</a:t>
            </a:r>
          </a:p>
        </p:txBody>
      </p:sp>
      <p:sp>
        <p:nvSpPr>
          <p:cNvPr id="10" name="Rounded Rectangle 9"/>
          <p:cNvSpPr/>
          <p:nvPr/>
        </p:nvSpPr>
        <p:spPr>
          <a:xfrm>
            <a:off x="594360" y="2752344"/>
            <a:ext cx="5257800" cy="822960"/>
          </a:xfrm>
          <a:prstGeom prst="roundRect">
            <a:avLst/>
          </a:prstGeom>
          <a:solidFill>
            <a:srgbClr val="0F1B2E"/>
          </a:solidFill>
          <a:ln w="13970">
            <a:solidFill>
              <a:srgbClr val="A8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2752344"/>
            <a:ext cx="64008" cy="822960"/>
          </a:xfrm>
          <a:prstGeom prst="rect">
            <a:avLst/>
          </a:prstGeom>
          <a:solidFill>
            <a:srgbClr val="A8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816351"/>
            <a:ext cx="4983480" cy="246888"/>
          </a:xfrm>
          <a:prstGeom prst="rect">
            <a:avLst/>
          </a:prstGeom>
          <a:noFill/>
        </p:spPr>
        <p:txBody>
          <a:bodyPr wrap="square">
            <a:spAutoFit/>
          </a:bodyPr>
          <a:lstStyle/>
          <a:p>
            <a:r>
              <a:rPr sz="1650" b="1">
                <a:solidFill>
                  <a:srgbClr val="FFFFFF"/>
                </a:solidFill>
                <a:latin typeface="Aptos Display"/>
              </a:rPr>
              <a:t>Dense retrieval</a:t>
            </a:r>
          </a:p>
        </p:txBody>
      </p:sp>
      <p:sp>
        <p:nvSpPr>
          <p:cNvPr id="13" name="TextBox 12"/>
          <p:cNvSpPr txBox="1"/>
          <p:nvPr/>
        </p:nvSpPr>
        <p:spPr>
          <a:xfrm>
            <a:off x="749808" y="3108960"/>
            <a:ext cx="4983480" cy="411480"/>
          </a:xfrm>
          <a:prstGeom prst="rect">
            <a:avLst/>
          </a:prstGeom>
          <a:noFill/>
        </p:spPr>
        <p:txBody>
          <a:bodyPr wrap="square">
            <a:spAutoFit/>
          </a:bodyPr>
          <a:lstStyle/>
          <a:p>
            <a:r>
              <a:rPr sz="1120">
                <a:solidFill>
                  <a:srgbClr val="CAD5E4"/>
                </a:solidFill>
                <a:latin typeface="Aptos"/>
              </a:rPr>
              <a:t>Search based on vector similarity, where text meaning is represented numerically instead of by exact words.</a:t>
            </a:r>
          </a:p>
        </p:txBody>
      </p:sp>
      <p:sp>
        <p:nvSpPr>
          <p:cNvPr id="14" name="Rounded Rectangle 13"/>
          <p:cNvSpPr/>
          <p:nvPr/>
        </p:nvSpPr>
        <p:spPr>
          <a:xfrm>
            <a:off x="594360" y="3803904"/>
            <a:ext cx="5257800" cy="822960"/>
          </a:xfrm>
          <a:prstGeom prst="roundRect">
            <a:avLst/>
          </a:prstGeom>
          <a:solidFill>
            <a:srgbClr val="0F1B2E"/>
          </a:solidFill>
          <a:ln w="13970">
            <a:solidFill>
              <a:srgbClr val="31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3803904"/>
            <a:ext cx="64008" cy="822960"/>
          </a:xfrm>
          <a:prstGeom prst="rect">
            <a:avLst/>
          </a:prstGeom>
          <a:solidFill>
            <a:srgbClr val="31D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867912"/>
            <a:ext cx="4983480" cy="246888"/>
          </a:xfrm>
          <a:prstGeom prst="rect">
            <a:avLst/>
          </a:prstGeom>
          <a:noFill/>
        </p:spPr>
        <p:txBody>
          <a:bodyPr wrap="square">
            <a:spAutoFit/>
          </a:bodyPr>
          <a:lstStyle/>
          <a:p>
            <a:r>
              <a:rPr sz="1650" b="1">
                <a:solidFill>
                  <a:srgbClr val="FFFFFF"/>
                </a:solidFill>
                <a:latin typeface="Aptos Display"/>
              </a:rPr>
              <a:t>Embedding</a:t>
            </a:r>
          </a:p>
        </p:txBody>
      </p:sp>
      <p:sp>
        <p:nvSpPr>
          <p:cNvPr id="17" name="TextBox 16"/>
          <p:cNvSpPr txBox="1"/>
          <p:nvPr/>
        </p:nvSpPr>
        <p:spPr>
          <a:xfrm>
            <a:off x="749808" y="4160520"/>
            <a:ext cx="4983480" cy="411480"/>
          </a:xfrm>
          <a:prstGeom prst="rect">
            <a:avLst/>
          </a:prstGeom>
          <a:noFill/>
        </p:spPr>
        <p:txBody>
          <a:bodyPr wrap="square">
            <a:spAutoFit/>
          </a:bodyPr>
          <a:lstStyle/>
          <a:p>
            <a:r>
              <a:rPr sz="1120">
                <a:solidFill>
                  <a:srgbClr val="CAD5E4"/>
                </a:solidFill>
                <a:latin typeface="Aptos"/>
              </a:rPr>
              <a:t>A numerical vector representation of text that lets the system compare semantic similarity.</a:t>
            </a:r>
          </a:p>
        </p:txBody>
      </p:sp>
      <p:sp>
        <p:nvSpPr>
          <p:cNvPr id="18" name="Rounded Rectangle 17"/>
          <p:cNvSpPr/>
          <p:nvPr/>
        </p:nvSpPr>
        <p:spPr>
          <a:xfrm>
            <a:off x="594360" y="4855464"/>
            <a:ext cx="5257800" cy="822960"/>
          </a:xfrm>
          <a:prstGeom prst="roundRect">
            <a:avLst/>
          </a:prstGeom>
          <a:solidFill>
            <a:srgbClr val="0F1B2E"/>
          </a:solidFill>
          <a:ln w="13970">
            <a:solidFill>
              <a:srgbClr val="A8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4855464"/>
            <a:ext cx="64008" cy="822960"/>
          </a:xfrm>
          <a:prstGeom prst="rect">
            <a:avLst/>
          </a:prstGeom>
          <a:solidFill>
            <a:srgbClr val="A8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4919472"/>
            <a:ext cx="4983480" cy="246888"/>
          </a:xfrm>
          <a:prstGeom prst="rect">
            <a:avLst/>
          </a:prstGeom>
          <a:noFill/>
        </p:spPr>
        <p:txBody>
          <a:bodyPr wrap="square">
            <a:spAutoFit/>
          </a:bodyPr>
          <a:lstStyle/>
          <a:p>
            <a:r>
              <a:rPr sz="1650" b="1">
                <a:solidFill>
                  <a:srgbClr val="FFFFFF"/>
                </a:solidFill>
                <a:latin typeface="Aptos Display"/>
              </a:rPr>
              <a:t>Reranking</a:t>
            </a:r>
          </a:p>
        </p:txBody>
      </p:sp>
      <p:sp>
        <p:nvSpPr>
          <p:cNvPr id="21" name="TextBox 20"/>
          <p:cNvSpPr txBox="1"/>
          <p:nvPr/>
        </p:nvSpPr>
        <p:spPr>
          <a:xfrm>
            <a:off x="749808" y="5212079"/>
            <a:ext cx="4983480" cy="411480"/>
          </a:xfrm>
          <a:prstGeom prst="rect">
            <a:avLst/>
          </a:prstGeom>
          <a:noFill/>
        </p:spPr>
        <p:txBody>
          <a:bodyPr wrap="square">
            <a:spAutoFit/>
          </a:bodyPr>
          <a:lstStyle/>
          <a:p>
            <a:r>
              <a:rPr sz="1120">
                <a:solidFill>
                  <a:srgbClr val="CAD5E4"/>
                </a:solidFill>
                <a:latin typeface="Aptos"/>
              </a:rPr>
              <a:t>A second-stage step that reorders retrieved documents after the first retriever produces candidates.</a:t>
            </a:r>
          </a:p>
        </p:txBody>
      </p:sp>
      <p:sp>
        <p:nvSpPr>
          <p:cNvPr id="22" name="Rounded Rectangle 21"/>
          <p:cNvSpPr/>
          <p:nvPr/>
        </p:nvSpPr>
        <p:spPr>
          <a:xfrm>
            <a:off x="6355080" y="1700784"/>
            <a:ext cx="5257800" cy="822960"/>
          </a:xfrm>
          <a:prstGeom prst="roundRect">
            <a:avLst/>
          </a:prstGeom>
          <a:solidFill>
            <a:srgbClr val="0F1B2E"/>
          </a:solidFill>
          <a:ln w="13970">
            <a:solidFill>
              <a:srgbClr val="31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355080" y="1700784"/>
            <a:ext cx="64008" cy="822960"/>
          </a:xfrm>
          <a:prstGeom prst="rect">
            <a:avLst/>
          </a:prstGeom>
          <a:solidFill>
            <a:srgbClr val="31D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10528" y="1764792"/>
            <a:ext cx="4983480" cy="246888"/>
          </a:xfrm>
          <a:prstGeom prst="rect">
            <a:avLst/>
          </a:prstGeom>
          <a:noFill/>
        </p:spPr>
        <p:txBody>
          <a:bodyPr wrap="square">
            <a:spAutoFit/>
          </a:bodyPr>
          <a:lstStyle/>
          <a:p>
            <a:r>
              <a:rPr sz="1650" b="1">
                <a:solidFill>
                  <a:srgbClr val="FFFFFF"/>
                </a:solidFill>
                <a:latin typeface="Aptos Display"/>
              </a:rPr>
              <a:t>Hybrid retrieval</a:t>
            </a:r>
          </a:p>
        </p:txBody>
      </p:sp>
      <p:sp>
        <p:nvSpPr>
          <p:cNvPr id="25" name="TextBox 24"/>
          <p:cNvSpPr txBox="1"/>
          <p:nvPr/>
        </p:nvSpPr>
        <p:spPr>
          <a:xfrm>
            <a:off x="6510528" y="2057400"/>
            <a:ext cx="4983480" cy="411480"/>
          </a:xfrm>
          <a:prstGeom prst="rect">
            <a:avLst/>
          </a:prstGeom>
          <a:noFill/>
        </p:spPr>
        <p:txBody>
          <a:bodyPr wrap="square">
            <a:spAutoFit/>
          </a:bodyPr>
          <a:lstStyle/>
          <a:p>
            <a:r>
              <a:rPr sz="1120">
                <a:solidFill>
                  <a:srgbClr val="CAD5E4"/>
                </a:solidFill>
                <a:latin typeface="Aptos"/>
              </a:rPr>
              <a:t>Combines keyword search such as BM25 with dense semantic retrieval.</a:t>
            </a:r>
          </a:p>
        </p:txBody>
      </p:sp>
      <p:sp>
        <p:nvSpPr>
          <p:cNvPr id="26" name="Rounded Rectangle 25"/>
          <p:cNvSpPr/>
          <p:nvPr/>
        </p:nvSpPr>
        <p:spPr>
          <a:xfrm>
            <a:off x="6355080" y="2752344"/>
            <a:ext cx="5257800" cy="822960"/>
          </a:xfrm>
          <a:prstGeom prst="roundRect">
            <a:avLst/>
          </a:prstGeom>
          <a:solidFill>
            <a:srgbClr val="0F1B2E"/>
          </a:solidFill>
          <a:ln w="13970">
            <a:solidFill>
              <a:srgbClr val="A8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55080" y="2752344"/>
            <a:ext cx="64008" cy="822960"/>
          </a:xfrm>
          <a:prstGeom prst="rect">
            <a:avLst/>
          </a:prstGeom>
          <a:solidFill>
            <a:srgbClr val="A8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0528" y="2816351"/>
            <a:ext cx="4983480" cy="246888"/>
          </a:xfrm>
          <a:prstGeom prst="rect">
            <a:avLst/>
          </a:prstGeom>
          <a:noFill/>
        </p:spPr>
        <p:txBody>
          <a:bodyPr wrap="square">
            <a:spAutoFit/>
          </a:bodyPr>
          <a:lstStyle/>
          <a:p>
            <a:r>
              <a:rPr sz="1650" b="1">
                <a:solidFill>
                  <a:srgbClr val="FFFFFF"/>
                </a:solidFill>
                <a:latin typeface="Aptos Display"/>
              </a:rPr>
              <a:t>Complete-support coverage</a:t>
            </a:r>
          </a:p>
        </p:txBody>
      </p:sp>
      <p:sp>
        <p:nvSpPr>
          <p:cNvPr id="29" name="TextBox 28"/>
          <p:cNvSpPr txBox="1"/>
          <p:nvPr/>
        </p:nvSpPr>
        <p:spPr>
          <a:xfrm>
            <a:off x="6510528" y="3108960"/>
            <a:ext cx="4983480" cy="411480"/>
          </a:xfrm>
          <a:prstGeom prst="rect">
            <a:avLst/>
          </a:prstGeom>
          <a:noFill/>
        </p:spPr>
        <p:txBody>
          <a:bodyPr wrap="square">
            <a:spAutoFit/>
          </a:bodyPr>
          <a:lstStyle/>
          <a:p>
            <a:r>
              <a:rPr sz="1120">
                <a:solidFill>
                  <a:srgbClr val="CAD5E4"/>
                </a:solidFill>
                <a:latin typeface="Aptos"/>
              </a:rPr>
              <a:t>Whether all documents needed to answer the question appear in the top retrieved results.</a:t>
            </a:r>
          </a:p>
        </p:txBody>
      </p:sp>
      <p:sp>
        <p:nvSpPr>
          <p:cNvPr id="30" name="Rounded Rectangle 29"/>
          <p:cNvSpPr/>
          <p:nvPr/>
        </p:nvSpPr>
        <p:spPr>
          <a:xfrm>
            <a:off x="6355080" y="3803904"/>
            <a:ext cx="5257800" cy="822960"/>
          </a:xfrm>
          <a:prstGeom prst="roundRect">
            <a:avLst/>
          </a:prstGeom>
          <a:solidFill>
            <a:srgbClr val="0F1B2E"/>
          </a:solidFill>
          <a:ln w="13970">
            <a:solidFill>
              <a:srgbClr val="31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55080" y="3803904"/>
            <a:ext cx="64008" cy="822960"/>
          </a:xfrm>
          <a:prstGeom prst="rect">
            <a:avLst/>
          </a:prstGeom>
          <a:solidFill>
            <a:srgbClr val="31D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10528" y="3867912"/>
            <a:ext cx="4983480" cy="246888"/>
          </a:xfrm>
          <a:prstGeom prst="rect">
            <a:avLst/>
          </a:prstGeom>
          <a:noFill/>
        </p:spPr>
        <p:txBody>
          <a:bodyPr wrap="square">
            <a:spAutoFit/>
          </a:bodyPr>
          <a:lstStyle/>
          <a:p>
            <a:r>
              <a:rPr sz="1650" b="1">
                <a:solidFill>
                  <a:srgbClr val="FFFFFF"/>
                </a:solidFill>
                <a:latin typeface="Aptos Display"/>
              </a:rPr>
              <a:t>Language drift</a:t>
            </a:r>
          </a:p>
        </p:txBody>
      </p:sp>
      <p:sp>
        <p:nvSpPr>
          <p:cNvPr id="33" name="TextBox 32"/>
          <p:cNvSpPr txBox="1"/>
          <p:nvPr/>
        </p:nvSpPr>
        <p:spPr>
          <a:xfrm>
            <a:off x="6510528" y="4160520"/>
            <a:ext cx="4983480" cy="411480"/>
          </a:xfrm>
          <a:prstGeom prst="rect">
            <a:avLst/>
          </a:prstGeom>
          <a:noFill/>
        </p:spPr>
        <p:txBody>
          <a:bodyPr wrap="square">
            <a:spAutoFit/>
          </a:bodyPr>
          <a:lstStyle/>
          <a:p>
            <a:r>
              <a:rPr sz="1120">
                <a:solidFill>
                  <a:srgbClr val="CAD5E4"/>
                </a:solidFill>
                <a:latin typeface="Aptos"/>
              </a:rPr>
              <a:t>A failure where the model answers in the wrong language or shifts away from the user’s language.</a:t>
            </a:r>
          </a:p>
        </p:txBody>
      </p:sp>
      <p:sp>
        <p:nvSpPr>
          <p:cNvPr id="34" name="Rounded Rectangle 33"/>
          <p:cNvSpPr/>
          <p:nvPr/>
        </p:nvSpPr>
        <p:spPr>
          <a:xfrm>
            <a:off x="6355080" y="4855464"/>
            <a:ext cx="5257800" cy="822960"/>
          </a:xfrm>
          <a:prstGeom prst="roundRect">
            <a:avLst/>
          </a:prstGeom>
          <a:solidFill>
            <a:srgbClr val="0F1B2E"/>
          </a:solidFill>
          <a:ln w="13970">
            <a:solidFill>
              <a:srgbClr val="A8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355080" y="4855464"/>
            <a:ext cx="64008" cy="822960"/>
          </a:xfrm>
          <a:prstGeom prst="rect">
            <a:avLst/>
          </a:prstGeom>
          <a:solidFill>
            <a:srgbClr val="A8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10528" y="4919472"/>
            <a:ext cx="4983480" cy="246888"/>
          </a:xfrm>
          <a:prstGeom prst="rect">
            <a:avLst/>
          </a:prstGeom>
          <a:noFill/>
        </p:spPr>
        <p:txBody>
          <a:bodyPr wrap="square">
            <a:spAutoFit/>
          </a:bodyPr>
          <a:lstStyle/>
          <a:p>
            <a:r>
              <a:rPr sz="1650" b="1">
                <a:solidFill>
                  <a:srgbClr val="FFFFFF"/>
                </a:solidFill>
                <a:latin typeface="Aptos Display"/>
              </a:rPr>
              <a:t>Distractor interference</a:t>
            </a:r>
          </a:p>
        </p:txBody>
      </p:sp>
      <p:sp>
        <p:nvSpPr>
          <p:cNvPr id="37" name="TextBox 36"/>
          <p:cNvSpPr txBox="1"/>
          <p:nvPr/>
        </p:nvSpPr>
        <p:spPr>
          <a:xfrm>
            <a:off x="6510528" y="5212079"/>
            <a:ext cx="4983480" cy="411480"/>
          </a:xfrm>
          <a:prstGeom prst="rect">
            <a:avLst/>
          </a:prstGeom>
          <a:noFill/>
        </p:spPr>
        <p:txBody>
          <a:bodyPr wrap="square">
            <a:spAutoFit/>
          </a:bodyPr>
          <a:lstStyle/>
          <a:p>
            <a:r>
              <a:rPr sz="1120">
                <a:solidFill>
                  <a:srgbClr val="CAD5E4"/>
                </a:solidFill>
                <a:latin typeface="Aptos"/>
              </a:rPr>
              <a:t>When related but irrelevant documents pull the final answer away from the correct evidence.</a:t>
            </a:r>
          </a:p>
        </p:txBody>
      </p:sp>
      <p:sp>
        <p:nvSpPr>
          <p:cNvPr id="38" name="TextBox 37"/>
          <p:cNvSpPr txBox="1"/>
          <p:nvPr/>
        </p:nvSpPr>
        <p:spPr>
          <a:xfrm>
            <a:off x="594360" y="5897880"/>
            <a:ext cx="10789920" cy="228600"/>
          </a:xfrm>
          <a:prstGeom prst="rect">
            <a:avLst/>
          </a:prstGeom>
          <a:noFill/>
        </p:spPr>
        <p:txBody>
          <a:bodyPr wrap="square" lIns="73152" tIns="36576" rIns="73152" bIns="36576">
            <a:spAutoFit/>
          </a:bodyPr>
          <a:lstStyle/>
          <a:p>
            <a:pPr algn="l"/>
            <a:r>
              <a:rPr sz="1050" b="0">
                <a:solidFill>
                  <a:srgbClr val="8C9BAF"/>
                </a:solidFill>
                <a:latin typeface="Aptos"/>
              </a:rPr>
              <a:t>Use these terms when explaining retrieval quality, evidence filtering, and cross-lingual answer generation.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The research problem</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Real RAG systems must work across languages.</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Text 5"/>
          <p:cNvSpPr/>
          <p:nvPr/>
        </p:nvSpPr>
        <p:spPr>
          <a:xfrm>
            <a:off x="731520" y="1417320"/>
            <a:ext cx="5120640" cy="274320"/>
          </a:xfrm>
          <a:prstGeom prst="rect">
            <a:avLst/>
          </a:prstGeom>
          <a:solidFill>
            <a:srgbClr val="11192D"/>
          </a:solidFill>
          <a:ln>
            <a:solidFill>
              <a:srgbClr val="405378"/>
            </a:solidFill>
          </a:ln>
        </p:spPr>
        <p:txBody>
          <a:bodyPr wrap="square" rtlCol="0" anchor="ctr"/>
          <a:lstStyle/>
          <a:p>
            <a:pPr marL="0" indent="0">
              <a:buNone/>
            </a:pPr>
            <a:r>
              <a:rPr lang="en-US" sz="1500" b="1" dirty="0">
                <a:solidFill>
                  <a:srgbClr val="22D3EE"/>
                </a:solidFill>
              </a:rPr>
              <a:t>Most RAG evaluations assume this:</a:t>
            </a:r>
            <a:endParaRPr lang="en-US" sz="1500" dirty="0"/>
          </a:p>
        </p:txBody>
      </p:sp>
      <p:sp>
        <p:nvSpPr>
          <p:cNvPr id="8" name="Shape 6"/>
          <p:cNvSpPr/>
          <p:nvPr/>
        </p:nvSpPr>
        <p:spPr>
          <a:xfrm>
            <a:off x="731520" y="1874520"/>
            <a:ext cx="1572768"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9" name="Text 7"/>
          <p:cNvSpPr/>
          <p:nvPr/>
        </p:nvSpPr>
        <p:spPr>
          <a:xfrm>
            <a:off x="777240" y="2020824"/>
            <a:ext cx="1481328"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English question</a:t>
            </a:r>
            <a:endParaRPr lang="en-US" sz="950" dirty="0"/>
          </a:p>
        </p:txBody>
      </p:sp>
      <p:sp>
        <p:nvSpPr>
          <p:cNvPr id="10" name="Shape 8"/>
          <p:cNvSpPr/>
          <p:nvPr/>
        </p:nvSpPr>
        <p:spPr>
          <a:xfrm rot="5400000">
            <a:off x="2281428" y="213055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1" name="Shape 9"/>
          <p:cNvSpPr/>
          <p:nvPr/>
        </p:nvSpPr>
        <p:spPr>
          <a:xfrm>
            <a:off x="2414016" y="1874520"/>
            <a:ext cx="1572768"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2" name="Text 10"/>
          <p:cNvSpPr/>
          <p:nvPr/>
        </p:nvSpPr>
        <p:spPr>
          <a:xfrm>
            <a:off x="2459736" y="2020824"/>
            <a:ext cx="1481328"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English docs</a:t>
            </a:r>
            <a:endParaRPr lang="en-US" sz="950" dirty="0"/>
          </a:p>
        </p:txBody>
      </p:sp>
      <p:sp>
        <p:nvSpPr>
          <p:cNvPr id="13" name="Shape 11"/>
          <p:cNvSpPr/>
          <p:nvPr/>
        </p:nvSpPr>
        <p:spPr>
          <a:xfrm rot="5400000">
            <a:off x="3963924" y="213055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4" name="Shape 12"/>
          <p:cNvSpPr/>
          <p:nvPr/>
        </p:nvSpPr>
        <p:spPr>
          <a:xfrm>
            <a:off x="4096512" y="1874520"/>
            <a:ext cx="1572768"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5" name="Text 13"/>
          <p:cNvSpPr/>
          <p:nvPr/>
        </p:nvSpPr>
        <p:spPr>
          <a:xfrm>
            <a:off x="4142232" y="2020824"/>
            <a:ext cx="1481328"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English answer</a:t>
            </a:r>
            <a:endParaRPr lang="en-US" sz="950" dirty="0"/>
          </a:p>
        </p:txBody>
      </p:sp>
      <p:sp>
        <p:nvSpPr>
          <p:cNvPr id="16" name="Text 14"/>
          <p:cNvSpPr/>
          <p:nvPr/>
        </p:nvSpPr>
        <p:spPr>
          <a:xfrm>
            <a:off x="731520" y="2880360"/>
            <a:ext cx="5303520" cy="274320"/>
          </a:xfrm>
          <a:prstGeom prst="rect">
            <a:avLst/>
          </a:prstGeom>
          <a:solidFill>
            <a:srgbClr val="11192D"/>
          </a:solidFill>
          <a:ln>
            <a:solidFill>
              <a:srgbClr val="405378"/>
            </a:solidFill>
          </a:ln>
        </p:spPr>
        <p:txBody>
          <a:bodyPr wrap="square" rtlCol="0" anchor="ctr"/>
          <a:lstStyle/>
          <a:p>
            <a:pPr marL="0" indent="0">
              <a:buNone/>
            </a:pPr>
            <a:r>
              <a:rPr lang="en-US" sz="1500" b="1" dirty="0">
                <a:solidFill>
                  <a:srgbClr val="22D3EE"/>
                </a:solidFill>
              </a:rPr>
              <a:t>XRAG focuses on this harder case:</a:t>
            </a:r>
            <a:endParaRPr lang="en-US" sz="1500" dirty="0"/>
          </a:p>
        </p:txBody>
      </p:sp>
      <p:sp>
        <p:nvSpPr>
          <p:cNvPr id="17" name="Shape 15"/>
          <p:cNvSpPr/>
          <p:nvPr/>
        </p:nvSpPr>
        <p:spPr>
          <a:xfrm>
            <a:off x="731520" y="3337560"/>
            <a:ext cx="1725168"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8" name="Text 16"/>
          <p:cNvSpPr/>
          <p:nvPr/>
        </p:nvSpPr>
        <p:spPr>
          <a:xfrm>
            <a:off x="777240" y="3483864"/>
            <a:ext cx="1633728"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Spanish / Arabic / German / Chinese question</a:t>
            </a:r>
            <a:endParaRPr lang="en-US" sz="950" dirty="0"/>
          </a:p>
        </p:txBody>
      </p:sp>
      <p:sp>
        <p:nvSpPr>
          <p:cNvPr id="19" name="Shape 17"/>
          <p:cNvSpPr/>
          <p:nvPr/>
        </p:nvSpPr>
        <p:spPr>
          <a:xfrm rot="5400000">
            <a:off x="2433828" y="359359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20" name="Shape 18"/>
          <p:cNvSpPr/>
          <p:nvPr/>
        </p:nvSpPr>
        <p:spPr>
          <a:xfrm>
            <a:off x="2566416" y="3337560"/>
            <a:ext cx="1725168"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21" name="Text 19"/>
          <p:cNvSpPr/>
          <p:nvPr/>
        </p:nvSpPr>
        <p:spPr>
          <a:xfrm>
            <a:off x="2612136" y="3483864"/>
            <a:ext cx="1633728"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English + non-English docs</a:t>
            </a:r>
            <a:endParaRPr lang="en-US" sz="950" dirty="0"/>
          </a:p>
        </p:txBody>
      </p:sp>
      <p:sp>
        <p:nvSpPr>
          <p:cNvPr id="22" name="Shape 20"/>
          <p:cNvSpPr/>
          <p:nvPr/>
        </p:nvSpPr>
        <p:spPr>
          <a:xfrm rot="5400000">
            <a:off x="4268724" y="359359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23" name="Shape 21"/>
          <p:cNvSpPr/>
          <p:nvPr/>
        </p:nvSpPr>
        <p:spPr>
          <a:xfrm>
            <a:off x="4401312" y="3337560"/>
            <a:ext cx="1725168"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24" name="Text 22"/>
          <p:cNvSpPr/>
          <p:nvPr/>
        </p:nvSpPr>
        <p:spPr>
          <a:xfrm>
            <a:off x="4447032" y="3483864"/>
            <a:ext cx="1633728"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Answer in user language</a:t>
            </a:r>
            <a:endParaRPr lang="en-US" sz="950" dirty="0"/>
          </a:p>
        </p:txBody>
      </p:sp>
      <p:sp>
        <p:nvSpPr>
          <p:cNvPr id="25" name="Shape 23"/>
          <p:cNvSpPr/>
          <p:nvPr/>
        </p:nvSpPr>
        <p:spPr>
          <a:xfrm>
            <a:off x="6766560" y="1371600"/>
            <a:ext cx="4434840" cy="2697480"/>
          </a:xfrm>
          <a:prstGeom prst="roundRect">
            <a:avLst>
              <a:gd name="adj" fmla="val 2373"/>
            </a:avLst>
          </a:prstGeom>
          <a:solidFill>
            <a:srgbClr val="11192D"/>
          </a:solidFill>
          <a:ln w="12700">
            <a:solidFill>
              <a:srgbClr val="405378"/>
            </a:solidFill>
            <a:prstDash val="solid"/>
          </a:ln>
        </p:spPr>
        <p:txBody>
          <a:bodyPr/>
          <a:lstStyle/>
          <a:p>
            <a:endParaRPr/>
          </a:p>
        </p:txBody>
      </p:sp>
      <p:sp>
        <p:nvSpPr>
          <p:cNvPr id="26" name="Shape 24"/>
          <p:cNvSpPr/>
          <p:nvPr/>
        </p:nvSpPr>
        <p:spPr>
          <a:xfrm>
            <a:off x="6766560" y="1371600"/>
            <a:ext cx="100584" cy="2697480"/>
          </a:xfrm>
          <a:prstGeom prst="rect">
            <a:avLst/>
          </a:prstGeom>
          <a:solidFill>
            <a:srgbClr val="22D3EE"/>
          </a:solidFill>
          <a:ln w="12700">
            <a:solidFill>
              <a:srgbClr val="22D3EE"/>
            </a:solidFill>
            <a:prstDash val="solid"/>
          </a:ln>
        </p:spPr>
        <p:txBody>
          <a:bodyPr/>
          <a:lstStyle/>
          <a:p>
            <a:endParaRPr/>
          </a:p>
        </p:txBody>
      </p:sp>
      <p:sp>
        <p:nvSpPr>
          <p:cNvPr id="27" name="Text 25"/>
          <p:cNvSpPr/>
          <p:nvPr/>
        </p:nvSpPr>
        <p:spPr>
          <a:xfrm>
            <a:off x="6995160" y="1536192"/>
            <a:ext cx="411480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Why this matters</a:t>
            </a:r>
            <a:endParaRPr lang="en-US" sz="1220" dirty="0"/>
          </a:p>
        </p:txBody>
      </p:sp>
      <p:sp>
        <p:nvSpPr>
          <p:cNvPr id="28" name="Text 26"/>
          <p:cNvSpPr/>
          <p:nvPr/>
        </p:nvSpPr>
        <p:spPr>
          <a:xfrm>
            <a:off x="6995160" y="1901952"/>
            <a:ext cx="4050792" cy="203911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A user may ask in Spanish, but the best evidence may be in English. A company may only have English documentation. News may be reported differently across languages.</a:t>
            </a:r>
            <a:endParaRPr lang="en-US" sz="1020" dirty="0"/>
          </a:p>
        </p:txBody>
      </p:sp>
      <p:sp>
        <p:nvSpPr>
          <p:cNvPr id="29" name="Shape 27"/>
          <p:cNvSpPr/>
          <p:nvPr/>
        </p:nvSpPr>
        <p:spPr>
          <a:xfrm>
            <a:off x="6766560" y="4343400"/>
            <a:ext cx="4434840" cy="822960"/>
          </a:xfrm>
          <a:prstGeom prst="roundRect">
            <a:avLst>
              <a:gd name="adj" fmla="val 6667"/>
            </a:avLst>
          </a:prstGeom>
          <a:solidFill>
            <a:srgbClr val="11192D"/>
          </a:solidFill>
          <a:ln w="12700">
            <a:solidFill>
              <a:srgbClr val="405378"/>
            </a:solidFill>
            <a:prstDash val="solid"/>
          </a:ln>
        </p:spPr>
        <p:txBody>
          <a:bodyPr/>
          <a:lstStyle/>
          <a:p>
            <a:endParaRPr/>
          </a:p>
        </p:txBody>
      </p:sp>
      <p:sp>
        <p:nvSpPr>
          <p:cNvPr id="30" name="Text 28"/>
          <p:cNvSpPr/>
          <p:nvPr/>
        </p:nvSpPr>
        <p:spPr>
          <a:xfrm>
            <a:off x="7040880" y="4572000"/>
            <a:ext cx="3886200" cy="32004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1250" b="1" dirty="0">
                <a:solidFill>
                  <a:srgbClr val="F4F7FB"/>
                </a:solidFill>
              </a:rPr>
              <a:t>The paper’s goal is to test whether LLMs can use retrieved evidence when the language situation is messy.</a:t>
            </a:r>
            <a:endParaRPr lang="en-US" sz="1250" dirty="0"/>
          </a:p>
        </p:txBody>
      </p:sp>
      <p:sp>
        <p:nvSpPr>
          <p:cNvPr id="31" name="Text 29"/>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Paper motivation: XRAG introduction and Figure 1.</a:t>
            </a:r>
            <a:endParaRPr lang="en-US" sz="640" dirty="0"/>
          </a:p>
        </p:txBody>
      </p:sp>
      <p:sp>
        <p:nvSpPr>
          <p:cNvPr id="32"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RAG in one picture</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Search first, then generate the answer.</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Shape 5"/>
          <p:cNvSpPr/>
          <p:nvPr/>
        </p:nvSpPr>
        <p:spPr>
          <a:xfrm>
            <a:off x="731520" y="1828800"/>
            <a:ext cx="203362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8" name="Text 6"/>
          <p:cNvSpPr/>
          <p:nvPr/>
        </p:nvSpPr>
        <p:spPr>
          <a:xfrm>
            <a:off x="777240" y="1975104"/>
            <a:ext cx="194218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User question</a:t>
            </a:r>
            <a:endParaRPr lang="en-US" sz="950" dirty="0"/>
          </a:p>
        </p:txBody>
      </p:sp>
      <p:sp>
        <p:nvSpPr>
          <p:cNvPr id="9" name="Shape 7"/>
          <p:cNvSpPr/>
          <p:nvPr/>
        </p:nvSpPr>
        <p:spPr>
          <a:xfrm rot="5400000">
            <a:off x="2742286" y="20848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0" name="Shape 8"/>
          <p:cNvSpPr/>
          <p:nvPr/>
        </p:nvSpPr>
        <p:spPr>
          <a:xfrm>
            <a:off x="2874874" y="1828800"/>
            <a:ext cx="203362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1" name="Text 9"/>
          <p:cNvSpPr/>
          <p:nvPr/>
        </p:nvSpPr>
        <p:spPr>
          <a:xfrm>
            <a:off x="2920594" y="1975104"/>
            <a:ext cx="194218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Retriever</a:t>
            </a:r>
            <a:endParaRPr lang="en-US" sz="950" dirty="0"/>
          </a:p>
        </p:txBody>
      </p:sp>
      <p:sp>
        <p:nvSpPr>
          <p:cNvPr id="12" name="Shape 10"/>
          <p:cNvSpPr/>
          <p:nvPr/>
        </p:nvSpPr>
        <p:spPr>
          <a:xfrm rot="5400000">
            <a:off x="4885639" y="20848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3" name="Shape 11"/>
          <p:cNvSpPr/>
          <p:nvPr/>
        </p:nvSpPr>
        <p:spPr>
          <a:xfrm>
            <a:off x="5018227" y="1828800"/>
            <a:ext cx="203362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4" name="Text 12"/>
          <p:cNvSpPr/>
          <p:nvPr/>
        </p:nvSpPr>
        <p:spPr>
          <a:xfrm>
            <a:off x="5063947" y="1975104"/>
            <a:ext cx="194218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Ranked documents</a:t>
            </a:r>
            <a:endParaRPr lang="en-US" sz="950" dirty="0"/>
          </a:p>
        </p:txBody>
      </p:sp>
      <p:sp>
        <p:nvSpPr>
          <p:cNvPr id="15" name="Shape 13"/>
          <p:cNvSpPr/>
          <p:nvPr/>
        </p:nvSpPr>
        <p:spPr>
          <a:xfrm rot="5400000">
            <a:off x="7028993" y="20848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6" name="Shape 14"/>
          <p:cNvSpPr/>
          <p:nvPr/>
        </p:nvSpPr>
        <p:spPr>
          <a:xfrm>
            <a:off x="7161581" y="1828800"/>
            <a:ext cx="203362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7" name="Text 15"/>
          <p:cNvSpPr/>
          <p:nvPr/>
        </p:nvSpPr>
        <p:spPr>
          <a:xfrm>
            <a:off x="7207301" y="1975104"/>
            <a:ext cx="194218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LLM generator</a:t>
            </a:r>
            <a:endParaRPr lang="en-US" sz="950" dirty="0"/>
          </a:p>
        </p:txBody>
      </p:sp>
      <p:sp>
        <p:nvSpPr>
          <p:cNvPr id="18" name="Shape 16"/>
          <p:cNvSpPr/>
          <p:nvPr/>
        </p:nvSpPr>
        <p:spPr>
          <a:xfrm rot="5400000">
            <a:off x="9172346" y="20848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9" name="Shape 17"/>
          <p:cNvSpPr/>
          <p:nvPr/>
        </p:nvSpPr>
        <p:spPr>
          <a:xfrm>
            <a:off x="9304934" y="1828800"/>
            <a:ext cx="203362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20" name="Text 18"/>
          <p:cNvSpPr/>
          <p:nvPr/>
        </p:nvSpPr>
        <p:spPr>
          <a:xfrm>
            <a:off x="9350654" y="1975104"/>
            <a:ext cx="194218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Final answer</a:t>
            </a:r>
            <a:endParaRPr lang="en-US" sz="950" dirty="0"/>
          </a:p>
        </p:txBody>
      </p:sp>
      <p:sp>
        <p:nvSpPr>
          <p:cNvPr id="21" name="Shape 19"/>
          <p:cNvSpPr/>
          <p:nvPr/>
        </p:nvSpPr>
        <p:spPr>
          <a:xfrm>
            <a:off x="822960" y="3063240"/>
            <a:ext cx="324612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22" name="Shape 20"/>
          <p:cNvSpPr/>
          <p:nvPr/>
        </p:nvSpPr>
        <p:spPr>
          <a:xfrm>
            <a:off x="822960" y="3063240"/>
            <a:ext cx="100584" cy="1143000"/>
          </a:xfrm>
          <a:prstGeom prst="rect">
            <a:avLst/>
          </a:prstGeom>
          <a:solidFill>
            <a:srgbClr val="22D3EE"/>
          </a:solidFill>
          <a:ln w="12700">
            <a:solidFill>
              <a:srgbClr val="22D3EE"/>
            </a:solidFill>
            <a:prstDash val="solid"/>
          </a:ln>
        </p:spPr>
        <p:txBody>
          <a:bodyPr/>
          <a:lstStyle/>
          <a:p>
            <a:endParaRPr/>
          </a:p>
        </p:txBody>
      </p:sp>
      <p:sp>
        <p:nvSpPr>
          <p:cNvPr id="23" name="Text 21"/>
          <p:cNvSpPr/>
          <p:nvPr/>
        </p:nvSpPr>
        <p:spPr>
          <a:xfrm>
            <a:off x="1051560" y="3227832"/>
            <a:ext cx="29260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Retriever</a:t>
            </a:r>
            <a:endParaRPr lang="en-US" sz="1220" dirty="0"/>
          </a:p>
        </p:txBody>
      </p:sp>
      <p:sp>
        <p:nvSpPr>
          <p:cNvPr id="24" name="Text 22"/>
          <p:cNvSpPr/>
          <p:nvPr/>
        </p:nvSpPr>
        <p:spPr>
          <a:xfrm>
            <a:off x="1051560" y="3593592"/>
            <a:ext cx="286207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Finds and ranks documents that appear relevant to the question.</a:t>
            </a:r>
            <a:endParaRPr lang="en-US" sz="1020" dirty="0"/>
          </a:p>
        </p:txBody>
      </p:sp>
      <p:sp>
        <p:nvSpPr>
          <p:cNvPr id="25" name="Shape 23"/>
          <p:cNvSpPr/>
          <p:nvPr/>
        </p:nvSpPr>
        <p:spPr>
          <a:xfrm>
            <a:off x="4480560" y="3063240"/>
            <a:ext cx="324612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26" name="Shape 24"/>
          <p:cNvSpPr/>
          <p:nvPr/>
        </p:nvSpPr>
        <p:spPr>
          <a:xfrm>
            <a:off x="4480560" y="3063240"/>
            <a:ext cx="100584" cy="1143000"/>
          </a:xfrm>
          <a:prstGeom prst="rect">
            <a:avLst/>
          </a:prstGeom>
          <a:solidFill>
            <a:srgbClr val="22D3EE"/>
          </a:solidFill>
          <a:ln w="12700">
            <a:solidFill>
              <a:srgbClr val="22D3EE"/>
            </a:solidFill>
            <a:prstDash val="solid"/>
          </a:ln>
        </p:spPr>
        <p:txBody>
          <a:bodyPr/>
          <a:lstStyle/>
          <a:p>
            <a:endParaRPr/>
          </a:p>
        </p:txBody>
      </p:sp>
      <p:sp>
        <p:nvSpPr>
          <p:cNvPr id="27" name="Text 25"/>
          <p:cNvSpPr/>
          <p:nvPr/>
        </p:nvSpPr>
        <p:spPr>
          <a:xfrm>
            <a:off x="4709160" y="3227832"/>
            <a:ext cx="29260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Generator</a:t>
            </a:r>
            <a:endParaRPr lang="en-US" sz="1220" dirty="0"/>
          </a:p>
        </p:txBody>
      </p:sp>
      <p:sp>
        <p:nvSpPr>
          <p:cNvPr id="28" name="Text 26"/>
          <p:cNvSpPr/>
          <p:nvPr/>
        </p:nvSpPr>
        <p:spPr>
          <a:xfrm>
            <a:off x="4709160" y="3593592"/>
            <a:ext cx="286207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Uses the selected documents to produce a fluent answer.</a:t>
            </a:r>
            <a:endParaRPr lang="en-US" sz="1020" dirty="0"/>
          </a:p>
        </p:txBody>
      </p:sp>
      <p:sp>
        <p:nvSpPr>
          <p:cNvPr id="29" name="Shape 27"/>
          <p:cNvSpPr/>
          <p:nvPr/>
        </p:nvSpPr>
        <p:spPr>
          <a:xfrm>
            <a:off x="8138160" y="3063240"/>
            <a:ext cx="324612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30" name="Shape 28"/>
          <p:cNvSpPr/>
          <p:nvPr/>
        </p:nvSpPr>
        <p:spPr>
          <a:xfrm>
            <a:off x="8138160" y="3063240"/>
            <a:ext cx="100584" cy="1143000"/>
          </a:xfrm>
          <a:prstGeom prst="rect">
            <a:avLst/>
          </a:prstGeom>
          <a:solidFill>
            <a:srgbClr val="22D3EE"/>
          </a:solidFill>
          <a:ln w="12700">
            <a:solidFill>
              <a:srgbClr val="22D3EE"/>
            </a:solidFill>
            <a:prstDash val="solid"/>
          </a:ln>
        </p:spPr>
        <p:txBody>
          <a:bodyPr/>
          <a:lstStyle/>
          <a:p>
            <a:endParaRPr/>
          </a:p>
        </p:txBody>
      </p:sp>
      <p:sp>
        <p:nvSpPr>
          <p:cNvPr id="31" name="Text 29"/>
          <p:cNvSpPr/>
          <p:nvPr/>
        </p:nvSpPr>
        <p:spPr>
          <a:xfrm>
            <a:off x="8366760" y="3227832"/>
            <a:ext cx="29260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Evaluation</a:t>
            </a:r>
            <a:endParaRPr lang="en-US" sz="1220" dirty="0"/>
          </a:p>
        </p:txBody>
      </p:sp>
      <p:sp>
        <p:nvSpPr>
          <p:cNvPr id="32" name="Text 30"/>
          <p:cNvSpPr/>
          <p:nvPr/>
        </p:nvSpPr>
        <p:spPr>
          <a:xfrm>
            <a:off x="8366760" y="3593592"/>
            <a:ext cx="286207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Checks whether the answer is factually correct and in the right language.</a:t>
            </a:r>
            <a:endParaRPr lang="en-US" sz="1020" dirty="0"/>
          </a:p>
        </p:txBody>
      </p:sp>
      <p:sp>
        <p:nvSpPr>
          <p:cNvPr id="33" name="Text 31"/>
          <p:cNvSpPr/>
          <p:nvPr/>
        </p:nvSpPr>
        <p:spPr>
          <a:xfrm>
            <a:off x="914400" y="4892040"/>
            <a:ext cx="10241280" cy="365760"/>
          </a:xfrm>
          <a:prstGeom prst="rect">
            <a:avLst/>
          </a:prstGeom>
          <a:solidFill>
            <a:srgbClr val="11192D"/>
          </a:solidFill>
          <a:ln>
            <a:solidFill>
              <a:srgbClr val="405378"/>
            </a:solidFill>
          </a:ln>
        </p:spPr>
        <p:txBody>
          <a:bodyPr wrap="square" rtlCol="0" anchor="ctr"/>
          <a:lstStyle/>
          <a:p>
            <a:pPr marL="0" indent="0" algn="ctr">
              <a:buNone/>
            </a:pPr>
            <a:r>
              <a:rPr lang="en-US" sz="1500" b="1" dirty="0">
                <a:solidFill>
                  <a:srgbClr val="F4F7FB"/>
                </a:solidFill>
              </a:rPr>
              <a:t>XRAG is mainly a generation benchmark, but it controls the retrieval context with support and distractor documents.</a:t>
            </a:r>
            <a:endParaRPr lang="en-US" sz="1500" dirty="0"/>
          </a:p>
        </p:txBody>
      </p:sp>
      <p:sp>
        <p:nvSpPr>
          <p:cNvPr id="34" name="Text 32"/>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RAG background discussed in XRAG related work and benchmark setup.</a:t>
            </a:r>
            <a:endParaRPr lang="en-US" sz="640" dirty="0"/>
          </a:p>
        </p:txBody>
      </p:sp>
      <p:sp>
        <p:nvSpPr>
          <p:cNvPr id="3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Two cross-lingual RAG settings in XRAG</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The paper separates two real-world scenarios.</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Shape 5"/>
          <p:cNvSpPr/>
          <p:nvPr/>
        </p:nvSpPr>
        <p:spPr>
          <a:xfrm>
            <a:off x="731520" y="1325880"/>
            <a:ext cx="5166360" cy="2331720"/>
          </a:xfrm>
          <a:prstGeom prst="roundRect">
            <a:avLst>
              <a:gd name="adj" fmla="val 2745"/>
            </a:avLst>
          </a:prstGeom>
          <a:solidFill>
            <a:srgbClr val="11192D"/>
          </a:solidFill>
          <a:ln w="12700">
            <a:solidFill>
              <a:srgbClr val="405378"/>
            </a:solidFill>
            <a:prstDash val="solid"/>
          </a:ln>
        </p:spPr>
        <p:txBody>
          <a:bodyPr/>
          <a:lstStyle/>
          <a:p>
            <a:endParaRPr/>
          </a:p>
        </p:txBody>
      </p:sp>
      <p:sp>
        <p:nvSpPr>
          <p:cNvPr id="8" name="Shape 6"/>
          <p:cNvSpPr/>
          <p:nvPr/>
        </p:nvSpPr>
        <p:spPr>
          <a:xfrm>
            <a:off x="731520" y="1325880"/>
            <a:ext cx="100584" cy="2331720"/>
          </a:xfrm>
          <a:prstGeom prst="rect">
            <a:avLst/>
          </a:prstGeom>
          <a:solidFill>
            <a:srgbClr val="22D3EE"/>
          </a:solidFill>
          <a:ln w="12700">
            <a:solidFill>
              <a:srgbClr val="22D3EE"/>
            </a:solidFill>
            <a:prstDash val="solid"/>
          </a:ln>
        </p:spPr>
        <p:txBody>
          <a:bodyPr/>
          <a:lstStyle/>
          <a:p>
            <a:endParaRPr/>
          </a:p>
        </p:txBody>
      </p:sp>
      <p:sp>
        <p:nvSpPr>
          <p:cNvPr id="9" name="Text 7"/>
          <p:cNvSpPr/>
          <p:nvPr/>
        </p:nvSpPr>
        <p:spPr>
          <a:xfrm>
            <a:off x="960120" y="1490472"/>
            <a:ext cx="48463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1. Cross-lingual RAG with monolingual retrieval</a:t>
            </a:r>
            <a:endParaRPr lang="en-US" sz="1220" dirty="0"/>
          </a:p>
        </p:txBody>
      </p:sp>
      <p:sp>
        <p:nvSpPr>
          <p:cNvPr id="10" name="Text 8"/>
          <p:cNvSpPr/>
          <p:nvPr/>
        </p:nvSpPr>
        <p:spPr>
          <a:xfrm>
            <a:off x="960120" y="1856232"/>
            <a:ext cx="4782312" cy="167335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user asks in a non-English language, but the retrieved documents are in English. Example: a German user asks a question, but the knowledge base is English-only.</a:t>
            </a:r>
            <a:endParaRPr lang="en-US" sz="1020" dirty="0"/>
          </a:p>
        </p:txBody>
      </p:sp>
      <p:sp>
        <p:nvSpPr>
          <p:cNvPr id="11" name="Shape 9"/>
          <p:cNvSpPr/>
          <p:nvPr/>
        </p:nvSpPr>
        <p:spPr>
          <a:xfrm>
            <a:off x="6309360" y="1325880"/>
            <a:ext cx="5166360" cy="2331720"/>
          </a:xfrm>
          <a:prstGeom prst="roundRect">
            <a:avLst>
              <a:gd name="adj" fmla="val 2745"/>
            </a:avLst>
          </a:prstGeom>
          <a:solidFill>
            <a:srgbClr val="11192D"/>
          </a:solidFill>
          <a:ln w="12700">
            <a:solidFill>
              <a:srgbClr val="405378"/>
            </a:solidFill>
            <a:prstDash val="solid"/>
          </a:ln>
        </p:spPr>
        <p:txBody>
          <a:bodyPr/>
          <a:lstStyle/>
          <a:p>
            <a:endParaRPr/>
          </a:p>
        </p:txBody>
      </p:sp>
      <p:sp>
        <p:nvSpPr>
          <p:cNvPr id="12" name="Shape 10"/>
          <p:cNvSpPr/>
          <p:nvPr/>
        </p:nvSpPr>
        <p:spPr>
          <a:xfrm>
            <a:off x="6309360" y="1325880"/>
            <a:ext cx="100584" cy="2331720"/>
          </a:xfrm>
          <a:prstGeom prst="rect">
            <a:avLst/>
          </a:prstGeom>
          <a:solidFill>
            <a:srgbClr val="22D3EE"/>
          </a:solidFill>
          <a:ln w="12700">
            <a:solidFill>
              <a:srgbClr val="22D3EE"/>
            </a:solidFill>
            <a:prstDash val="solid"/>
          </a:ln>
        </p:spPr>
        <p:txBody>
          <a:bodyPr/>
          <a:lstStyle/>
          <a:p>
            <a:endParaRPr/>
          </a:p>
        </p:txBody>
      </p:sp>
      <p:sp>
        <p:nvSpPr>
          <p:cNvPr id="13" name="Text 11"/>
          <p:cNvSpPr/>
          <p:nvPr/>
        </p:nvSpPr>
        <p:spPr>
          <a:xfrm>
            <a:off x="6537960" y="1490472"/>
            <a:ext cx="48463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2. Cross-lingual RAG with multilingual retrieval</a:t>
            </a:r>
            <a:endParaRPr lang="en-US" sz="1220" dirty="0"/>
          </a:p>
        </p:txBody>
      </p:sp>
      <p:sp>
        <p:nvSpPr>
          <p:cNvPr id="14" name="Text 12"/>
          <p:cNvSpPr/>
          <p:nvPr/>
        </p:nvSpPr>
        <p:spPr>
          <a:xfrm>
            <a:off x="6537960" y="1856232"/>
            <a:ext cx="4782312" cy="167335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user asks in a non-English language, and the retrieved documents include both English and the user language. Example: Spanish question + English and Spanish articles.</a:t>
            </a:r>
            <a:endParaRPr lang="en-US" sz="1020" dirty="0"/>
          </a:p>
        </p:txBody>
      </p:sp>
      <p:sp>
        <p:nvSpPr>
          <p:cNvPr id="15" name="Shape 13"/>
          <p:cNvSpPr/>
          <p:nvPr/>
        </p:nvSpPr>
        <p:spPr>
          <a:xfrm>
            <a:off x="1463040" y="4160520"/>
            <a:ext cx="9326880" cy="731520"/>
          </a:xfrm>
          <a:prstGeom prst="roundRect">
            <a:avLst>
              <a:gd name="adj" fmla="val 7500"/>
            </a:avLst>
          </a:prstGeom>
          <a:solidFill>
            <a:srgbClr val="11192D"/>
          </a:solidFill>
          <a:ln w="12700">
            <a:solidFill>
              <a:srgbClr val="405378"/>
            </a:solidFill>
            <a:prstDash val="solid"/>
          </a:ln>
        </p:spPr>
        <p:txBody>
          <a:bodyPr/>
          <a:lstStyle/>
          <a:p>
            <a:endParaRPr/>
          </a:p>
        </p:txBody>
      </p:sp>
      <p:sp>
        <p:nvSpPr>
          <p:cNvPr id="16" name="Text 14"/>
          <p:cNvSpPr/>
          <p:nvPr/>
        </p:nvSpPr>
        <p:spPr>
          <a:xfrm>
            <a:off x="1828800" y="4407408"/>
            <a:ext cx="8595360" cy="23774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1300" b="1" dirty="0">
                <a:solidFill>
                  <a:srgbClr val="F4F7FB"/>
                </a:solidFill>
              </a:rPr>
              <a:t>Key difference: monolingual retrieval tests language mismatch; multilingual retrieval tests reasoning across mixed-language evidence.</a:t>
            </a:r>
            <a:endParaRPr lang="en-US" sz="1300" dirty="0"/>
          </a:p>
        </p:txBody>
      </p:sp>
      <p:sp>
        <p:nvSpPr>
          <p:cNvPr id="17" name="Text 15"/>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introduction and Figure 1.</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What XRAG contributes</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The paper fills a gap in existing RAG benchmarks.</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Text 5"/>
          <p:cNvSpPr/>
          <p:nvPr/>
        </p:nvSpPr>
        <p:spPr>
          <a:xfrm>
            <a:off x="777240" y="1325880"/>
            <a:ext cx="6400800" cy="4114800"/>
          </a:xfrm>
          <a:prstGeom prst="rect">
            <a:avLst/>
          </a:prstGeom>
          <a:solidFill>
            <a:srgbClr val="11192D"/>
          </a:solidFill>
          <a:ln>
            <a:solidFill>
              <a:srgbClr val="405378"/>
            </a:solidFill>
          </a:ln>
        </p:spPr>
        <p:txBody>
          <a:bodyPr wrap="square" lIns="889" tIns="889" rIns="889" bIns="889" rtlCol="0" anchor="t">
            <a:normAutofit/>
          </a:bodyPr>
          <a:lstStyle/>
          <a:p>
            <a:r>
              <a:rPr lang="en-US" sz="1600" dirty="0">
                <a:solidFill>
                  <a:srgbClr val="F4F7FB"/>
                </a:solidFill>
              </a:rPr>
              <a:t>A new benchmark for cross-lingual retrieval-augmented generation.</a:t>
            </a:r>
            <a:endParaRPr lang="en-US" sz="1600" dirty="0"/>
          </a:p>
          <a:p>
            <a:r>
              <a:rPr lang="en-US" sz="1600" dirty="0">
                <a:solidFill>
                  <a:srgbClr val="F4F7FB"/>
                </a:solidFill>
              </a:rPr>
              <a:t>Recent-news questions designed to require external evidence.</a:t>
            </a:r>
            <a:endParaRPr lang="en-US" sz="1600" dirty="0"/>
          </a:p>
          <a:p>
            <a:r>
              <a:rPr lang="en-US" sz="1600" dirty="0">
                <a:solidFill>
                  <a:srgbClr val="F4F7FB"/>
                </a:solidFill>
              </a:rPr>
              <a:t>Four non-English languages: Arabic, Chinese, German, and Spanish.</a:t>
            </a:r>
            <a:endParaRPr lang="en-US" sz="1600" dirty="0"/>
          </a:p>
          <a:p>
            <a:r>
              <a:rPr lang="en-US" sz="1600" dirty="0">
                <a:solidFill>
                  <a:srgbClr val="F4F7FB"/>
                </a:solidFill>
              </a:rPr>
              <a:t>Two task settings: monolingual retrieval and multilingual retrieval.</a:t>
            </a:r>
            <a:endParaRPr lang="en-US" sz="1600" dirty="0"/>
          </a:p>
          <a:p>
            <a:r>
              <a:rPr lang="en-US" sz="1600" dirty="0">
                <a:solidFill>
                  <a:srgbClr val="F4F7FB"/>
                </a:solidFill>
              </a:rPr>
              <a:t>Each question includes support documents and distractor documents.</a:t>
            </a:r>
            <a:endParaRPr lang="en-US" sz="1600" dirty="0"/>
          </a:p>
          <a:p>
            <a:r>
              <a:rPr lang="en-US" sz="1600" dirty="0">
                <a:solidFill>
                  <a:srgbClr val="F4F7FB"/>
                </a:solidFill>
              </a:rPr>
              <a:t>Document relevance annotations make controlled experiments possible.</a:t>
            </a:r>
            <a:endParaRPr lang="en-US" sz="1600" dirty="0"/>
          </a:p>
        </p:txBody>
      </p:sp>
      <p:sp>
        <p:nvSpPr>
          <p:cNvPr id="8" name="Shape 6"/>
          <p:cNvSpPr/>
          <p:nvPr/>
        </p:nvSpPr>
        <p:spPr>
          <a:xfrm>
            <a:off x="7635240" y="1554480"/>
            <a:ext cx="3474720" cy="2468880"/>
          </a:xfrm>
          <a:prstGeom prst="roundRect">
            <a:avLst>
              <a:gd name="adj" fmla="val 2593"/>
            </a:avLst>
          </a:prstGeom>
          <a:solidFill>
            <a:srgbClr val="11192D"/>
          </a:solidFill>
          <a:ln w="12700">
            <a:solidFill>
              <a:srgbClr val="405378"/>
            </a:solidFill>
            <a:prstDash val="solid"/>
          </a:ln>
        </p:spPr>
        <p:txBody>
          <a:bodyPr/>
          <a:lstStyle/>
          <a:p>
            <a:endParaRPr/>
          </a:p>
        </p:txBody>
      </p:sp>
      <p:sp>
        <p:nvSpPr>
          <p:cNvPr id="9" name="Shape 7"/>
          <p:cNvSpPr/>
          <p:nvPr/>
        </p:nvSpPr>
        <p:spPr>
          <a:xfrm>
            <a:off x="7635240" y="1554480"/>
            <a:ext cx="100584" cy="2468880"/>
          </a:xfrm>
          <a:prstGeom prst="rect">
            <a:avLst/>
          </a:prstGeom>
          <a:solidFill>
            <a:srgbClr val="22D3EE"/>
          </a:solidFill>
          <a:ln w="12700">
            <a:solidFill>
              <a:srgbClr val="22D3EE"/>
            </a:solidFill>
            <a:prstDash val="solid"/>
          </a:ln>
        </p:spPr>
        <p:txBody>
          <a:bodyPr/>
          <a:lstStyle/>
          <a:p>
            <a:endParaRPr/>
          </a:p>
        </p:txBody>
      </p:sp>
      <p:sp>
        <p:nvSpPr>
          <p:cNvPr id="10" name="Text 8"/>
          <p:cNvSpPr/>
          <p:nvPr/>
        </p:nvSpPr>
        <p:spPr>
          <a:xfrm>
            <a:off x="7863840" y="1719072"/>
            <a:ext cx="31546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Main value</a:t>
            </a:r>
            <a:endParaRPr lang="en-US" sz="1220" dirty="0"/>
          </a:p>
        </p:txBody>
      </p:sp>
      <p:sp>
        <p:nvSpPr>
          <p:cNvPr id="11" name="Text 9"/>
          <p:cNvSpPr/>
          <p:nvPr/>
        </p:nvSpPr>
        <p:spPr>
          <a:xfrm>
            <a:off x="7863840" y="2084832"/>
            <a:ext cx="3090672" cy="181051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XRAG lets researchers test whether an LLM can use the right evidence, ignore distracting evidence, and answer in the user’s language.</a:t>
            </a:r>
            <a:endParaRPr lang="en-US" sz="1020" dirty="0"/>
          </a:p>
        </p:txBody>
      </p:sp>
      <p:sp>
        <p:nvSpPr>
          <p:cNvPr id="12" name="Text 10"/>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Paper contributions listed in the introduction.</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Anatomy of one XRAG instance</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Every example has a controlled evidence setup.</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Shape 5"/>
          <p:cNvSpPr/>
          <p:nvPr/>
        </p:nvSpPr>
        <p:spPr>
          <a:xfrm>
            <a:off x="685800" y="1325880"/>
            <a:ext cx="201168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8" name="Shape 6"/>
          <p:cNvSpPr/>
          <p:nvPr/>
        </p:nvSpPr>
        <p:spPr>
          <a:xfrm>
            <a:off x="685800" y="1325880"/>
            <a:ext cx="100584" cy="1143000"/>
          </a:xfrm>
          <a:prstGeom prst="rect">
            <a:avLst/>
          </a:prstGeom>
          <a:solidFill>
            <a:srgbClr val="22D3EE"/>
          </a:solidFill>
          <a:ln w="12700">
            <a:solidFill>
              <a:srgbClr val="22D3EE"/>
            </a:solidFill>
            <a:prstDash val="solid"/>
          </a:ln>
        </p:spPr>
        <p:txBody>
          <a:bodyPr/>
          <a:lstStyle/>
          <a:p>
            <a:endParaRPr/>
          </a:p>
        </p:txBody>
      </p:sp>
      <p:sp>
        <p:nvSpPr>
          <p:cNvPr id="9" name="Text 7"/>
          <p:cNvSpPr/>
          <p:nvPr/>
        </p:nvSpPr>
        <p:spPr>
          <a:xfrm>
            <a:off x="914400" y="1490472"/>
            <a:ext cx="1691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Question</a:t>
            </a:r>
            <a:endParaRPr lang="en-US" sz="1220" dirty="0"/>
          </a:p>
        </p:txBody>
      </p:sp>
      <p:sp>
        <p:nvSpPr>
          <p:cNvPr id="10" name="Text 8"/>
          <p:cNvSpPr/>
          <p:nvPr/>
        </p:nvSpPr>
        <p:spPr>
          <a:xfrm>
            <a:off x="914400" y="1856232"/>
            <a:ext cx="162763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user question in the target language.</a:t>
            </a:r>
            <a:endParaRPr lang="en-US" sz="1020" dirty="0"/>
          </a:p>
        </p:txBody>
      </p:sp>
      <p:sp>
        <p:nvSpPr>
          <p:cNvPr id="11" name="Shape 9"/>
          <p:cNvSpPr/>
          <p:nvPr/>
        </p:nvSpPr>
        <p:spPr>
          <a:xfrm>
            <a:off x="2880360" y="1325880"/>
            <a:ext cx="201168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12" name="Shape 10"/>
          <p:cNvSpPr/>
          <p:nvPr/>
        </p:nvSpPr>
        <p:spPr>
          <a:xfrm>
            <a:off x="2880360" y="1325880"/>
            <a:ext cx="100584" cy="1143000"/>
          </a:xfrm>
          <a:prstGeom prst="rect">
            <a:avLst/>
          </a:prstGeom>
          <a:solidFill>
            <a:srgbClr val="22D3EE"/>
          </a:solidFill>
          <a:ln w="12700">
            <a:solidFill>
              <a:srgbClr val="22D3EE"/>
            </a:solidFill>
            <a:prstDash val="solid"/>
          </a:ln>
        </p:spPr>
        <p:txBody>
          <a:bodyPr/>
          <a:lstStyle/>
          <a:p>
            <a:endParaRPr/>
          </a:p>
        </p:txBody>
      </p:sp>
      <p:sp>
        <p:nvSpPr>
          <p:cNvPr id="13" name="Text 11"/>
          <p:cNvSpPr/>
          <p:nvPr/>
        </p:nvSpPr>
        <p:spPr>
          <a:xfrm>
            <a:off x="3108960" y="1490472"/>
            <a:ext cx="1691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Gold answer</a:t>
            </a:r>
            <a:endParaRPr lang="en-US" sz="1220" dirty="0"/>
          </a:p>
        </p:txBody>
      </p:sp>
      <p:sp>
        <p:nvSpPr>
          <p:cNvPr id="14" name="Text 12"/>
          <p:cNvSpPr/>
          <p:nvPr/>
        </p:nvSpPr>
        <p:spPr>
          <a:xfrm>
            <a:off x="3108960" y="1856232"/>
            <a:ext cx="162763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reference answer used for evaluation.</a:t>
            </a:r>
            <a:endParaRPr lang="en-US" sz="1020" dirty="0"/>
          </a:p>
        </p:txBody>
      </p:sp>
      <p:sp>
        <p:nvSpPr>
          <p:cNvPr id="15" name="Shape 13"/>
          <p:cNvSpPr/>
          <p:nvPr/>
        </p:nvSpPr>
        <p:spPr>
          <a:xfrm>
            <a:off x="5074920" y="1325880"/>
            <a:ext cx="201168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16" name="Shape 14"/>
          <p:cNvSpPr/>
          <p:nvPr/>
        </p:nvSpPr>
        <p:spPr>
          <a:xfrm>
            <a:off x="5074920" y="1325880"/>
            <a:ext cx="100584" cy="1143000"/>
          </a:xfrm>
          <a:prstGeom prst="rect">
            <a:avLst/>
          </a:prstGeom>
          <a:solidFill>
            <a:srgbClr val="22D3EE"/>
          </a:solidFill>
          <a:ln w="12700">
            <a:solidFill>
              <a:srgbClr val="22D3EE"/>
            </a:solidFill>
            <a:prstDash val="solid"/>
          </a:ln>
        </p:spPr>
        <p:txBody>
          <a:bodyPr/>
          <a:lstStyle/>
          <a:p>
            <a:endParaRPr/>
          </a:p>
        </p:txBody>
      </p:sp>
      <p:sp>
        <p:nvSpPr>
          <p:cNvPr id="17" name="Text 15"/>
          <p:cNvSpPr/>
          <p:nvPr/>
        </p:nvSpPr>
        <p:spPr>
          <a:xfrm>
            <a:off x="5303520" y="1490472"/>
            <a:ext cx="1691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2 supports</a:t>
            </a:r>
            <a:endParaRPr lang="en-US" sz="1220" dirty="0"/>
          </a:p>
        </p:txBody>
      </p:sp>
      <p:sp>
        <p:nvSpPr>
          <p:cNvPr id="18" name="Text 16"/>
          <p:cNvSpPr/>
          <p:nvPr/>
        </p:nvSpPr>
        <p:spPr>
          <a:xfrm>
            <a:off x="5303520" y="1856232"/>
            <a:ext cx="162763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Two articles that together answer the question.</a:t>
            </a:r>
            <a:endParaRPr lang="en-US" sz="1020" dirty="0"/>
          </a:p>
        </p:txBody>
      </p:sp>
      <p:sp>
        <p:nvSpPr>
          <p:cNvPr id="19" name="Shape 17"/>
          <p:cNvSpPr/>
          <p:nvPr/>
        </p:nvSpPr>
        <p:spPr>
          <a:xfrm>
            <a:off x="7269480" y="1325880"/>
            <a:ext cx="201168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20" name="Shape 18"/>
          <p:cNvSpPr/>
          <p:nvPr/>
        </p:nvSpPr>
        <p:spPr>
          <a:xfrm>
            <a:off x="7269480" y="1325880"/>
            <a:ext cx="100584" cy="1143000"/>
          </a:xfrm>
          <a:prstGeom prst="rect">
            <a:avLst/>
          </a:prstGeom>
          <a:solidFill>
            <a:srgbClr val="22D3EE"/>
          </a:solidFill>
          <a:ln w="12700">
            <a:solidFill>
              <a:srgbClr val="22D3EE"/>
            </a:solidFill>
            <a:prstDash val="solid"/>
          </a:ln>
        </p:spPr>
        <p:txBody>
          <a:bodyPr/>
          <a:lstStyle/>
          <a:p>
            <a:endParaRPr/>
          </a:p>
        </p:txBody>
      </p:sp>
      <p:sp>
        <p:nvSpPr>
          <p:cNvPr id="21" name="Text 19"/>
          <p:cNvSpPr/>
          <p:nvPr/>
        </p:nvSpPr>
        <p:spPr>
          <a:xfrm>
            <a:off x="7498080" y="1490472"/>
            <a:ext cx="1691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6 distractors</a:t>
            </a:r>
            <a:endParaRPr lang="en-US" sz="1220" dirty="0"/>
          </a:p>
        </p:txBody>
      </p:sp>
      <p:sp>
        <p:nvSpPr>
          <p:cNvPr id="22" name="Text 20"/>
          <p:cNvSpPr/>
          <p:nvPr/>
        </p:nvSpPr>
        <p:spPr>
          <a:xfrm>
            <a:off x="7498080" y="1856232"/>
            <a:ext cx="162763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Related articles that do not answer the question.</a:t>
            </a:r>
            <a:endParaRPr lang="en-US" sz="1020" dirty="0"/>
          </a:p>
        </p:txBody>
      </p:sp>
      <p:sp>
        <p:nvSpPr>
          <p:cNvPr id="23" name="Shape 21"/>
          <p:cNvSpPr/>
          <p:nvPr/>
        </p:nvSpPr>
        <p:spPr>
          <a:xfrm>
            <a:off x="9464040" y="1325880"/>
            <a:ext cx="201168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24" name="Shape 22"/>
          <p:cNvSpPr/>
          <p:nvPr/>
        </p:nvSpPr>
        <p:spPr>
          <a:xfrm>
            <a:off x="9464040" y="1325880"/>
            <a:ext cx="100584" cy="1143000"/>
          </a:xfrm>
          <a:prstGeom prst="rect">
            <a:avLst/>
          </a:prstGeom>
          <a:solidFill>
            <a:srgbClr val="22D3EE"/>
          </a:solidFill>
          <a:ln w="12700">
            <a:solidFill>
              <a:srgbClr val="22D3EE"/>
            </a:solidFill>
            <a:prstDash val="solid"/>
          </a:ln>
        </p:spPr>
        <p:txBody>
          <a:bodyPr/>
          <a:lstStyle/>
          <a:p>
            <a:endParaRPr/>
          </a:p>
        </p:txBody>
      </p:sp>
      <p:sp>
        <p:nvSpPr>
          <p:cNvPr id="25" name="Text 23"/>
          <p:cNvSpPr/>
          <p:nvPr/>
        </p:nvSpPr>
        <p:spPr>
          <a:xfrm>
            <a:off x="9692640" y="1490472"/>
            <a:ext cx="1691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Labels</a:t>
            </a:r>
            <a:endParaRPr lang="en-US" sz="1220" dirty="0"/>
          </a:p>
        </p:txBody>
      </p:sp>
      <p:sp>
        <p:nvSpPr>
          <p:cNvPr id="26" name="Text 24"/>
          <p:cNvSpPr/>
          <p:nvPr/>
        </p:nvSpPr>
        <p:spPr>
          <a:xfrm>
            <a:off x="9692640" y="1856232"/>
            <a:ext cx="162763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Which documents are relevant.</a:t>
            </a:r>
            <a:endParaRPr lang="en-US" sz="1020" dirty="0"/>
          </a:p>
        </p:txBody>
      </p:sp>
      <p:sp>
        <p:nvSpPr>
          <p:cNvPr id="27" name="Shape 25"/>
          <p:cNvSpPr/>
          <p:nvPr/>
        </p:nvSpPr>
        <p:spPr>
          <a:xfrm>
            <a:off x="1234440" y="3200400"/>
            <a:ext cx="2295144"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28" name="Text 26"/>
          <p:cNvSpPr/>
          <p:nvPr/>
        </p:nvSpPr>
        <p:spPr>
          <a:xfrm>
            <a:off x="1280160" y="3346704"/>
            <a:ext cx="2203704"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Support article A</a:t>
            </a:r>
            <a:endParaRPr lang="en-US" sz="950" dirty="0"/>
          </a:p>
        </p:txBody>
      </p:sp>
      <p:sp>
        <p:nvSpPr>
          <p:cNvPr id="29" name="Shape 27"/>
          <p:cNvSpPr/>
          <p:nvPr/>
        </p:nvSpPr>
        <p:spPr>
          <a:xfrm rot="5400000">
            <a:off x="3506724" y="34564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30" name="Shape 28"/>
          <p:cNvSpPr/>
          <p:nvPr/>
        </p:nvSpPr>
        <p:spPr>
          <a:xfrm>
            <a:off x="3639312" y="3200400"/>
            <a:ext cx="2295144"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31" name="Text 29"/>
          <p:cNvSpPr/>
          <p:nvPr/>
        </p:nvSpPr>
        <p:spPr>
          <a:xfrm>
            <a:off x="3685032" y="3346704"/>
            <a:ext cx="2203704"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Partial evidence</a:t>
            </a:r>
            <a:endParaRPr lang="en-US" sz="950" dirty="0"/>
          </a:p>
        </p:txBody>
      </p:sp>
      <p:sp>
        <p:nvSpPr>
          <p:cNvPr id="32" name="Shape 30"/>
          <p:cNvSpPr/>
          <p:nvPr/>
        </p:nvSpPr>
        <p:spPr>
          <a:xfrm rot="5400000">
            <a:off x="5911596" y="34564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33" name="Shape 31"/>
          <p:cNvSpPr/>
          <p:nvPr/>
        </p:nvSpPr>
        <p:spPr>
          <a:xfrm>
            <a:off x="6044184" y="3200400"/>
            <a:ext cx="2295144"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34" name="Text 32"/>
          <p:cNvSpPr/>
          <p:nvPr/>
        </p:nvSpPr>
        <p:spPr>
          <a:xfrm>
            <a:off x="6089904" y="3346704"/>
            <a:ext cx="2203704"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Support article B</a:t>
            </a:r>
            <a:endParaRPr lang="en-US" sz="950" dirty="0"/>
          </a:p>
        </p:txBody>
      </p:sp>
      <p:sp>
        <p:nvSpPr>
          <p:cNvPr id="35" name="Shape 33"/>
          <p:cNvSpPr/>
          <p:nvPr/>
        </p:nvSpPr>
        <p:spPr>
          <a:xfrm rot="5400000">
            <a:off x="8316468" y="34564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36" name="Shape 34"/>
          <p:cNvSpPr/>
          <p:nvPr/>
        </p:nvSpPr>
        <p:spPr>
          <a:xfrm>
            <a:off x="8449056" y="3200400"/>
            <a:ext cx="2295144"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37" name="Text 35"/>
          <p:cNvSpPr/>
          <p:nvPr/>
        </p:nvSpPr>
        <p:spPr>
          <a:xfrm>
            <a:off x="8494776" y="3346704"/>
            <a:ext cx="2203704"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Complete answer</a:t>
            </a:r>
            <a:endParaRPr lang="en-US" sz="950" dirty="0"/>
          </a:p>
        </p:txBody>
      </p:sp>
      <p:sp>
        <p:nvSpPr>
          <p:cNvPr id="38" name="Shape 36"/>
          <p:cNvSpPr/>
          <p:nvPr/>
        </p:nvSpPr>
        <p:spPr>
          <a:xfrm>
            <a:off x="1097280" y="4480560"/>
            <a:ext cx="9966960" cy="731520"/>
          </a:xfrm>
          <a:prstGeom prst="roundRect">
            <a:avLst>
              <a:gd name="adj" fmla="val 7500"/>
            </a:avLst>
          </a:prstGeom>
          <a:solidFill>
            <a:srgbClr val="11192D"/>
          </a:solidFill>
          <a:ln w="12700">
            <a:solidFill>
              <a:srgbClr val="405378"/>
            </a:solidFill>
            <a:prstDash val="solid"/>
          </a:ln>
        </p:spPr>
        <p:txBody>
          <a:bodyPr/>
          <a:lstStyle/>
          <a:p>
            <a:endParaRPr/>
          </a:p>
        </p:txBody>
      </p:sp>
      <p:sp>
        <p:nvSpPr>
          <p:cNvPr id="39" name="Text 37"/>
          <p:cNvSpPr/>
          <p:nvPr/>
        </p:nvSpPr>
        <p:spPr>
          <a:xfrm>
            <a:off x="1417320" y="4727448"/>
            <a:ext cx="9326880" cy="23774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1400" b="1" dirty="0">
                <a:solidFill>
                  <a:srgbClr val="F4F7FB"/>
                </a:solidFill>
              </a:rPr>
              <a:t>The hard part: the model must combine the two support articles while ignoring the six distractors.</a:t>
            </a:r>
            <a:endParaRPr lang="en-US" sz="1400" dirty="0"/>
          </a:p>
        </p:txBody>
      </p:sp>
      <p:sp>
        <p:nvSpPr>
          <p:cNvPr id="40" name="Text 38"/>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dataset definition: question, gold answer, D+ support articles, D− distractors.</a:t>
            </a:r>
            <a:endParaRPr lang="en-US" sz="640" dirty="0"/>
          </a:p>
        </p:txBody>
      </p:sp>
      <p:sp>
        <p:nvSpPr>
          <p:cNvPr id="41"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Why recent news matters</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XRAG tries to reduce memorized-answer shortcuts.</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Shape 5"/>
          <p:cNvSpPr/>
          <p:nvPr/>
        </p:nvSpPr>
        <p:spPr>
          <a:xfrm>
            <a:off x="822960" y="1325880"/>
            <a:ext cx="3657600" cy="1463040"/>
          </a:xfrm>
          <a:prstGeom prst="roundRect">
            <a:avLst>
              <a:gd name="adj" fmla="val 4375"/>
            </a:avLst>
          </a:prstGeom>
          <a:solidFill>
            <a:srgbClr val="11192D"/>
          </a:solidFill>
          <a:ln w="12700">
            <a:solidFill>
              <a:srgbClr val="405378"/>
            </a:solidFill>
            <a:prstDash val="solid"/>
          </a:ln>
        </p:spPr>
        <p:txBody>
          <a:bodyPr/>
          <a:lstStyle/>
          <a:p>
            <a:endParaRPr/>
          </a:p>
        </p:txBody>
      </p:sp>
      <p:sp>
        <p:nvSpPr>
          <p:cNvPr id="8" name="Shape 6"/>
          <p:cNvSpPr/>
          <p:nvPr/>
        </p:nvSpPr>
        <p:spPr>
          <a:xfrm>
            <a:off x="822960" y="1325880"/>
            <a:ext cx="100584" cy="1463040"/>
          </a:xfrm>
          <a:prstGeom prst="rect">
            <a:avLst/>
          </a:prstGeom>
          <a:solidFill>
            <a:srgbClr val="22D3EE"/>
          </a:solidFill>
          <a:ln w="12700">
            <a:solidFill>
              <a:srgbClr val="22D3EE"/>
            </a:solidFill>
            <a:prstDash val="solid"/>
          </a:ln>
        </p:spPr>
        <p:txBody>
          <a:bodyPr/>
          <a:lstStyle/>
          <a:p>
            <a:endParaRPr/>
          </a:p>
        </p:txBody>
      </p:sp>
      <p:sp>
        <p:nvSpPr>
          <p:cNvPr id="9" name="Text 7"/>
          <p:cNvSpPr/>
          <p:nvPr/>
        </p:nvSpPr>
        <p:spPr>
          <a:xfrm>
            <a:off x="1051560" y="1490472"/>
            <a:ext cx="333756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Problem with older QA datasets</a:t>
            </a:r>
            <a:endParaRPr lang="en-US" sz="1220" dirty="0"/>
          </a:p>
        </p:txBody>
      </p:sp>
      <p:sp>
        <p:nvSpPr>
          <p:cNvPr id="10" name="Text 8"/>
          <p:cNvSpPr/>
          <p:nvPr/>
        </p:nvSpPr>
        <p:spPr>
          <a:xfrm>
            <a:off x="1051560" y="1856232"/>
            <a:ext cx="3273552" cy="80467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If the model already memorized the answer during training, retrieval is not really being tested.</a:t>
            </a:r>
            <a:endParaRPr lang="en-US" sz="1020" dirty="0"/>
          </a:p>
        </p:txBody>
      </p:sp>
      <p:sp>
        <p:nvSpPr>
          <p:cNvPr id="11" name="Shape 9"/>
          <p:cNvSpPr/>
          <p:nvPr/>
        </p:nvSpPr>
        <p:spPr>
          <a:xfrm>
            <a:off x="4480560" y="1325880"/>
            <a:ext cx="3657600" cy="1463040"/>
          </a:xfrm>
          <a:prstGeom prst="roundRect">
            <a:avLst>
              <a:gd name="adj" fmla="val 4375"/>
            </a:avLst>
          </a:prstGeom>
          <a:solidFill>
            <a:srgbClr val="11192D"/>
          </a:solidFill>
          <a:ln w="12700">
            <a:solidFill>
              <a:srgbClr val="405378"/>
            </a:solidFill>
            <a:prstDash val="solid"/>
          </a:ln>
        </p:spPr>
        <p:txBody>
          <a:bodyPr/>
          <a:lstStyle/>
          <a:p>
            <a:endParaRPr/>
          </a:p>
        </p:txBody>
      </p:sp>
      <p:sp>
        <p:nvSpPr>
          <p:cNvPr id="12" name="Shape 10"/>
          <p:cNvSpPr/>
          <p:nvPr/>
        </p:nvSpPr>
        <p:spPr>
          <a:xfrm>
            <a:off x="4480560" y="1325880"/>
            <a:ext cx="100584" cy="1463040"/>
          </a:xfrm>
          <a:prstGeom prst="rect">
            <a:avLst/>
          </a:prstGeom>
          <a:solidFill>
            <a:srgbClr val="22D3EE"/>
          </a:solidFill>
          <a:ln w="12700">
            <a:solidFill>
              <a:srgbClr val="22D3EE"/>
            </a:solidFill>
            <a:prstDash val="solid"/>
          </a:ln>
        </p:spPr>
        <p:txBody>
          <a:bodyPr/>
          <a:lstStyle/>
          <a:p>
            <a:endParaRPr/>
          </a:p>
        </p:txBody>
      </p:sp>
      <p:sp>
        <p:nvSpPr>
          <p:cNvPr id="13" name="Text 11"/>
          <p:cNvSpPr/>
          <p:nvPr/>
        </p:nvSpPr>
        <p:spPr>
          <a:xfrm>
            <a:off x="4709160" y="1490472"/>
            <a:ext cx="333756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XRAG solution</a:t>
            </a:r>
            <a:endParaRPr lang="en-US" sz="1220" dirty="0"/>
          </a:p>
        </p:txBody>
      </p:sp>
      <p:sp>
        <p:nvSpPr>
          <p:cNvPr id="14" name="Text 12"/>
          <p:cNvSpPr/>
          <p:nvPr/>
        </p:nvSpPr>
        <p:spPr>
          <a:xfrm>
            <a:off x="4709160" y="1856232"/>
            <a:ext cx="3273552" cy="80467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Build questions from recent news articles so answers require external documents.</a:t>
            </a:r>
            <a:endParaRPr lang="en-US" sz="1020" dirty="0"/>
          </a:p>
        </p:txBody>
      </p:sp>
      <p:sp>
        <p:nvSpPr>
          <p:cNvPr id="15" name="Shape 13"/>
          <p:cNvSpPr/>
          <p:nvPr/>
        </p:nvSpPr>
        <p:spPr>
          <a:xfrm>
            <a:off x="8138160" y="1325880"/>
            <a:ext cx="3200400" cy="1463040"/>
          </a:xfrm>
          <a:prstGeom prst="roundRect">
            <a:avLst>
              <a:gd name="adj" fmla="val 4375"/>
            </a:avLst>
          </a:prstGeom>
          <a:solidFill>
            <a:srgbClr val="11192D"/>
          </a:solidFill>
          <a:ln w="12700">
            <a:solidFill>
              <a:srgbClr val="405378"/>
            </a:solidFill>
            <a:prstDash val="solid"/>
          </a:ln>
        </p:spPr>
        <p:txBody>
          <a:bodyPr/>
          <a:lstStyle/>
          <a:p>
            <a:endParaRPr/>
          </a:p>
        </p:txBody>
      </p:sp>
      <p:sp>
        <p:nvSpPr>
          <p:cNvPr id="16" name="Shape 14"/>
          <p:cNvSpPr/>
          <p:nvPr/>
        </p:nvSpPr>
        <p:spPr>
          <a:xfrm>
            <a:off x="8138160" y="1325880"/>
            <a:ext cx="100584" cy="1463040"/>
          </a:xfrm>
          <a:prstGeom prst="rect">
            <a:avLst/>
          </a:prstGeom>
          <a:solidFill>
            <a:srgbClr val="22D3EE"/>
          </a:solidFill>
          <a:ln w="12700">
            <a:solidFill>
              <a:srgbClr val="22D3EE"/>
            </a:solidFill>
            <a:prstDash val="solid"/>
          </a:ln>
        </p:spPr>
        <p:txBody>
          <a:bodyPr/>
          <a:lstStyle/>
          <a:p>
            <a:endParaRPr/>
          </a:p>
        </p:txBody>
      </p:sp>
      <p:sp>
        <p:nvSpPr>
          <p:cNvPr id="17" name="Text 15"/>
          <p:cNvSpPr/>
          <p:nvPr/>
        </p:nvSpPr>
        <p:spPr>
          <a:xfrm>
            <a:off x="8366760" y="1490472"/>
            <a:ext cx="288036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Evidence from paper</a:t>
            </a:r>
            <a:endParaRPr lang="en-US" sz="1220" dirty="0"/>
          </a:p>
        </p:txBody>
      </p:sp>
      <p:sp>
        <p:nvSpPr>
          <p:cNvPr id="18" name="Text 16"/>
          <p:cNvSpPr/>
          <p:nvPr/>
        </p:nvSpPr>
        <p:spPr>
          <a:xfrm>
            <a:off x="8366760" y="1856232"/>
            <a:ext cx="2816352" cy="80467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All tested LLMs were below 16% accuracy with no retrieval.</a:t>
            </a:r>
            <a:endParaRPr lang="en-US" sz="1020" dirty="0"/>
          </a:p>
        </p:txBody>
      </p:sp>
      <p:sp>
        <p:nvSpPr>
          <p:cNvPr id="19" name="Text 17"/>
          <p:cNvSpPr/>
          <p:nvPr/>
        </p:nvSpPr>
        <p:spPr>
          <a:xfrm>
            <a:off x="5303520" y="3657600"/>
            <a:ext cx="1645920" cy="50292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2800" b="1" dirty="0">
                <a:solidFill>
                  <a:srgbClr val="F4F7FB"/>
                </a:solidFill>
              </a:rPr>
              <a:t>&lt;16%</a:t>
            </a:r>
            <a:endParaRPr lang="en-US" sz="2800" dirty="0"/>
          </a:p>
        </p:txBody>
      </p:sp>
      <p:sp>
        <p:nvSpPr>
          <p:cNvPr id="20" name="Text 18"/>
          <p:cNvSpPr/>
          <p:nvPr/>
        </p:nvSpPr>
        <p:spPr>
          <a:xfrm>
            <a:off x="5212080" y="4224528"/>
            <a:ext cx="1828800" cy="32004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850" b="1" dirty="0">
                <a:solidFill>
                  <a:srgbClr val="22D3EE"/>
                </a:solidFill>
              </a:rPr>
              <a:t>no-retrieval accuracy for all tested models</a:t>
            </a:r>
            <a:endParaRPr lang="en-US" sz="850" dirty="0"/>
          </a:p>
        </p:txBody>
      </p:sp>
      <p:sp>
        <p:nvSpPr>
          <p:cNvPr id="21" name="Text 19"/>
          <p:cNvSpPr/>
          <p:nvPr/>
        </p:nvSpPr>
        <p:spPr>
          <a:xfrm>
            <a:off x="2057400" y="4800600"/>
            <a:ext cx="8138160" cy="320040"/>
          </a:xfrm>
          <a:prstGeom prst="rect">
            <a:avLst/>
          </a:prstGeom>
          <a:solidFill>
            <a:srgbClr val="11192D"/>
          </a:solidFill>
          <a:ln>
            <a:solidFill>
              <a:srgbClr val="405378"/>
            </a:solidFill>
          </a:ln>
        </p:spPr>
        <p:txBody>
          <a:bodyPr wrap="square" rtlCol="0" anchor="ctr"/>
          <a:lstStyle/>
          <a:p>
            <a:pPr marL="0" indent="0" algn="ctr">
              <a:buNone/>
            </a:pPr>
            <a:r>
              <a:rPr lang="en-US" sz="1350" b="1" dirty="0">
                <a:solidFill>
                  <a:srgbClr val="F4F7FB"/>
                </a:solidFill>
              </a:rPr>
              <a:t>This supports the paper’s claim that XRAG questions usually require retrieval instead of parametric memory.</a:t>
            </a:r>
            <a:endParaRPr lang="en-US" sz="1350" dirty="0"/>
          </a:p>
        </p:txBody>
      </p:sp>
      <p:sp>
        <p:nvSpPr>
          <p:cNvPr id="22" name="Text 20"/>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Table 3: no-retrieval QA accuracy for five LLMs.</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Dataset construction pipeline</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XRAG uses LLM generation, human checks, and translation.</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Shape 5"/>
          <p:cNvSpPr/>
          <p:nvPr/>
        </p:nvSpPr>
        <p:spPr>
          <a:xfrm>
            <a:off x="685800" y="1600200"/>
            <a:ext cx="207934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8" name="Text 6"/>
          <p:cNvSpPr/>
          <p:nvPr/>
        </p:nvSpPr>
        <p:spPr>
          <a:xfrm>
            <a:off x="731520" y="1746504"/>
            <a:ext cx="198790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Find related news articles</a:t>
            </a:r>
            <a:endParaRPr lang="en-US" sz="950" dirty="0"/>
          </a:p>
        </p:txBody>
      </p:sp>
      <p:sp>
        <p:nvSpPr>
          <p:cNvPr id="9" name="Shape 7"/>
          <p:cNvSpPr/>
          <p:nvPr/>
        </p:nvSpPr>
        <p:spPr>
          <a:xfrm rot="5400000">
            <a:off x="2742286" y="18562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0" name="Shape 8"/>
          <p:cNvSpPr/>
          <p:nvPr/>
        </p:nvSpPr>
        <p:spPr>
          <a:xfrm>
            <a:off x="2874874" y="1600200"/>
            <a:ext cx="207934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1" name="Text 9"/>
          <p:cNvSpPr/>
          <p:nvPr/>
        </p:nvSpPr>
        <p:spPr>
          <a:xfrm>
            <a:off x="2920594" y="1746504"/>
            <a:ext cx="198790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Generate English cross-document Q&amp;A</a:t>
            </a:r>
            <a:endParaRPr lang="en-US" sz="950" dirty="0"/>
          </a:p>
        </p:txBody>
      </p:sp>
      <p:sp>
        <p:nvSpPr>
          <p:cNvPr id="12" name="Shape 10"/>
          <p:cNvSpPr/>
          <p:nvPr/>
        </p:nvSpPr>
        <p:spPr>
          <a:xfrm rot="5400000">
            <a:off x="4931359" y="18562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3" name="Shape 11"/>
          <p:cNvSpPr/>
          <p:nvPr/>
        </p:nvSpPr>
        <p:spPr>
          <a:xfrm>
            <a:off x="5063947" y="1600200"/>
            <a:ext cx="207934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4" name="Text 12"/>
          <p:cNvSpPr/>
          <p:nvPr/>
        </p:nvSpPr>
        <p:spPr>
          <a:xfrm>
            <a:off x="5109667" y="1746504"/>
            <a:ext cx="198790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Quality check Q&amp;A</a:t>
            </a:r>
            <a:endParaRPr lang="en-US" sz="950" dirty="0"/>
          </a:p>
        </p:txBody>
      </p:sp>
      <p:sp>
        <p:nvSpPr>
          <p:cNvPr id="15" name="Shape 13"/>
          <p:cNvSpPr/>
          <p:nvPr/>
        </p:nvSpPr>
        <p:spPr>
          <a:xfrm rot="5400000">
            <a:off x="7120433" y="18562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6" name="Shape 14"/>
          <p:cNvSpPr/>
          <p:nvPr/>
        </p:nvSpPr>
        <p:spPr>
          <a:xfrm>
            <a:off x="7253021" y="1600200"/>
            <a:ext cx="207934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7" name="Text 15"/>
          <p:cNvSpPr/>
          <p:nvPr/>
        </p:nvSpPr>
        <p:spPr>
          <a:xfrm>
            <a:off x="7298741" y="1746504"/>
            <a:ext cx="198790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Translate to target languages</a:t>
            </a:r>
            <a:endParaRPr lang="en-US" sz="950" dirty="0"/>
          </a:p>
        </p:txBody>
      </p:sp>
      <p:sp>
        <p:nvSpPr>
          <p:cNvPr id="18" name="Shape 16"/>
          <p:cNvSpPr/>
          <p:nvPr/>
        </p:nvSpPr>
        <p:spPr>
          <a:xfrm rot="5400000">
            <a:off x="9309506" y="18562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9" name="Shape 17"/>
          <p:cNvSpPr/>
          <p:nvPr/>
        </p:nvSpPr>
        <p:spPr>
          <a:xfrm>
            <a:off x="9442094" y="1600200"/>
            <a:ext cx="2079346"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20" name="Text 18"/>
          <p:cNvSpPr/>
          <p:nvPr/>
        </p:nvSpPr>
        <p:spPr>
          <a:xfrm>
            <a:off x="9487814" y="1746504"/>
            <a:ext cx="1987906"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Select distractor articles</a:t>
            </a:r>
            <a:endParaRPr lang="en-US" sz="950" dirty="0"/>
          </a:p>
        </p:txBody>
      </p:sp>
      <p:sp>
        <p:nvSpPr>
          <p:cNvPr id="21" name="Shape 19"/>
          <p:cNvSpPr/>
          <p:nvPr/>
        </p:nvSpPr>
        <p:spPr>
          <a:xfrm>
            <a:off x="822960" y="2971800"/>
            <a:ext cx="320040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22" name="Shape 20"/>
          <p:cNvSpPr/>
          <p:nvPr/>
        </p:nvSpPr>
        <p:spPr>
          <a:xfrm>
            <a:off x="822960" y="2971800"/>
            <a:ext cx="100584" cy="1280160"/>
          </a:xfrm>
          <a:prstGeom prst="rect">
            <a:avLst/>
          </a:prstGeom>
          <a:solidFill>
            <a:srgbClr val="22D3EE"/>
          </a:solidFill>
          <a:ln w="12700">
            <a:solidFill>
              <a:srgbClr val="22D3EE"/>
            </a:solidFill>
            <a:prstDash val="solid"/>
          </a:ln>
        </p:spPr>
        <p:txBody>
          <a:bodyPr/>
          <a:lstStyle/>
          <a:p>
            <a:endParaRPr/>
          </a:p>
        </p:txBody>
      </p:sp>
      <p:sp>
        <p:nvSpPr>
          <p:cNvPr id="23" name="Text 21"/>
          <p:cNvSpPr/>
          <p:nvPr/>
        </p:nvSpPr>
        <p:spPr>
          <a:xfrm>
            <a:off x="1051560" y="3136392"/>
            <a:ext cx="288036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LLM-assisted creation</a:t>
            </a:r>
            <a:endParaRPr lang="en-US" sz="1220" dirty="0"/>
          </a:p>
        </p:txBody>
      </p:sp>
      <p:sp>
        <p:nvSpPr>
          <p:cNvPr id="24" name="Text 22"/>
          <p:cNvSpPr/>
          <p:nvPr/>
        </p:nvSpPr>
        <p:spPr>
          <a:xfrm>
            <a:off x="1051560" y="3502152"/>
            <a:ext cx="281635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authors use an LLM workflow to generate cross-document questions from article pairs.</a:t>
            </a:r>
            <a:endParaRPr lang="en-US" sz="1020" dirty="0"/>
          </a:p>
        </p:txBody>
      </p:sp>
      <p:sp>
        <p:nvSpPr>
          <p:cNvPr id="25" name="Shape 23"/>
          <p:cNvSpPr/>
          <p:nvPr/>
        </p:nvSpPr>
        <p:spPr>
          <a:xfrm>
            <a:off x="4480560" y="2971800"/>
            <a:ext cx="320040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26" name="Shape 24"/>
          <p:cNvSpPr/>
          <p:nvPr/>
        </p:nvSpPr>
        <p:spPr>
          <a:xfrm>
            <a:off x="4480560" y="2971800"/>
            <a:ext cx="100584" cy="1280160"/>
          </a:xfrm>
          <a:prstGeom prst="rect">
            <a:avLst/>
          </a:prstGeom>
          <a:solidFill>
            <a:srgbClr val="22D3EE"/>
          </a:solidFill>
          <a:ln w="12700">
            <a:solidFill>
              <a:srgbClr val="22D3EE"/>
            </a:solidFill>
            <a:prstDash val="solid"/>
          </a:ln>
        </p:spPr>
        <p:txBody>
          <a:bodyPr/>
          <a:lstStyle/>
          <a:p>
            <a:endParaRPr/>
          </a:p>
        </p:txBody>
      </p:sp>
      <p:sp>
        <p:nvSpPr>
          <p:cNvPr id="27" name="Text 25"/>
          <p:cNvSpPr/>
          <p:nvPr/>
        </p:nvSpPr>
        <p:spPr>
          <a:xfrm>
            <a:off x="4709160" y="3136392"/>
            <a:ext cx="288036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Human quality control</a:t>
            </a:r>
            <a:endParaRPr lang="en-US" sz="1220" dirty="0"/>
          </a:p>
        </p:txBody>
      </p:sp>
      <p:sp>
        <p:nvSpPr>
          <p:cNvPr id="28" name="Text 26"/>
          <p:cNvSpPr/>
          <p:nvPr/>
        </p:nvSpPr>
        <p:spPr>
          <a:xfrm>
            <a:off x="4709160" y="3502152"/>
            <a:ext cx="281635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Professional annotators verify that questions are natural, answerable, and factually correct.</a:t>
            </a:r>
            <a:endParaRPr lang="en-US" sz="1020" dirty="0"/>
          </a:p>
        </p:txBody>
      </p:sp>
      <p:sp>
        <p:nvSpPr>
          <p:cNvPr id="29" name="Shape 27"/>
          <p:cNvSpPr/>
          <p:nvPr/>
        </p:nvSpPr>
        <p:spPr>
          <a:xfrm>
            <a:off x="8138160" y="2971800"/>
            <a:ext cx="320040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30" name="Shape 28"/>
          <p:cNvSpPr/>
          <p:nvPr/>
        </p:nvSpPr>
        <p:spPr>
          <a:xfrm>
            <a:off x="8138160" y="2971800"/>
            <a:ext cx="100584" cy="1280160"/>
          </a:xfrm>
          <a:prstGeom prst="rect">
            <a:avLst/>
          </a:prstGeom>
          <a:solidFill>
            <a:srgbClr val="22D3EE"/>
          </a:solidFill>
          <a:ln w="12700">
            <a:solidFill>
              <a:srgbClr val="22D3EE"/>
            </a:solidFill>
            <a:prstDash val="solid"/>
          </a:ln>
        </p:spPr>
        <p:txBody>
          <a:bodyPr/>
          <a:lstStyle/>
          <a:p>
            <a:endParaRPr/>
          </a:p>
        </p:txBody>
      </p:sp>
      <p:sp>
        <p:nvSpPr>
          <p:cNvPr id="31" name="Text 29"/>
          <p:cNvSpPr/>
          <p:nvPr/>
        </p:nvSpPr>
        <p:spPr>
          <a:xfrm>
            <a:off x="8366760" y="3136392"/>
            <a:ext cx="288036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Professional translation</a:t>
            </a:r>
            <a:endParaRPr lang="en-US" sz="1220" dirty="0"/>
          </a:p>
        </p:txBody>
      </p:sp>
      <p:sp>
        <p:nvSpPr>
          <p:cNvPr id="32" name="Text 30"/>
          <p:cNvSpPr/>
          <p:nvPr/>
        </p:nvSpPr>
        <p:spPr>
          <a:xfrm>
            <a:off x="8366760" y="3502152"/>
            <a:ext cx="281635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Verified Q&amp;A pairs are translated into Arabic, Chinese, German, and Spanish.</a:t>
            </a:r>
            <a:endParaRPr lang="en-US" sz="1020" dirty="0"/>
          </a:p>
        </p:txBody>
      </p:sp>
      <p:sp>
        <p:nvSpPr>
          <p:cNvPr id="33" name="Text 31"/>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Section 4: dataset construction, quality control, and translation.</a:t>
            </a:r>
            <a:endParaRPr lang="en-US" sz="640" dirty="0"/>
          </a:p>
        </p:txBody>
      </p:sp>
      <p:sp>
        <p:nvSpPr>
          <p:cNvPr id="34"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Question types in XRAG</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The benchmark targets cross-document reasoning.</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2960" y="1280160"/>
          <a:ext cx="10469880" cy="2834640"/>
        </p:xfrm>
        <a:graphic>
          <a:graphicData uri="http://schemas.openxmlformats.org/drawingml/2006/table">
            <a:tbl>
              <a:tblPr/>
              <a:tblGrid>
                <a:gridCol w="18288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4F7FB"/>
                          </a:solidFill>
                        </a:rPr>
                        <a:t>Question type</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200" b="1" dirty="0">
                          <a:solidFill>
                            <a:srgbClr val="F4F7FB"/>
                          </a:solidFill>
                        </a:rPr>
                        <a:t>What it tests</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200" b="1" dirty="0">
                          <a:solidFill>
                            <a:srgbClr val="F4F7FB"/>
                          </a:solidFill>
                        </a:rPr>
                        <a:t>Simple explanation</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A6B5CD"/>
                          </a:solidFill>
                        </a:rPr>
                        <a:t>Aggregation</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Combining evidence into a total or count</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Count or add information</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A6B5CD"/>
                          </a:solidFill>
                        </a:rPr>
                        <a:t>Comparison</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Choosing which event/entity has more, first, bigger, etc.</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Compare two things</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A6B5CD"/>
                          </a:solidFill>
                        </a:rPr>
                        <a:t>Multi-hop</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Connecting evidence through multiple steps</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Reason across steps</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A6B5CD"/>
                          </a:solidFill>
                        </a:rPr>
                        <a:t>Set</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Listing entities that satisfy the question</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Name the members of a group</a:t>
                      </a:r>
                      <a:endParaRPr lang="en-US" sz="1200" dirty="0"/>
                    </a:p>
                  </a:txBody>
                  <a:tcPr marL="73152" marR="73152" marT="73152" marB="73152">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4"/>
                  </a:ext>
                </a:extLst>
              </a:tr>
            </a:tbl>
          </a:graphicData>
        </a:graphic>
      </p:graphicFrame>
      <p:sp>
        <p:nvSpPr>
          <p:cNvPr id="8" name="Text 5"/>
          <p:cNvSpPr/>
          <p:nvPr/>
        </p:nvSpPr>
        <p:spPr>
          <a:xfrm>
            <a:off x="1143000" y="4663440"/>
            <a:ext cx="9875520" cy="329184"/>
          </a:xfrm>
          <a:prstGeom prst="rect">
            <a:avLst/>
          </a:prstGeom>
          <a:solidFill>
            <a:srgbClr val="11192D"/>
          </a:solidFill>
          <a:ln>
            <a:solidFill>
              <a:srgbClr val="405378"/>
            </a:solidFill>
          </a:ln>
        </p:spPr>
        <p:txBody>
          <a:bodyPr wrap="square" rtlCol="0" anchor="ctr"/>
          <a:lstStyle/>
          <a:p>
            <a:pPr marL="0" indent="0" algn="ctr">
              <a:buNone/>
            </a:pPr>
            <a:r>
              <a:rPr lang="en-US" sz="1400" b="1" dirty="0">
                <a:solidFill>
                  <a:srgbClr val="F4F7FB"/>
                </a:solidFill>
              </a:rPr>
              <a:t>These question types are important because many answers require evidence from both support articles.</a:t>
            </a:r>
            <a:endParaRPr lang="en-US" sz="1400" dirty="0"/>
          </a:p>
        </p:txBody>
      </p:sp>
      <p:sp>
        <p:nvSpPr>
          <p:cNvPr id="9" name="Text 6"/>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focuses on aggregation, comparison, multi-hop, and set questions.</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Dataset statistics</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XRAG includes both shared monolingual examples and language-specific multilingual examples.</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Text 5"/>
          <p:cNvSpPr/>
          <p:nvPr/>
        </p:nvSpPr>
        <p:spPr>
          <a:xfrm>
            <a:off x="1051560" y="1417320"/>
            <a:ext cx="1645920" cy="50292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2800" b="1" dirty="0">
                <a:solidFill>
                  <a:srgbClr val="F4F7FB"/>
                </a:solidFill>
              </a:rPr>
              <a:t>1,000</a:t>
            </a:r>
            <a:endParaRPr lang="en-US" sz="2800" dirty="0"/>
          </a:p>
        </p:txBody>
      </p:sp>
      <p:sp>
        <p:nvSpPr>
          <p:cNvPr id="8" name="Text 6"/>
          <p:cNvSpPr/>
          <p:nvPr/>
        </p:nvSpPr>
        <p:spPr>
          <a:xfrm>
            <a:off x="960120" y="1984248"/>
            <a:ext cx="1828800" cy="32004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850" b="1" dirty="0">
                <a:solidFill>
                  <a:srgbClr val="22D3EE"/>
                </a:solidFill>
              </a:rPr>
              <a:t>monolingual retrieval examples translated into De/Es/Zh/Ar</a:t>
            </a:r>
            <a:endParaRPr lang="en-US" sz="850" dirty="0"/>
          </a:p>
        </p:txBody>
      </p:sp>
      <p:sp>
        <p:nvSpPr>
          <p:cNvPr id="9" name="Text 7"/>
          <p:cNvSpPr/>
          <p:nvPr/>
        </p:nvSpPr>
        <p:spPr>
          <a:xfrm>
            <a:off x="3886200" y="1417320"/>
            <a:ext cx="1645920" cy="50292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2800" b="1" dirty="0">
                <a:solidFill>
                  <a:srgbClr val="F4F7FB"/>
                </a:solidFill>
              </a:rPr>
              <a:t>300</a:t>
            </a:r>
            <a:endParaRPr lang="en-US" sz="2800" dirty="0"/>
          </a:p>
        </p:txBody>
      </p:sp>
      <p:sp>
        <p:nvSpPr>
          <p:cNvPr id="10" name="Text 8"/>
          <p:cNvSpPr/>
          <p:nvPr/>
        </p:nvSpPr>
        <p:spPr>
          <a:xfrm>
            <a:off x="3794760" y="1984248"/>
            <a:ext cx="1828800" cy="32004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850" b="1" dirty="0">
                <a:solidFill>
                  <a:srgbClr val="22D3EE"/>
                </a:solidFill>
              </a:rPr>
              <a:t>multilingual retrieval examples per target language</a:t>
            </a:r>
            <a:endParaRPr lang="en-US" sz="850" dirty="0"/>
          </a:p>
        </p:txBody>
      </p:sp>
      <p:sp>
        <p:nvSpPr>
          <p:cNvPr id="11" name="Text 9"/>
          <p:cNvSpPr/>
          <p:nvPr/>
        </p:nvSpPr>
        <p:spPr>
          <a:xfrm>
            <a:off x="6629400" y="1417320"/>
            <a:ext cx="1645920" cy="50292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2800" b="1" dirty="0">
                <a:solidFill>
                  <a:srgbClr val="F4F7FB"/>
                </a:solidFill>
              </a:rPr>
              <a:t>4</a:t>
            </a:r>
            <a:endParaRPr lang="en-US" sz="2800" dirty="0"/>
          </a:p>
        </p:txBody>
      </p:sp>
      <p:sp>
        <p:nvSpPr>
          <p:cNvPr id="12" name="Text 10"/>
          <p:cNvSpPr/>
          <p:nvPr/>
        </p:nvSpPr>
        <p:spPr>
          <a:xfrm>
            <a:off x="6537960" y="1984248"/>
            <a:ext cx="1828800" cy="32004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850" b="1" dirty="0">
                <a:solidFill>
                  <a:srgbClr val="22D3EE"/>
                </a:solidFill>
              </a:rPr>
              <a:t>target languages: Arabic, Chinese, German, Spanish</a:t>
            </a:r>
            <a:endParaRPr lang="en-US" sz="850" dirty="0"/>
          </a:p>
        </p:txBody>
      </p:sp>
      <p:sp>
        <p:nvSpPr>
          <p:cNvPr id="13" name="Text 11"/>
          <p:cNvSpPr/>
          <p:nvPr/>
        </p:nvSpPr>
        <p:spPr>
          <a:xfrm>
            <a:off x="9235440" y="1417320"/>
            <a:ext cx="1645920" cy="50292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2800" b="1" dirty="0">
                <a:solidFill>
                  <a:srgbClr val="F4F7FB"/>
                </a:solidFill>
              </a:rPr>
              <a:t>4</a:t>
            </a:r>
            <a:endParaRPr lang="en-US" sz="2800" dirty="0"/>
          </a:p>
        </p:txBody>
      </p:sp>
      <p:sp>
        <p:nvSpPr>
          <p:cNvPr id="14" name="Text 12"/>
          <p:cNvSpPr/>
          <p:nvPr/>
        </p:nvSpPr>
        <p:spPr>
          <a:xfrm>
            <a:off x="9144000" y="1984248"/>
            <a:ext cx="1828800" cy="32004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850" b="1" dirty="0">
                <a:solidFill>
                  <a:srgbClr val="22D3EE"/>
                </a:solidFill>
              </a:rPr>
              <a:t>question types</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3291840"/>
          <a:ext cx="10332720" cy="1362456"/>
        </p:xfrm>
        <a:graphic>
          <a:graphicData uri="http://schemas.openxmlformats.org/drawingml/2006/table">
            <a:tbl>
              <a:tblPr/>
              <a:tblGrid>
                <a:gridCol w="24688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41960">
                <a:tc>
                  <a:txBody>
                    <a:bodyPr/>
                    <a:lstStyle/>
                    <a:p>
                      <a:pPr marL="0" indent="0">
                        <a:buNone/>
                      </a:pPr>
                      <a:r>
                        <a:rPr lang="en-US" sz="1150" b="1" dirty="0">
                          <a:solidFill>
                            <a:srgbClr val="F4F7FB"/>
                          </a:solidFill>
                        </a:rPr>
                        <a:t>Setting</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150" b="1" dirty="0">
                          <a:solidFill>
                            <a:srgbClr val="F4F7FB"/>
                          </a:solidFill>
                        </a:rPr>
                        <a:t>Documents per question</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150" b="1" dirty="0">
                          <a:solidFill>
                            <a:srgbClr val="F4F7FB"/>
                          </a:solidFill>
                        </a:rPr>
                        <a:t>Purpose</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extLst>
                  <a:ext uri="{0D108BD9-81ED-4DB2-BD59-A6C34878D82A}">
                    <a16:rowId xmlns:a16="http://schemas.microsoft.com/office/drawing/2014/main" val="10000"/>
                  </a:ext>
                </a:extLst>
              </a:tr>
              <a:tr h="441960">
                <a:tc>
                  <a:txBody>
                    <a:bodyPr/>
                    <a:lstStyle/>
                    <a:p>
                      <a:pPr marL="0" indent="0">
                        <a:buNone/>
                      </a:pPr>
                      <a:r>
                        <a:rPr lang="en-US" sz="1150" dirty="0">
                          <a:solidFill>
                            <a:srgbClr val="A6B5CD"/>
                          </a:solidFill>
                        </a:rPr>
                        <a:t>Monolingual retrieval</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2 English support + 6 English distractors</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Tests cross-lingual answering using English-only evidence</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1"/>
                  </a:ext>
                </a:extLst>
              </a:tr>
              <a:tr h="441960">
                <a:tc>
                  <a:txBody>
                    <a:bodyPr/>
                    <a:lstStyle/>
                    <a:p>
                      <a:pPr marL="0" indent="0">
                        <a:buNone/>
                      </a:pPr>
                      <a:r>
                        <a:rPr lang="en-US" sz="1150" dirty="0">
                          <a:solidFill>
                            <a:srgbClr val="A6B5CD"/>
                          </a:solidFill>
                        </a:rPr>
                        <a:t>Multilingual retrieval</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English support/distractors + target-language support/distractors</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Tests mixed-language evidence use</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2"/>
                  </a:ext>
                </a:extLst>
              </a:tr>
            </a:tbl>
          </a:graphicData>
        </a:graphic>
      </p:graphicFrame>
      <p:sp>
        <p:nvSpPr>
          <p:cNvPr id="16" name="Text 13"/>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Table 2 and Section 4.4.</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Distractor selection</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Distractors make XRAG closer to real RAG.</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Shape 5"/>
          <p:cNvSpPr/>
          <p:nvPr/>
        </p:nvSpPr>
        <p:spPr>
          <a:xfrm>
            <a:off x="731520" y="1325880"/>
            <a:ext cx="347472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8" name="Shape 6"/>
          <p:cNvSpPr/>
          <p:nvPr/>
        </p:nvSpPr>
        <p:spPr>
          <a:xfrm>
            <a:off x="731520" y="1325880"/>
            <a:ext cx="100584" cy="1280160"/>
          </a:xfrm>
          <a:prstGeom prst="rect">
            <a:avLst/>
          </a:prstGeom>
          <a:solidFill>
            <a:srgbClr val="22D3EE"/>
          </a:solidFill>
          <a:ln w="12700">
            <a:solidFill>
              <a:srgbClr val="22D3EE"/>
            </a:solidFill>
            <a:prstDash val="solid"/>
          </a:ln>
        </p:spPr>
        <p:txBody>
          <a:bodyPr/>
          <a:lstStyle/>
          <a:p>
            <a:endParaRPr/>
          </a:p>
        </p:txBody>
      </p:sp>
      <p:sp>
        <p:nvSpPr>
          <p:cNvPr id="9" name="Text 7"/>
          <p:cNvSpPr/>
          <p:nvPr/>
        </p:nvSpPr>
        <p:spPr>
          <a:xfrm>
            <a:off x="960120" y="1490472"/>
            <a:ext cx="31546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Why distractors exist</a:t>
            </a:r>
            <a:endParaRPr lang="en-US" sz="1220" dirty="0"/>
          </a:p>
        </p:txBody>
      </p:sp>
      <p:sp>
        <p:nvSpPr>
          <p:cNvPr id="10" name="Text 8"/>
          <p:cNvSpPr/>
          <p:nvPr/>
        </p:nvSpPr>
        <p:spPr>
          <a:xfrm>
            <a:off x="960120" y="1856232"/>
            <a:ext cx="309067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Real retrievers often return related documents that are not actually useful.</a:t>
            </a:r>
            <a:endParaRPr lang="en-US" sz="1020" dirty="0"/>
          </a:p>
        </p:txBody>
      </p:sp>
      <p:sp>
        <p:nvSpPr>
          <p:cNvPr id="11" name="Shape 9"/>
          <p:cNvSpPr/>
          <p:nvPr/>
        </p:nvSpPr>
        <p:spPr>
          <a:xfrm>
            <a:off x="4389120" y="1325880"/>
            <a:ext cx="347472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12" name="Shape 10"/>
          <p:cNvSpPr/>
          <p:nvPr/>
        </p:nvSpPr>
        <p:spPr>
          <a:xfrm>
            <a:off x="4389120" y="1325880"/>
            <a:ext cx="100584" cy="1280160"/>
          </a:xfrm>
          <a:prstGeom prst="rect">
            <a:avLst/>
          </a:prstGeom>
          <a:solidFill>
            <a:srgbClr val="22D3EE"/>
          </a:solidFill>
          <a:ln w="12700">
            <a:solidFill>
              <a:srgbClr val="22D3EE"/>
            </a:solidFill>
            <a:prstDash val="solid"/>
          </a:ln>
        </p:spPr>
        <p:txBody>
          <a:bodyPr/>
          <a:lstStyle/>
          <a:p>
            <a:endParaRPr/>
          </a:p>
        </p:txBody>
      </p:sp>
      <p:sp>
        <p:nvSpPr>
          <p:cNvPr id="13" name="Text 11"/>
          <p:cNvSpPr/>
          <p:nvPr/>
        </p:nvSpPr>
        <p:spPr>
          <a:xfrm>
            <a:off x="4617720" y="1490472"/>
            <a:ext cx="31546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How XRAG selects them</a:t>
            </a:r>
            <a:endParaRPr lang="en-US" sz="1220" dirty="0"/>
          </a:p>
        </p:txBody>
      </p:sp>
      <p:sp>
        <p:nvSpPr>
          <p:cNvPr id="14" name="Text 12"/>
          <p:cNvSpPr/>
          <p:nvPr/>
        </p:nvSpPr>
        <p:spPr>
          <a:xfrm>
            <a:off x="4617720" y="1856232"/>
            <a:ext cx="309067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authors search for topically related documents that do not answer the question.</a:t>
            </a:r>
            <a:endParaRPr lang="en-US" sz="1020" dirty="0"/>
          </a:p>
        </p:txBody>
      </p:sp>
      <p:sp>
        <p:nvSpPr>
          <p:cNvPr id="15" name="Shape 13"/>
          <p:cNvSpPr/>
          <p:nvPr/>
        </p:nvSpPr>
        <p:spPr>
          <a:xfrm>
            <a:off x="8046720" y="1325880"/>
            <a:ext cx="347472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16" name="Shape 14"/>
          <p:cNvSpPr/>
          <p:nvPr/>
        </p:nvSpPr>
        <p:spPr>
          <a:xfrm>
            <a:off x="8046720" y="1325880"/>
            <a:ext cx="100584" cy="1280160"/>
          </a:xfrm>
          <a:prstGeom prst="rect">
            <a:avLst/>
          </a:prstGeom>
          <a:solidFill>
            <a:srgbClr val="22D3EE"/>
          </a:solidFill>
          <a:ln w="12700">
            <a:solidFill>
              <a:srgbClr val="22D3EE"/>
            </a:solidFill>
            <a:prstDash val="solid"/>
          </a:ln>
        </p:spPr>
        <p:txBody>
          <a:bodyPr/>
          <a:lstStyle/>
          <a:p>
            <a:endParaRPr/>
          </a:p>
        </p:txBody>
      </p:sp>
      <p:sp>
        <p:nvSpPr>
          <p:cNvPr id="17" name="Text 15"/>
          <p:cNvSpPr/>
          <p:nvPr/>
        </p:nvSpPr>
        <p:spPr>
          <a:xfrm>
            <a:off x="8275320" y="1490472"/>
            <a:ext cx="31546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Time control</a:t>
            </a:r>
            <a:endParaRPr lang="en-US" sz="1220" dirty="0"/>
          </a:p>
        </p:txBody>
      </p:sp>
      <p:sp>
        <p:nvSpPr>
          <p:cNvPr id="18" name="Text 16"/>
          <p:cNvSpPr/>
          <p:nvPr/>
        </p:nvSpPr>
        <p:spPr>
          <a:xfrm>
            <a:off x="8275320" y="1856232"/>
            <a:ext cx="309067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Distractors are published at least two weeks before support articles to avoid answering later events.</a:t>
            </a:r>
            <a:endParaRPr lang="en-US" sz="1020" dirty="0"/>
          </a:p>
        </p:txBody>
      </p:sp>
      <p:sp>
        <p:nvSpPr>
          <p:cNvPr id="19" name="Shape 17"/>
          <p:cNvSpPr/>
          <p:nvPr/>
        </p:nvSpPr>
        <p:spPr>
          <a:xfrm>
            <a:off x="1188720" y="3429000"/>
            <a:ext cx="9784080" cy="914400"/>
          </a:xfrm>
          <a:prstGeom prst="roundRect">
            <a:avLst>
              <a:gd name="adj" fmla="val 7000"/>
            </a:avLst>
          </a:prstGeom>
          <a:solidFill>
            <a:srgbClr val="11192D"/>
          </a:solidFill>
          <a:ln w="12700">
            <a:solidFill>
              <a:srgbClr val="405378"/>
            </a:solidFill>
            <a:prstDash val="solid"/>
          </a:ln>
        </p:spPr>
        <p:txBody>
          <a:bodyPr/>
          <a:lstStyle/>
          <a:p>
            <a:endParaRPr/>
          </a:p>
        </p:txBody>
      </p:sp>
      <p:sp>
        <p:nvSpPr>
          <p:cNvPr id="20" name="Text 18"/>
          <p:cNvSpPr/>
          <p:nvPr/>
        </p:nvSpPr>
        <p:spPr>
          <a:xfrm>
            <a:off x="1600200" y="3703320"/>
            <a:ext cx="8915400" cy="292608"/>
          </a:xfrm>
          <a:prstGeom prst="rect">
            <a:avLst/>
          </a:prstGeom>
          <a:solidFill>
            <a:srgbClr val="11192D"/>
          </a:solidFill>
          <a:ln>
            <a:solidFill>
              <a:srgbClr val="405378"/>
            </a:solidFill>
          </a:ln>
        </p:spPr>
        <p:txBody>
          <a:bodyPr wrap="square" rtlCol="0" anchor="ctr"/>
          <a:lstStyle/>
          <a:p>
            <a:pPr marL="0" indent="0" algn="ctr">
              <a:buNone/>
            </a:pPr>
            <a:r>
              <a:rPr lang="en-US" sz="1400" b="1" dirty="0">
                <a:solidFill>
                  <a:srgbClr val="F4F7FB"/>
                </a:solidFill>
              </a:rPr>
              <a:t>This lets XRAG test whether the model can ignore evidence that looks relevant but does not actually support the answer.</a:t>
            </a:r>
            <a:endParaRPr lang="en-US" sz="1400" dirty="0"/>
          </a:p>
        </p:txBody>
      </p:sp>
      <p:sp>
        <p:nvSpPr>
          <p:cNvPr id="21" name="Text 19"/>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Section 4.4: selecting distracting articles.</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Evaluation workflow in the paper</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XRAG evaluates factual correctness and language correctness.</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Shape 5"/>
          <p:cNvSpPr/>
          <p:nvPr/>
        </p:nvSpPr>
        <p:spPr>
          <a:xfrm>
            <a:off x="822960" y="1600200"/>
            <a:ext cx="1997050"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8" name="Text 6"/>
          <p:cNvSpPr/>
          <p:nvPr/>
        </p:nvSpPr>
        <p:spPr>
          <a:xfrm>
            <a:off x="868680" y="1746504"/>
            <a:ext cx="1905610"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Question + documents</a:t>
            </a:r>
            <a:endParaRPr lang="en-US" sz="950" dirty="0"/>
          </a:p>
        </p:txBody>
      </p:sp>
      <p:sp>
        <p:nvSpPr>
          <p:cNvPr id="9" name="Shape 7"/>
          <p:cNvSpPr/>
          <p:nvPr/>
        </p:nvSpPr>
        <p:spPr>
          <a:xfrm rot="5400000">
            <a:off x="2797150" y="18562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0" name="Shape 8"/>
          <p:cNvSpPr/>
          <p:nvPr/>
        </p:nvSpPr>
        <p:spPr>
          <a:xfrm>
            <a:off x="2929738" y="1600200"/>
            <a:ext cx="1997050"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1" name="Text 9"/>
          <p:cNvSpPr/>
          <p:nvPr/>
        </p:nvSpPr>
        <p:spPr>
          <a:xfrm>
            <a:off x="2975458" y="1746504"/>
            <a:ext cx="1905610"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LLM response</a:t>
            </a:r>
            <a:endParaRPr lang="en-US" sz="950" dirty="0"/>
          </a:p>
        </p:txBody>
      </p:sp>
      <p:sp>
        <p:nvSpPr>
          <p:cNvPr id="12" name="Shape 10"/>
          <p:cNvSpPr/>
          <p:nvPr/>
        </p:nvSpPr>
        <p:spPr>
          <a:xfrm rot="5400000">
            <a:off x="4903927" y="18562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3" name="Shape 11"/>
          <p:cNvSpPr/>
          <p:nvPr/>
        </p:nvSpPr>
        <p:spPr>
          <a:xfrm>
            <a:off x="5036515" y="1600200"/>
            <a:ext cx="1997050"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4" name="Text 12"/>
          <p:cNvSpPr/>
          <p:nvPr/>
        </p:nvSpPr>
        <p:spPr>
          <a:xfrm>
            <a:off x="5082235" y="1746504"/>
            <a:ext cx="1905610"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Language check</a:t>
            </a:r>
            <a:endParaRPr lang="en-US" sz="950" dirty="0"/>
          </a:p>
        </p:txBody>
      </p:sp>
      <p:sp>
        <p:nvSpPr>
          <p:cNvPr id="15" name="Shape 13"/>
          <p:cNvSpPr/>
          <p:nvPr/>
        </p:nvSpPr>
        <p:spPr>
          <a:xfrm rot="5400000">
            <a:off x="7010705" y="18562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6" name="Shape 14"/>
          <p:cNvSpPr/>
          <p:nvPr/>
        </p:nvSpPr>
        <p:spPr>
          <a:xfrm>
            <a:off x="7143293" y="1600200"/>
            <a:ext cx="1997050"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17" name="Text 15"/>
          <p:cNvSpPr/>
          <p:nvPr/>
        </p:nvSpPr>
        <p:spPr>
          <a:xfrm>
            <a:off x="7189013" y="1746504"/>
            <a:ext cx="1905610"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3 LLM judges</a:t>
            </a:r>
            <a:endParaRPr lang="en-US" sz="950" dirty="0"/>
          </a:p>
        </p:txBody>
      </p:sp>
      <p:sp>
        <p:nvSpPr>
          <p:cNvPr id="18" name="Shape 16"/>
          <p:cNvSpPr/>
          <p:nvPr/>
        </p:nvSpPr>
        <p:spPr>
          <a:xfrm rot="5400000">
            <a:off x="9117482" y="1856232"/>
            <a:ext cx="155448" cy="155448"/>
          </a:xfrm>
          <a:prstGeom prst="triangle">
            <a:avLst/>
          </a:prstGeom>
          <a:solidFill>
            <a:srgbClr val="22D3EE"/>
          </a:solidFill>
          <a:ln w="12700">
            <a:solidFill>
              <a:srgbClr val="22D3EE">
                <a:alpha val="0"/>
              </a:srgbClr>
            </a:solidFill>
            <a:prstDash val="solid"/>
          </a:ln>
        </p:spPr>
        <p:txBody>
          <a:bodyPr/>
          <a:lstStyle/>
          <a:p>
            <a:endParaRPr/>
          </a:p>
        </p:txBody>
      </p:sp>
      <p:sp>
        <p:nvSpPr>
          <p:cNvPr id="19" name="Shape 17"/>
          <p:cNvSpPr/>
          <p:nvPr/>
        </p:nvSpPr>
        <p:spPr>
          <a:xfrm>
            <a:off x="9250070" y="1600200"/>
            <a:ext cx="1997050" cy="658368"/>
          </a:xfrm>
          <a:prstGeom prst="roundRect">
            <a:avLst>
              <a:gd name="adj" fmla="val 9722"/>
            </a:avLst>
          </a:prstGeom>
          <a:solidFill>
            <a:srgbClr val="11192D"/>
          </a:solidFill>
          <a:ln w="12700">
            <a:solidFill>
              <a:srgbClr val="405378"/>
            </a:solidFill>
            <a:prstDash val="solid"/>
          </a:ln>
        </p:spPr>
        <p:txBody>
          <a:bodyPr/>
          <a:lstStyle/>
          <a:p>
            <a:endParaRPr/>
          </a:p>
        </p:txBody>
      </p:sp>
      <p:sp>
        <p:nvSpPr>
          <p:cNvPr id="20" name="Text 18"/>
          <p:cNvSpPr/>
          <p:nvPr/>
        </p:nvSpPr>
        <p:spPr>
          <a:xfrm>
            <a:off x="9295790" y="1746504"/>
            <a:ext cx="1905610" cy="329184"/>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950" b="1" dirty="0">
                <a:solidFill>
                  <a:srgbClr val="22D3EE"/>
                </a:solidFill>
              </a:rPr>
              <a:t>Final accuracy</a:t>
            </a:r>
            <a:endParaRPr lang="en-US" sz="950" dirty="0"/>
          </a:p>
        </p:txBody>
      </p:sp>
      <p:sp>
        <p:nvSpPr>
          <p:cNvPr id="21" name="Shape 19"/>
          <p:cNvSpPr/>
          <p:nvPr/>
        </p:nvSpPr>
        <p:spPr>
          <a:xfrm>
            <a:off x="822960" y="3063240"/>
            <a:ext cx="324612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22" name="Shape 20"/>
          <p:cNvSpPr/>
          <p:nvPr/>
        </p:nvSpPr>
        <p:spPr>
          <a:xfrm>
            <a:off x="822960" y="3063240"/>
            <a:ext cx="100584" cy="1143000"/>
          </a:xfrm>
          <a:prstGeom prst="rect">
            <a:avLst/>
          </a:prstGeom>
          <a:solidFill>
            <a:srgbClr val="22D3EE"/>
          </a:solidFill>
          <a:ln w="12700">
            <a:solidFill>
              <a:srgbClr val="22D3EE"/>
            </a:solidFill>
            <a:prstDash val="solid"/>
          </a:ln>
        </p:spPr>
        <p:txBody>
          <a:bodyPr/>
          <a:lstStyle/>
          <a:p>
            <a:endParaRPr/>
          </a:p>
        </p:txBody>
      </p:sp>
      <p:sp>
        <p:nvSpPr>
          <p:cNvPr id="23" name="Text 21"/>
          <p:cNvSpPr/>
          <p:nvPr/>
        </p:nvSpPr>
        <p:spPr>
          <a:xfrm>
            <a:off x="1051560" y="3227832"/>
            <a:ext cx="29260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Language detector</a:t>
            </a:r>
            <a:endParaRPr lang="en-US" sz="1220" dirty="0"/>
          </a:p>
        </p:txBody>
      </p:sp>
      <p:sp>
        <p:nvSpPr>
          <p:cNvPr id="24" name="Text 22"/>
          <p:cNvSpPr/>
          <p:nvPr/>
        </p:nvSpPr>
        <p:spPr>
          <a:xfrm>
            <a:off x="1051560" y="3593592"/>
            <a:ext cx="286207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Marks an answer wrong if it is not in the question language.</a:t>
            </a:r>
            <a:endParaRPr lang="en-US" sz="1020" dirty="0"/>
          </a:p>
        </p:txBody>
      </p:sp>
      <p:sp>
        <p:nvSpPr>
          <p:cNvPr id="25" name="Shape 23"/>
          <p:cNvSpPr/>
          <p:nvPr/>
        </p:nvSpPr>
        <p:spPr>
          <a:xfrm>
            <a:off x="4480560" y="3063240"/>
            <a:ext cx="324612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26" name="Shape 24"/>
          <p:cNvSpPr/>
          <p:nvPr/>
        </p:nvSpPr>
        <p:spPr>
          <a:xfrm>
            <a:off x="4480560" y="3063240"/>
            <a:ext cx="100584" cy="1143000"/>
          </a:xfrm>
          <a:prstGeom prst="rect">
            <a:avLst/>
          </a:prstGeom>
          <a:solidFill>
            <a:srgbClr val="22D3EE"/>
          </a:solidFill>
          <a:ln w="12700">
            <a:solidFill>
              <a:srgbClr val="22D3EE"/>
            </a:solidFill>
            <a:prstDash val="solid"/>
          </a:ln>
        </p:spPr>
        <p:txBody>
          <a:bodyPr/>
          <a:lstStyle/>
          <a:p>
            <a:endParaRPr/>
          </a:p>
        </p:txBody>
      </p:sp>
      <p:sp>
        <p:nvSpPr>
          <p:cNvPr id="27" name="Text 25"/>
          <p:cNvSpPr/>
          <p:nvPr/>
        </p:nvSpPr>
        <p:spPr>
          <a:xfrm>
            <a:off x="4709160" y="3227832"/>
            <a:ext cx="29260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LLM judge panel</a:t>
            </a:r>
            <a:endParaRPr lang="en-US" sz="1220" dirty="0"/>
          </a:p>
        </p:txBody>
      </p:sp>
      <p:sp>
        <p:nvSpPr>
          <p:cNvPr id="28" name="Text 26"/>
          <p:cNvSpPr/>
          <p:nvPr/>
        </p:nvSpPr>
        <p:spPr>
          <a:xfrm>
            <a:off x="4709160" y="3593592"/>
            <a:ext cx="286207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GPT-4o, Claude Sonnet 3.5, and Mistral-large judge factual equivalence.</a:t>
            </a:r>
            <a:endParaRPr lang="en-US" sz="1020" dirty="0"/>
          </a:p>
        </p:txBody>
      </p:sp>
      <p:sp>
        <p:nvSpPr>
          <p:cNvPr id="29" name="Shape 27"/>
          <p:cNvSpPr/>
          <p:nvPr/>
        </p:nvSpPr>
        <p:spPr>
          <a:xfrm>
            <a:off x="8138160" y="3063240"/>
            <a:ext cx="324612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30" name="Shape 28"/>
          <p:cNvSpPr/>
          <p:nvPr/>
        </p:nvSpPr>
        <p:spPr>
          <a:xfrm>
            <a:off x="8138160" y="3063240"/>
            <a:ext cx="100584" cy="1143000"/>
          </a:xfrm>
          <a:prstGeom prst="rect">
            <a:avLst/>
          </a:prstGeom>
          <a:solidFill>
            <a:srgbClr val="22D3EE"/>
          </a:solidFill>
          <a:ln w="12700">
            <a:solidFill>
              <a:srgbClr val="22D3EE"/>
            </a:solidFill>
            <a:prstDash val="solid"/>
          </a:ln>
        </p:spPr>
        <p:txBody>
          <a:bodyPr/>
          <a:lstStyle/>
          <a:p>
            <a:endParaRPr/>
          </a:p>
        </p:txBody>
      </p:sp>
      <p:sp>
        <p:nvSpPr>
          <p:cNvPr id="31" name="Text 29"/>
          <p:cNvSpPr/>
          <p:nvPr/>
        </p:nvSpPr>
        <p:spPr>
          <a:xfrm>
            <a:off x="8366760" y="3227832"/>
            <a:ext cx="292608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Human check</a:t>
            </a:r>
            <a:endParaRPr lang="en-US" sz="1220" dirty="0"/>
          </a:p>
        </p:txBody>
      </p:sp>
      <p:sp>
        <p:nvSpPr>
          <p:cNvPr id="32" name="Text 30"/>
          <p:cNvSpPr/>
          <p:nvPr/>
        </p:nvSpPr>
        <p:spPr>
          <a:xfrm>
            <a:off x="8366760" y="3593592"/>
            <a:ext cx="286207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authors report Cohen’s kappa of 0.71 against human judgments.</a:t>
            </a:r>
            <a:endParaRPr lang="en-US" sz="1020" dirty="0"/>
          </a:p>
        </p:txBody>
      </p:sp>
      <p:sp>
        <p:nvSpPr>
          <p:cNvPr id="33" name="Text 31"/>
          <p:cNvSpPr/>
          <p:nvPr/>
        </p:nvSpPr>
        <p:spPr>
          <a:xfrm>
            <a:off x="1097280" y="4892040"/>
            <a:ext cx="9875520" cy="320040"/>
          </a:xfrm>
          <a:prstGeom prst="rect">
            <a:avLst/>
          </a:prstGeom>
          <a:solidFill>
            <a:srgbClr val="11192D"/>
          </a:solidFill>
          <a:ln>
            <a:solidFill>
              <a:srgbClr val="405378"/>
            </a:solidFill>
          </a:ln>
        </p:spPr>
        <p:txBody>
          <a:bodyPr wrap="square" rtlCol="0" anchor="ctr"/>
          <a:lstStyle/>
          <a:p>
            <a:pPr marL="0" indent="0" algn="ctr">
              <a:buNone/>
            </a:pPr>
            <a:r>
              <a:rPr lang="en-US" sz="1400" b="1" dirty="0">
                <a:solidFill>
                  <a:srgbClr val="F4F7FB"/>
                </a:solidFill>
              </a:rPr>
              <a:t>Important: XRAG is measuring whether the final answer is both correct and in the right language.</a:t>
            </a:r>
            <a:endParaRPr lang="en-US" sz="1400" dirty="0"/>
          </a:p>
        </p:txBody>
      </p:sp>
      <p:sp>
        <p:nvSpPr>
          <p:cNvPr id="34" name="Text 32"/>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Section 5.1 and Figure 4.</a:t>
            </a:r>
            <a:endParaRPr lang="en-US" sz="640" dirty="0"/>
          </a:p>
        </p:txBody>
      </p:sp>
      <p:sp>
        <p:nvSpPr>
          <p:cNvPr id="3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4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12280"/>
            <a:ext cx="12191695"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10896"/>
            <a:ext cx="2743200" cy="228600"/>
          </a:xfrm>
          <a:prstGeom prst="rect">
            <a:avLst/>
          </a:prstGeom>
          <a:noFill/>
        </p:spPr>
        <p:txBody>
          <a:bodyPr wrap="square" lIns="73152" tIns="27432" rIns="73152" bIns="27432">
            <a:spAutoFit/>
          </a:bodyPr>
          <a:lstStyle/>
          <a:p>
            <a:pPr algn="l">
              <a:defRPr sz="1000" b="1">
                <a:solidFill>
                  <a:srgbClr val="49D9FF"/>
                </a:solidFill>
                <a:latin typeface="Aptos Display"/>
              </a:defRPr>
            </a:pPr>
            <a:r>
              <a:t>PAPER • TECHNICAL</a:t>
            </a:r>
          </a:p>
        </p:txBody>
      </p:sp>
      <p:sp>
        <p:nvSpPr>
          <p:cNvPr id="6" name="TextBox 5"/>
          <p:cNvSpPr txBox="1"/>
          <p:nvPr/>
        </p:nvSpPr>
        <p:spPr>
          <a:xfrm>
            <a:off x="548640" y="502920"/>
            <a:ext cx="10972800" cy="502920"/>
          </a:xfrm>
          <a:prstGeom prst="rect">
            <a:avLst/>
          </a:prstGeom>
          <a:noFill/>
        </p:spPr>
        <p:txBody>
          <a:bodyPr wrap="square" lIns="73152" tIns="27432" rIns="73152" bIns="27432">
            <a:spAutoFit/>
          </a:bodyPr>
          <a:lstStyle/>
          <a:p>
            <a:pPr algn="l">
              <a:defRPr sz="3100" b="1">
                <a:solidFill>
                  <a:srgbClr val="F2F6FF"/>
                </a:solidFill>
                <a:latin typeface="Aptos Display"/>
              </a:defRPr>
            </a:pPr>
            <a:r>
              <a:t>Technical task formulation</a:t>
            </a:r>
          </a:p>
        </p:txBody>
      </p:sp>
      <p:sp>
        <p:nvSpPr>
          <p:cNvPr id="7" name="TextBox 6"/>
          <p:cNvSpPr txBox="1"/>
          <p:nvPr/>
        </p:nvSpPr>
        <p:spPr>
          <a:xfrm>
            <a:off x="594360" y="1051560"/>
            <a:ext cx="10607040" cy="320040"/>
          </a:xfrm>
          <a:prstGeom prst="rect">
            <a:avLst/>
          </a:prstGeom>
          <a:noFill/>
        </p:spPr>
        <p:txBody>
          <a:bodyPr wrap="square" lIns="73152" tIns="27432" rIns="73152" bIns="27432">
            <a:spAutoFit/>
          </a:bodyPr>
          <a:lstStyle/>
          <a:p>
            <a:pPr algn="l">
              <a:defRPr sz="1500" b="0">
                <a:solidFill>
                  <a:srgbClr val="AAB6D3"/>
                </a:solidFill>
                <a:latin typeface="Aptos Display"/>
              </a:defRPr>
            </a:pPr>
            <a:r>
              <a:t>The paper defines XRAG as controlled cross-lingual evidence use, not just translation.</a:t>
            </a:r>
          </a:p>
        </p:txBody>
      </p:sp>
      <p:sp>
        <p:nvSpPr>
          <p:cNvPr id="8" name="Rounded Rectangle 7"/>
          <p:cNvSpPr/>
          <p:nvPr/>
        </p:nvSpPr>
        <p:spPr>
          <a:xfrm>
            <a:off x="685800" y="1828800"/>
            <a:ext cx="2377440" cy="1325880"/>
          </a:xfrm>
          <a:prstGeom prst="roundRect">
            <a:avLst/>
          </a:prstGeom>
          <a:solidFill>
            <a:srgbClr val="101A33"/>
          </a:solidFill>
          <a:ln w="15240">
            <a:solidFill>
              <a:srgbClr val="49D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938528"/>
            <a:ext cx="2103120" cy="411480"/>
          </a:xfrm>
          <a:prstGeom prst="rect">
            <a:avLst/>
          </a:prstGeom>
          <a:noFill/>
        </p:spPr>
        <p:txBody>
          <a:bodyPr wrap="square" lIns="73152" tIns="27432" rIns="73152" bIns="27432">
            <a:spAutoFit/>
          </a:bodyPr>
          <a:lstStyle/>
          <a:p>
            <a:pPr algn="ctr">
              <a:defRPr sz="2800" b="1">
                <a:solidFill>
                  <a:srgbClr val="49D9FF"/>
                </a:solidFill>
                <a:latin typeface="Aptos Display"/>
              </a:defRPr>
            </a:pPr>
            <a:r>
              <a:t>q</a:t>
            </a:r>
          </a:p>
        </p:txBody>
      </p:sp>
      <p:sp>
        <p:nvSpPr>
          <p:cNvPr id="10" name="TextBox 9"/>
          <p:cNvSpPr txBox="1"/>
          <p:nvPr/>
        </p:nvSpPr>
        <p:spPr>
          <a:xfrm>
            <a:off x="822960" y="2423160"/>
            <a:ext cx="2103120" cy="502920"/>
          </a:xfrm>
          <a:prstGeom prst="rect">
            <a:avLst/>
          </a:prstGeom>
          <a:noFill/>
        </p:spPr>
        <p:txBody>
          <a:bodyPr wrap="square" lIns="73152" tIns="27432" rIns="73152" bIns="27432">
            <a:spAutoFit/>
          </a:bodyPr>
          <a:lstStyle/>
          <a:p>
            <a:pPr algn="ctr">
              <a:defRPr sz="1400" b="0">
                <a:solidFill>
                  <a:srgbClr val="F2F6FF"/>
                </a:solidFill>
                <a:latin typeface="Aptos Display"/>
              </a:defRPr>
            </a:pPr>
            <a:r>
              <a:t>Question</a:t>
            </a:r>
            <a:br/>
            <a:r>
              <a:t>in language Lq</a:t>
            </a:r>
          </a:p>
        </p:txBody>
      </p:sp>
      <p:sp>
        <p:nvSpPr>
          <p:cNvPr id="11" name="Rounded Rectangle 10"/>
          <p:cNvSpPr/>
          <p:nvPr/>
        </p:nvSpPr>
        <p:spPr>
          <a:xfrm>
            <a:off x="3429000" y="1828800"/>
            <a:ext cx="2377440" cy="1325880"/>
          </a:xfrm>
          <a:prstGeom prst="roundRect">
            <a:avLst/>
          </a:prstGeom>
          <a:solidFill>
            <a:srgbClr val="101A33"/>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66160" y="1938528"/>
            <a:ext cx="2103120" cy="411480"/>
          </a:xfrm>
          <a:prstGeom prst="rect">
            <a:avLst/>
          </a:prstGeom>
          <a:noFill/>
        </p:spPr>
        <p:txBody>
          <a:bodyPr wrap="square" lIns="73152" tIns="27432" rIns="73152" bIns="27432">
            <a:spAutoFit/>
          </a:bodyPr>
          <a:lstStyle/>
          <a:p>
            <a:pPr algn="ctr">
              <a:defRPr sz="2800" b="1">
                <a:solidFill>
                  <a:srgbClr val="A78BFA"/>
                </a:solidFill>
                <a:latin typeface="Aptos Display"/>
              </a:defRPr>
            </a:pPr>
            <a:r>
              <a:t>D₁…D₈</a:t>
            </a:r>
          </a:p>
        </p:txBody>
      </p:sp>
      <p:sp>
        <p:nvSpPr>
          <p:cNvPr id="13" name="TextBox 12"/>
          <p:cNvSpPr txBox="1"/>
          <p:nvPr/>
        </p:nvSpPr>
        <p:spPr>
          <a:xfrm>
            <a:off x="3566160" y="2423160"/>
            <a:ext cx="2103120" cy="502920"/>
          </a:xfrm>
          <a:prstGeom prst="rect">
            <a:avLst/>
          </a:prstGeom>
          <a:noFill/>
        </p:spPr>
        <p:txBody>
          <a:bodyPr wrap="square" lIns="73152" tIns="27432" rIns="73152" bIns="27432">
            <a:spAutoFit/>
          </a:bodyPr>
          <a:lstStyle/>
          <a:p>
            <a:pPr algn="ctr">
              <a:defRPr sz="1400" b="0">
                <a:solidFill>
                  <a:srgbClr val="F2F6FF"/>
                </a:solidFill>
                <a:latin typeface="Aptos Display"/>
              </a:defRPr>
            </a:pPr>
            <a:r>
              <a:t>Retrieved articles</a:t>
            </a:r>
            <a:br/>
            <a:r>
              <a:t>support + distractors</a:t>
            </a:r>
          </a:p>
        </p:txBody>
      </p:sp>
      <p:sp>
        <p:nvSpPr>
          <p:cNvPr id="14" name="Rounded Rectangle 13"/>
          <p:cNvSpPr/>
          <p:nvPr/>
        </p:nvSpPr>
        <p:spPr>
          <a:xfrm>
            <a:off x="6172200" y="1828800"/>
            <a:ext cx="2377440" cy="1325880"/>
          </a:xfrm>
          <a:prstGeom prst="roundRect">
            <a:avLst/>
          </a:prstGeom>
          <a:solidFill>
            <a:srgbClr val="101A33"/>
          </a:solidFill>
          <a:ln w="15240">
            <a:solidFill>
              <a:srgbClr val="5FF0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0" y="1938528"/>
            <a:ext cx="2103120" cy="411480"/>
          </a:xfrm>
          <a:prstGeom prst="rect">
            <a:avLst/>
          </a:prstGeom>
          <a:noFill/>
        </p:spPr>
        <p:txBody>
          <a:bodyPr wrap="square" lIns="73152" tIns="27432" rIns="73152" bIns="27432">
            <a:spAutoFit/>
          </a:bodyPr>
          <a:lstStyle/>
          <a:p>
            <a:pPr algn="ctr">
              <a:defRPr sz="2800" b="1">
                <a:solidFill>
                  <a:srgbClr val="5FF0B2"/>
                </a:solidFill>
                <a:latin typeface="Aptos Display"/>
              </a:defRPr>
            </a:pPr>
            <a:r>
              <a:t>M</a:t>
            </a:r>
          </a:p>
        </p:txBody>
      </p:sp>
      <p:sp>
        <p:nvSpPr>
          <p:cNvPr id="16" name="TextBox 15"/>
          <p:cNvSpPr txBox="1"/>
          <p:nvPr/>
        </p:nvSpPr>
        <p:spPr>
          <a:xfrm>
            <a:off x="6309360" y="2423160"/>
            <a:ext cx="2103120" cy="502920"/>
          </a:xfrm>
          <a:prstGeom prst="rect">
            <a:avLst/>
          </a:prstGeom>
          <a:noFill/>
        </p:spPr>
        <p:txBody>
          <a:bodyPr wrap="square" lIns="73152" tIns="27432" rIns="73152" bIns="27432">
            <a:spAutoFit/>
          </a:bodyPr>
          <a:lstStyle/>
          <a:p>
            <a:pPr algn="ctr">
              <a:defRPr sz="1400" b="0">
                <a:solidFill>
                  <a:srgbClr val="F2F6FF"/>
                </a:solidFill>
                <a:latin typeface="Aptos Display"/>
              </a:defRPr>
            </a:pPr>
            <a:r>
              <a:t>Language model</a:t>
            </a:r>
            <a:br/>
            <a:r>
              <a:t>conditions on evidence</a:t>
            </a:r>
          </a:p>
        </p:txBody>
      </p:sp>
      <p:sp>
        <p:nvSpPr>
          <p:cNvPr id="17" name="Rounded Rectangle 16"/>
          <p:cNvSpPr/>
          <p:nvPr/>
        </p:nvSpPr>
        <p:spPr>
          <a:xfrm>
            <a:off x="8915400" y="1828800"/>
            <a:ext cx="2377440" cy="1325880"/>
          </a:xfrm>
          <a:prstGeom prst="roundRect">
            <a:avLst/>
          </a:prstGeom>
          <a:solidFill>
            <a:srgbClr val="101A33"/>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52560" y="1938528"/>
            <a:ext cx="2103120" cy="411480"/>
          </a:xfrm>
          <a:prstGeom prst="rect">
            <a:avLst/>
          </a:prstGeom>
          <a:noFill/>
        </p:spPr>
        <p:txBody>
          <a:bodyPr wrap="square" lIns="73152" tIns="27432" rIns="73152" bIns="27432">
            <a:spAutoFit/>
          </a:bodyPr>
          <a:lstStyle/>
          <a:p>
            <a:pPr algn="ctr">
              <a:defRPr sz="2800" b="1">
                <a:solidFill>
                  <a:srgbClr val="FFD166"/>
                </a:solidFill>
                <a:latin typeface="Aptos Display"/>
              </a:defRPr>
            </a:pPr>
            <a:r>
              <a:t>ŷ</a:t>
            </a:r>
          </a:p>
        </p:txBody>
      </p:sp>
      <p:sp>
        <p:nvSpPr>
          <p:cNvPr id="19" name="TextBox 18"/>
          <p:cNvSpPr txBox="1"/>
          <p:nvPr/>
        </p:nvSpPr>
        <p:spPr>
          <a:xfrm>
            <a:off x="9052560" y="2423160"/>
            <a:ext cx="2103120" cy="502920"/>
          </a:xfrm>
          <a:prstGeom prst="rect">
            <a:avLst/>
          </a:prstGeom>
          <a:noFill/>
        </p:spPr>
        <p:txBody>
          <a:bodyPr wrap="square" lIns="73152" tIns="27432" rIns="73152" bIns="27432">
            <a:spAutoFit/>
          </a:bodyPr>
          <a:lstStyle/>
          <a:p>
            <a:pPr algn="ctr">
              <a:defRPr sz="1400" b="0">
                <a:solidFill>
                  <a:srgbClr val="F2F6FF"/>
                </a:solidFill>
                <a:latin typeface="Aptos Display"/>
              </a:defRPr>
            </a:pPr>
            <a:r>
              <a:t>Generated answer</a:t>
            </a:r>
            <a:br/>
            <a:r>
              <a:t>same language as q</a:t>
            </a:r>
          </a:p>
        </p:txBody>
      </p:sp>
      <p:cxnSp>
        <p:nvCxnSpPr>
          <p:cNvPr id="20" name="Connector 19"/>
          <p:cNvCxnSpPr/>
          <p:nvPr/>
        </p:nvCxnSpPr>
        <p:spPr>
          <a:xfrm>
            <a:off x="3063240" y="2487168"/>
            <a:ext cx="502920" cy="0"/>
          </a:xfrm>
          <a:prstGeom prst="line">
            <a:avLst/>
          </a:prstGeom>
          <a:ln w="25400">
            <a:solidFill>
              <a:srgbClr val="AAB6D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806440" y="2487168"/>
            <a:ext cx="502919" cy="0"/>
          </a:xfrm>
          <a:prstGeom prst="line">
            <a:avLst/>
          </a:prstGeom>
          <a:ln w="25400">
            <a:solidFill>
              <a:srgbClr val="AAB6D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49640" y="2487168"/>
            <a:ext cx="502920" cy="0"/>
          </a:xfrm>
          <a:prstGeom prst="line">
            <a:avLst/>
          </a:prstGeom>
          <a:ln w="25400">
            <a:solidFill>
              <a:srgbClr val="AAB6D3"/>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1520" y="3977639"/>
            <a:ext cx="3337560" cy="1234440"/>
          </a:xfrm>
          <a:prstGeom prst="roundRect">
            <a:avLst/>
          </a:prstGeom>
          <a:solidFill>
            <a:srgbClr val="17213D"/>
          </a:solidFill>
          <a:ln w="15240">
            <a:solidFill>
              <a:srgbClr val="49D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4096512"/>
            <a:ext cx="3063240" cy="274320"/>
          </a:xfrm>
          <a:prstGeom prst="rect">
            <a:avLst/>
          </a:prstGeom>
          <a:noFill/>
        </p:spPr>
        <p:txBody>
          <a:bodyPr wrap="square" lIns="73152" tIns="27432" rIns="73152" bIns="27432">
            <a:spAutoFit/>
          </a:bodyPr>
          <a:lstStyle/>
          <a:p>
            <a:pPr algn="ctr">
              <a:defRPr sz="1600" b="1">
                <a:solidFill>
                  <a:srgbClr val="F2F6FF"/>
                </a:solidFill>
                <a:latin typeface="Aptos Display"/>
              </a:defRPr>
            </a:pPr>
            <a:r>
              <a:t>Input control</a:t>
            </a:r>
          </a:p>
        </p:txBody>
      </p:sp>
      <p:sp>
        <p:nvSpPr>
          <p:cNvPr id="25" name="TextBox 24"/>
          <p:cNvSpPr txBox="1"/>
          <p:nvPr/>
        </p:nvSpPr>
        <p:spPr>
          <a:xfrm>
            <a:off x="960120" y="4462272"/>
            <a:ext cx="2880360" cy="548640"/>
          </a:xfrm>
          <a:prstGeom prst="rect">
            <a:avLst/>
          </a:prstGeom>
          <a:noFill/>
        </p:spPr>
        <p:txBody>
          <a:bodyPr wrap="square" lIns="73152" tIns="27432" rIns="73152" bIns="27432">
            <a:spAutoFit/>
          </a:bodyPr>
          <a:lstStyle/>
          <a:p>
            <a:pPr algn="ctr">
              <a:defRPr sz="1100" b="0">
                <a:solidFill>
                  <a:srgbClr val="AAB6D3"/>
                </a:solidFill>
                <a:latin typeface="Aptos Display"/>
              </a:defRPr>
            </a:pPr>
            <a:r>
              <a:t>Question language and document languages are known, so model behavior can be compared under fixed conditions.</a:t>
            </a:r>
          </a:p>
        </p:txBody>
      </p:sp>
      <p:sp>
        <p:nvSpPr>
          <p:cNvPr id="26" name="Rounded Rectangle 25"/>
          <p:cNvSpPr/>
          <p:nvPr/>
        </p:nvSpPr>
        <p:spPr>
          <a:xfrm>
            <a:off x="4526280" y="3977639"/>
            <a:ext cx="3337560" cy="1234440"/>
          </a:xfrm>
          <a:prstGeom prst="roundRect">
            <a:avLst/>
          </a:prstGeom>
          <a:solidFill>
            <a:srgbClr val="17213D"/>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63440" y="4096512"/>
            <a:ext cx="3063240" cy="274320"/>
          </a:xfrm>
          <a:prstGeom prst="rect">
            <a:avLst/>
          </a:prstGeom>
          <a:noFill/>
        </p:spPr>
        <p:txBody>
          <a:bodyPr wrap="square" lIns="73152" tIns="27432" rIns="73152" bIns="27432">
            <a:spAutoFit/>
          </a:bodyPr>
          <a:lstStyle/>
          <a:p>
            <a:pPr algn="ctr">
              <a:defRPr sz="1600" b="1">
                <a:solidFill>
                  <a:srgbClr val="F2F6FF"/>
                </a:solidFill>
                <a:latin typeface="Aptos Display"/>
              </a:defRPr>
            </a:pPr>
            <a:r>
              <a:t>Output target</a:t>
            </a:r>
          </a:p>
        </p:txBody>
      </p:sp>
      <p:sp>
        <p:nvSpPr>
          <p:cNvPr id="28" name="TextBox 27"/>
          <p:cNvSpPr txBox="1"/>
          <p:nvPr/>
        </p:nvSpPr>
        <p:spPr>
          <a:xfrm>
            <a:off x="4754880" y="4462272"/>
            <a:ext cx="2880360" cy="548640"/>
          </a:xfrm>
          <a:prstGeom prst="rect">
            <a:avLst/>
          </a:prstGeom>
          <a:noFill/>
        </p:spPr>
        <p:txBody>
          <a:bodyPr wrap="square" lIns="73152" tIns="27432" rIns="73152" bIns="27432">
            <a:spAutoFit/>
          </a:bodyPr>
          <a:lstStyle/>
          <a:p>
            <a:pPr algn="ctr">
              <a:defRPr sz="1100" b="0">
                <a:solidFill>
                  <a:srgbClr val="AAB6D3"/>
                </a:solidFill>
                <a:latin typeface="Aptos Display"/>
              </a:defRPr>
            </a:pPr>
            <a:r>
              <a:t>The answer must be factually correct and stay in the same language as the question.</a:t>
            </a:r>
          </a:p>
        </p:txBody>
      </p:sp>
      <p:sp>
        <p:nvSpPr>
          <p:cNvPr id="29" name="Rounded Rectangle 28"/>
          <p:cNvSpPr/>
          <p:nvPr/>
        </p:nvSpPr>
        <p:spPr>
          <a:xfrm>
            <a:off x="8321040" y="3977639"/>
            <a:ext cx="3337560" cy="1234440"/>
          </a:xfrm>
          <a:prstGeom prst="roundRect">
            <a:avLst/>
          </a:prstGeom>
          <a:solidFill>
            <a:srgbClr val="17213D"/>
          </a:solidFill>
          <a:ln w="15240">
            <a:solidFill>
              <a:srgbClr val="5FF0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58200" y="4096512"/>
            <a:ext cx="3063240" cy="274320"/>
          </a:xfrm>
          <a:prstGeom prst="rect">
            <a:avLst/>
          </a:prstGeom>
          <a:noFill/>
        </p:spPr>
        <p:txBody>
          <a:bodyPr wrap="square" lIns="73152" tIns="27432" rIns="73152" bIns="27432">
            <a:spAutoFit/>
          </a:bodyPr>
          <a:lstStyle/>
          <a:p>
            <a:pPr algn="ctr">
              <a:defRPr sz="1600" b="1">
                <a:solidFill>
                  <a:srgbClr val="F2F6FF"/>
                </a:solidFill>
                <a:latin typeface="Aptos Display"/>
              </a:defRPr>
            </a:pPr>
            <a:r>
              <a:t>Why it matters</a:t>
            </a:r>
          </a:p>
        </p:txBody>
      </p:sp>
      <p:sp>
        <p:nvSpPr>
          <p:cNvPr id="31" name="TextBox 30"/>
          <p:cNvSpPr txBox="1"/>
          <p:nvPr/>
        </p:nvSpPr>
        <p:spPr>
          <a:xfrm>
            <a:off x="8549640" y="4462272"/>
            <a:ext cx="2880360" cy="548640"/>
          </a:xfrm>
          <a:prstGeom prst="rect">
            <a:avLst/>
          </a:prstGeom>
          <a:noFill/>
        </p:spPr>
        <p:txBody>
          <a:bodyPr wrap="square" lIns="73152" tIns="27432" rIns="73152" bIns="27432">
            <a:spAutoFit/>
          </a:bodyPr>
          <a:lstStyle/>
          <a:p>
            <a:pPr algn="ctr">
              <a:defRPr sz="1100" b="0">
                <a:solidFill>
                  <a:srgbClr val="AAB6D3"/>
                </a:solidFill>
                <a:latin typeface="Aptos Display"/>
              </a:defRPr>
            </a:pPr>
            <a:r>
              <a:t>The benchmark separates retrieval, reasoning, and language-control errors.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4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12280"/>
            <a:ext cx="12191695"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10896"/>
            <a:ext cx="2743200" cy="228600"/>
          </a:xfrm>
          <a:prstGeom prst="rect">
            <a:avLst/>
          </a:prstGeom>
          <a:noFill/>
        </p:spPr>
        <p:txBody>
          <a:bodyPr wrap="square" lIns="73152" tIns="27432" rIns="73152" bIns="27432">
            <a:spAutoFit/>
          </a:bodyPr>
          <a:lstStyle/>
          <a:p>
            <a:pPr algn="l">
              <a:defRPr sz="1000" b="1">
                <a:solidFill>
                  <a:srgbClr val="49D9FF"/>
                </a:solidFill>
                <a:latin typeface="Aptos Display"/>
              </a:defRPr>
            </a:pPr>
            <a:r>
              <a:t>PAPER • TECHNICAL</a:t>
            </a:r>
          </a:p>
        </p:txBody>
      </p:sp>
      <p:sp>
        <p:nvSpPr>
          <p:cNvPr id="6" name="TextBox 5"/>
          <p:cNvSpPr txBox="1"/>
          <p:nvPr/>
        </p:nvSpPr>
        <p:spPr>
          <a:xfrm>
            <a:off x="548640" y="502920"/>
            <a:ext cx="10972800" cy="502920"/>
          </a:xfrm>
          <a:prstGeom prst="rect">
            <a:avLst/>
          </a:prstGeom>
          <a:noFill/>
        </p:spPr>
        <p:txBody>
          <a:bodyPr wrap="square" lIns="73152" tIns="27432" rIns="73152" bIns="27432">
            <a:spAutoFit/>
          </a:bodyPr>
          <a:lstStyle/>
          <a:p>
            <a:pPr algn="l">
              <a:defRPr sz="3100" b="1">
                <a:solidFill>
                  <a:srgbClr val="F2F6FF"/>
                </a:solidFill>
                <a:latin typeface="Aptos Display"/>
              </a:defRPr>
            </a:pPr>
            <a:r>
              <a:t>Support labels separate retrieval from generation</a:t>
            </a:r>
          </a:p>
        </p:txBody>
      </p:sp>
      <p:sp>
        <p:nvSpPr>
          <p:cNvPr id="7" name="TextBox 6"/>
          <p:cNvSpPr txBox="1"/>
          <p:nvPr/>
        </p:nvSpPr>
        <p:spPr>
          <a:xfrm>
            <a:off x="594360" y="1051560"/>
            <a:ext cx="10607040" cy="320040"/>
          </a:xfrm>
          <a:prstGeom prst="rect">
            <a:avLst/>
          </a:prstGeom>
          <a:noFill/>
        </p:spPr>
        <p:txBody>
          <a:bodyPr wrap="square" lIns="73152" tIns="27432" rIns="73152" bIns="27432">
            <a:spAutoFit/>
          </a:bodyPr>
          <a:lstStyle/>
          <a:p>
            <a:pPr algn="l">
              <a:defRPr sz="1500" b="0">
                <a:solidFill>
                  <a:srgbClr val="AAB6D3"/>
                </a:solidFill>
                <a:latin typeface="Aptos Display"/>
              </a:defRPr>
            </a:pPr>
            <a:r>
              <a:t>XRAG’s annotations let us test whether failures come from evidence selection or answer generation.</a:t>
            </a:r>
          </a:p>
        </p:txBody>
      </p:sp>
      <p:sp>
        <p:nvSpPr>
          <p:cNvPr id="8" name="Rounded Rectangle 7"/>
          <p:cNvSpPr/>
          <p:nvPr/>
        </p:nvSpPr>
        <p:spPr>
          <a:xfrm>
            <a:off x="594360" y="1783080"/>
            <a:ext cx="3154680" cy="2651760"/>
          </a:xfrm>
          <a:prstGeom prst="roundRect">
            <a:avLst/>
          </a:prstGeom>
          <a:solidFill>
            <a:srgbClr val="101A33"/>
          </a:solidFill>
          <a:ln w="15240">
            <a:solidFill>
              <a:srgbClr val="5FF0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965960"/>
            <a:ext cx="2788920" cy="320040"/>
          </a:xfrm>
          <a:prstGeom prst="rect">
            <a:avLst/>
          </a:prstGeom>
          <a:noFill/>
        </p:spPr>
        <p:txBody>
          <a:bodyPr wrap="square" lIns="73152" tIns="27432" rIns="73152" bIns="27432">
            <a:spAutoFit/>
          </a:bodyPr>
          <a:lstStyle/>
          <a:p>
            <a:pPr algn="ctr">
              <a:defRPr sz="1900" b="1">
                <a:solidFill>
                  <a:srgbClr val="5FF0B2"/>
                </a:solidFill>
                <a:latin typeface="Aptos Display"/>
              </a:defRPr>
            </a:pPr>
            <a:r>
              <a:t>Support documents</a:t>
            </a:r>
          </a:p>
        </p:txBody>
      </p:sp>
      <p:sp>
        <p:nvSpPr>
          <p:cNvPr id="10" name="TextBox 9"/>
          <p:cNvSpPr txBox="1"/>
          <p:nvPr/>
        </p:nvSpPr>
        <p:spPr>
          <a:xfrm>
            <a:off x="868680" y="2423160"/>
            <a:ext cx="2606040" cy="685800"/>
          </a:xfrm>
          <a:prstGeom prst="rect">
            <a:avLst/>
          </a:prstGeom>
          <a:noFill/>
        </p:spPr>
        <p:txBody>
          <a:bodyPr wrap="square" lIns="73152" tIns="27432" rIns="73152" bIns="27432">
            <a:spAutoFit/>
          </a:bodyPr>
          <a:lstStyle/>
          <a:p>
            <a:pPr algn="ctr">
              <a:defRPr sz="1300" b="0">
                <a:solidFill>
                  <a:srgbClr val="F2F6FF"/>
                </a:solidFill>
                <a:latin typeface="Aptos Display"/>
              </a:defRPr>
            </a:pPr>
            <a:r>
              <a:t>Documents labeled as containing the evidence needed to answer.</a:t>
            </a:r>
          </a:p>
        </p:txBody>
      </p:sp>
      <p:sp>
        <p:nvSpPr>
          <p:cNvPr id="11" name="TextBox 10"/>
          <p:cNvSpPr txBox="1"/>
          <p:nvPr/>
        </p:nvSpPr>
        <p:spPr>
          <a:xfrm>
            <a:off x="914400" y="3337560"/>
            <a:ext cx="2514600" cy="502920"/>
          </a:xfrm>
          <a:prstGeom prst="rect">
            <a:avLst/>
          </a:prstGeom>
          <a:noFill/>
        </p:spPr>
        <p:txBody>
          <a:bodyPr wrap="square" lIns="73152" tIns="27432" rIns="73152" bIns="27432">
            <a:spAutoFit/>
          </a:bodyPr>
          <a:lstStyle/>
          <a:p>
            <a:pPr algn="ctr">
              <a:defRPr sz="1600" b="1">
                <a:solidFill>
                  <a:srgbClr val="FFD166"/>
                </a:solidFill>
                <a:latin typeface="Aptos Display"/>
              </a:defRPr>
            </a:pPr>
            <a:r>
              <a:t>Used for an</a:t>
            </a:r>
            <a:br/>
            <a:r>
              <a:t>“oracle” condition</a:t>
            </a:r>
          </a:p>
        </p:txBody>
      </p:sp>
      <p:sp>
        <p:nvSpPr>
          <p:cNvPr id="12" name="Rounded Rectangle 11"/>
          <p:cNvSpPr/>
          <p:nvPr/>
        </p:nvSpPr>
        <p:spPr>
          <a:xfrm>
            <a:off x="4434840" y="1783080"/>
            <a:ext cx="3154680" cy="2651760"/>
          </a:xfrm>
          <a:prstGeom prst="roundRect">
            <a:avLst/>
          </a:prstGeom>
          <a:solidFill>
            <a:srgbClr val="101A33"/>
          </a:solidFill>
          <a:ln w="15240">
            <a:solidFill>
              <a:srgbClr val="FF7A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1965960"/>
            <a:ext cx="2788920" cy="320040"/>
          </a:xfrm>
          <a:prstGeom prst="rect">
            <a:avLst/>
          </a:prstGeom>
          <a:noFill/>
        </p:spPr>
        <p:txBody>
          <a:bodyPr wrap="square" lIns="73152" tIns="27432" rIns="73152" bIns="27432">
            <a:spAutoFit/>
          </a:bodyPr>
          <a:lstStyle/>
          <a:p>
            <a:pPr algn="ctr">
              <a:defRPr sz="1900" b="1">
                <a:solidFill>
                  <a:srgbClr val="FF7A90"/>
                </a:solidFill>
                <a:latin typeface="Aptos Display"/>
              </a:defRPr>
            </a:pPr>
            <a:r>
              <a:t>Distractor documents</a:t>
            </a:r>
          </a:p>
        </p:txBody>
      </p:sp>
      <p:sp>
        <p:nvSpPr>
          <p:cNvPr id="14" name="TextBox 13"/>
          <p:cNvSpPr txBox="1"/>
          <p:nvPr/>
        </p:nvSpPr>
        <p:spPr>
          <a:xfrm>
            <a:off x="4709160" y="2423160"/>
            <a:ext cx="2606040" cy="685800"/>
          </a:xfrm>
          <a:prstGeom prst="rect">
            <a:avLst/>
          </a:prstGeom>
          <a:noFill/>
        </p:spPr>
        <p:txBody>
          <a:bodyPr wrap="square" lIns="73152" tIns="27432" rIns="73152" bIns="27432">
            <a:spAutoFit/>
          </a:bodyPr>
          <a:lstStyle/>
          <a:p>
            <a:pPr algn="ctr">
              <a:defRPr sz="1300" b="0">
                <a:solidFill>
                  <a:srgbClr val="F2F6FF"/>
                </a:solidFill>
                <a:latin typeface="Aptos Display"/>
              </a:defRPr>
            </a:pPr>
            <a:r>
              <a:t>Related to the topic, but not supposed to provide the final answer.</a:t>
            </a:r>
          </a:p>
        </p:txBody>
      </p:sp>
      <p:sp>
        <p:nvSpPr>
          <p:cNvPr id="15" name="TextBox 14"/>
          <p:cNvSpPr txBox="1"/>
          <p:nvPr/>
        </p:nvSpPr>
        <p:spPr>
          <a:xfrm>
            <a:off x="4754880" y="3337560"/>
            <a:ext cx="2514600" cy="502920"/>
          </a:xfrm>
          <a:prstGeom prst="rect">
            <a:avLst/>
          </a:prstGeom>
          <a:noFill/>
        </p:spPr>
        <p:txBody>
          <a:bodyPr wrap="square" lIns="73152" tIns="27432" rIns="73152" bIns="27432">
            <a:spAutoFit/>
          </a:bodyPr>
          <a:lstStyle/>
          <a:p>
            <a:pPr algn="ctr">
              <a:defRPr sz="1600" b="1">
                <a:solidFill>
                  <a:srgbClr val="FFD166"/>
                </a:solidFill>
                <a:latin typeface="Aptos Display"/>
              </a:defRPr>
            </a:pPr>
            <a:r>
              <a:t>Simulates noisy</a:t>
            </a:r>
            <a:br/>
            <a:r>
              <a:t>real retrieval</a:t>
            </a:r>
          </a:p>
        </p:txBody>
      </p:sp>
      <p:sp>
        <p:nvSpPr>
          <p:cNvPr id="16" name="Rounded Rectangle 15"/>
          <p:cNvSpPr/>
          <p:nvPr/>
        </p:nvSpPr>
        <p:spPr>
          <a:xfrm>
            <a:off x="8275320" y="1783080"/>
            <a:ext cx="3154680" cy="2651760"/>
          </a:xfrm>
          <a:prstGeom prst="roundRect">
            <a:avLst/>
          </a:prstGeom>
          <a:solidFill>
            <a:srgbClr val="101A33"/>
          </a:solidFill>
          <a:ln w="15240">
            <a:solidFill>
              <a:srgbClr val="49D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58200" y="1965960"/>
            <a:ext cx="2788920" cy="320040"/>
          </a:xfrm>
          <a:prstGeom prst="rect">
            <a:avLst/>
          </a:prstGeom>
          <a:noFill/>
        </p:spPr>
        <p:txBody>
          <a:bodyPr wrap="square" lIns="73152" tIns="27432" rIns="73152" bIns="27432">
            <a:spAutoFit/>
          </a:bodyPr>
          <a:lstStyle/>
          <a:p>
            <a:pPr algn="ctr">
              <a:defRPr sz="1900" b="1">
                <a:solidFill>
                  <a:srgbClr val="49D9FF"/>
                </a:solidFill>
                <a:latin typeface="Aptos Display"/>
              </a:defRPr>
            </a:pPr>
            <a:r>
              <a:t>Why this is technical</a:t>
            </a:r>
          </a:p>
        </p:txBody>
      </p:sp>
      <p:sp>
        <p:nvSpPr>
          <p:cNvPr id="18" name="TextBox 17"/>
          <p:cNvSpPr txBox="1"/>
          <p:nvPr/>
        </p:nvSpPr>
        <p:spPr>
          <a:xfrm>
            <a:off x="8549640" y="2423160"/>
            <a:ext cx="2606040" cy="685800"/>
          </a:xfrm>
          <a:prstGeom prst="rect">
            <a:avLst/>
          </a:prstGeom>
          <a:noFill/>
        </p:spPr>
        <p:txBody>
          <a:bodyPr wrap="square" lIns="73152" tIns="27432" rIns="73152" bIns="27432">
            <a:spAutoFit/>
          </a:bodyPr>
          <a:lstStyle/>
          <a:p>
            <a:pPr algn="ctr">
              <a:defRPr sz="1300" b="0">
                <a:solidFill>
                  <a:srgbClr val="F2F6FF"/>
                </a:solidFill>
                <a:latin typeface="Aptos Display"/>
              </a:defRPr>
            </a:pPr>
            <a:r>
              <a:t>The same question can be run under no-docs, support-only, all-docs, or retrieved-docs conditions.</a:t>
            </a:r>
          </a:p>
        </p:txBody>
      </p:sp>
      <p:sp>
        <p:nvSpPr>
          <p:cNvPr id="19" name="TextBox 18"/>
          <p:cNvSpPr txBox="1"/>
          <p:nvPr/>
        </p:nvSpPr>
        <p:spPr>
          <a:xfrm>
            <a:off x="8595360" y="3337560"/>
            <a:ext cx="2514600" cy="502920"/>
          </a:xfrm>
          <a:prstGeom prst="rect">
            <a:avLst/>
          </a:prstGeom>
          <a:noFill/>
        </p:spPr>
        <p:txBody>
          <a:bodyPr wrap="square" lIns="73152" tIns="27432" rIns="73152" bIns="27432">
            <a:spAutoFit/>
          </a:bodyPr>
          <a:lstStyle/>
          <a:p>
            <a:pPr algn="ctr">
              <a:defRPr sz="1600" b="1">
                <a:solidFill>
                  <a:srgbClr val="FFD166"/>
                </a:solidFill>
                <a:latin typeface="Aptos Display"/>
              </a:defRPr>
            </a:pPr>
            <a:r>
              <a:t>Controlled</a:t>
            </a:r>
            <a:br/>
            <a:r>
              <a:t>ablation study</a:t>
            </a:r>
          </a:p>
        </p:txBody>
      </p:sp>
      <p:sp>
        <p:nvSpPr>
          <p:cNvPr id="20" name="TextBox 19"/>
          <p:cNvSpPr txBox="1"/>
          <p:nvPr/>
        </p:nvSpPr>
        <p:spPr>
          <a:xfrm>
            <a:off x="868680" y="5029200"/>
            <a:ext cx="10607040" cy="411480"/>
          </a:xfrm>
          <a:prstGeom prst="rect">
            <a:avLst/>
          </a:prstGeom>
          <a:noFill/>
        </p:spPr>
        <p:txBody>
          <a:bodyPr wrap="square" lIns="73152" tIns="27432" rIns="73152" bIns="27432">
            <a:spAutoFit/>
          </a:bodyPr>
          <a:lstStyle/>
          <a:p>
            <a:pPr algn="ctr">
              <a:defRPr sz="1500" b="0">
                <a:solidFill>
                  <a:srgbClr val="AAB6D3"/>
                </a:solidFill>
                <a:latin typeface="Aptos Display"/>
              </a:defRPr>
            </a:pPr>
            <a:r>
              <a:t>Ablation = remove or swap one part of the system to see how performance changes.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4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12280"/>
            <a:ext cx="12191695"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10896"/>
            <a:ext cx="2743200" cy="228600"/>
          </a:xfrm>
          <a:prstGeom prst="rect">
            <a:avLst/>
          </a:prstGeom>
          <a:noFill/>
        </p:spPr>
        <p:txBody>
          <a:bodyPr wrap="square" lIns="73152" tIns="27432" rIns="73152" bIns="27432">
            <a:spAutoFit/>
          </a:bodyPr>
          <a:lstStyle/>
          <a:p>
            <a:pPr algn="l">
              <a:defRPr sz="1000" b="1">
                <a:solidFill>
                  <a:srgbClr val="49D9FF"/>
                </a:solidFill>
                <a:latin typeface="Aptos Display"/>
              </a:defRPr>
            </a:pPr>
            <a:r>
              <a:t>PAPER • TECHNICAL</a:t>
            </a:r>
          </a:p>
        </p:txBody>
      </p:sp>
      <p:sp>
        <p:nvSpPr>
          <p:cNvPr id="6" name="TextBox 5"/>
          <p:cNvSpPr txBox="1"/>
          <p:nvPr/>
        </p:nvSpPr>
        <p:spPr>
          <a:xfrm>
            <a:off x="548640" y="502920"/>
            <a:ext cx="10972800" cy="502920"/>
          </a:xfrm>
          <a:prstGeom prst="rect">
            <a:avLst/>
          </a:prstGeom>
          <a:noFill/>
        </p:spPr>
        <p:txBody>
          <a:bodyPr wrap="square" lIns="73152" tIns="27432" rIns="73152" bIns="27432">
            <a:spAutoFit/>
          </a:bodyPr>
          <a:lstStyle/>
          <a:p>
            <a:pPr algn="l">
              <a:defRPr sz="3100" b="1">
                <a:solidFill>
                  <a:srgbClr val="F2F6FF"/>
                </a:solidFill>
                <a:latin typeface="Aptos Display"/>
              </a:defRPr>
            </a:pPr>
            <a:r>
              <a:t>Technical evaluation metrics</a:t>
            </a:r>
          </a:p>
        </p:txBody>
      </p:sp>
      <p:sp>
        <p:nvSpPr>
          <p:cNvPr id="7" name="TextBox 6"/>
          <p:cNvSpPr txBox="1"/>
          <p:nvPr/>
        </p:nvSpPr>
        <p:spPr>
          <a:xfrm>
            <a:off x="594360" y="1051560"/>
            <a:ext cx="10607040" cy="320040"/>
          </a:xfrm>
          <a:prstGeom prst="rect">
            <a:avLst/>
          </a:prstGeom>
          <a:noFill/>
        </p:spPr>
        <p:txBody>
          <a:bodyPr wrap="square" lIns="73152" tIns="27432" rIns="73152" bIns="27432">
            <a:spAutoFit/>
          </a:bodyPr>
          <a:lstStyle/>
          <a:p>
            <a:pPr algn="l">
              <a:defRPr sz="1500" b="0">
                <a:solidFill>
                  <a:srgbClr val="AAB6D3"/>
                </a:solidFill>
                <a:latin typeface="Aptos Display"/>
              </a:defRPr>
            </a:pPr>
            <a:r>
              <a:t>The paper’s structure makes it possible to evaluate both retrieval quality and answer quality.</a:t>
            </a:r>
          </a:p>
        </p:txBody>
      </p:sp>
      <p:sp>
        <p:nvSpPr>
          <p:cNvPr id="8" name="Rounded Rectangle 7"/>
          <p:cNvSpPr/>
          <p:nvPr/>
        </p:nvSpPr>
        <p:spPr>
          <a:xfrm>
            <a:off x="731520" y="1737360"/>
            <a:ext cx="4800600" cy="1417320"/>
          </a:xfrm>
          <a:prstGeom prst="roundRect">
            <a:avLst/>
          </a:prstGeom>
          <a:solidFill>
            <a:srgbClr val="101A33"/>
          </a:solidFill>
          <a:ln w="15240">
            <a:solidFill>
              <a:srgbClr val="49D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874519"/>
            <a:ext cx="4434840" cy="256032"/>
          </a:xfrm>
          <a:prstGeom prst="rect">
            <a:avLst/>
          </a:prstGeom>
          <a:noFill/>
        </p:spPr>
        <p:txBody>
          <a:bodyPr wrap="square" lIns="73152" tIns="27432" rIns="73152" bIns="27432">
            <a:spAutoFit/>
          </a:bodyPr>
          <a:lstStyle/>
          <a:p>
            <a:pPr algn="l">
              <a:defRPr sz="1800" b="1">
                <a:solidFill>
                  <a:srgbClr val="49D9FF"/>
                </a:solidFill>
                <a:latin typeface="Aptos Display"/>
              </a:defRPr>
            </a:pPr>
            <a:r>
              <a:t>Precision@K</a:t>
            </a:r>
          </a:p>
        </p:txBody>
      </p:sp>
      <p:sp>
        <p:nvSpPr>
          <p:cNvPr id="10" name="TextBox 9"/>
          <p:cNvSpPr txBox="1"/>
          <p:nvPr/>
        </p:nvSpPr>
        <p:spPr>
          <a:xfrm>
            <a:off x="914400" y="2221991"/>
            <a:ext cx="4434840" cy="320040"/>
          </a:xfrm>
          <a:prstGeom prst="rect">
            <a:avLst/>
          </a:prstGeom>
          <a:noFill/>
        </p:spPr>
        <p:txBody>
          <a:bodyPr wrap="square" lIns="73152" tIns="27432" rIns="73152" bIns="27432">
            <a:spAutoFit/>
          </a:bodyPr>
          <a:lstStyle/>
          <a:p>
            <a:pPr algn="l">
              <a:defRPr sz="1500" b="1">
                <a:solidFill>
                  <a:srgbClr val="F2F6FF"/>
                </a:solidFill>
                <a:latin typeface="Aptos Display"/>
              </a:defRPr>
            </a:pPr>
            <a:r>
              <a:t>relevant retrieved / K</a:t>
            </a:r>
          </a:p>
        </p:txBody>
      </p:sp>
      <p:sp>
        <p:nvSpPr>
          <p:cNvPr id="11" name="TextBox 10"/>
          <p:cNvSpPr txBox="1"/>
          <p:nvPr/>
        </p:nvSpPr>
        <p:spPr>
          <a:xfrm>
            <a:off x="914400" y="2596896"/>
            <a:ext cx="4434840" cy="411480"/>
          </a:xfrm>
          <a:prstGeom prst="rect">
            <a:avLst/>
          </a:prstGeom>
          <a:noFill/>
        </p:spPr>
        <p:txBody>
          <a:bodyPr wrap="square" lIns="73152" tIns="27432" rIns="73152" bIns="27432">
            <a:spAutoFit/>
          </a:bodyPr>
          <a:lstStyle/>
          <a:p>
            <a:pPr algn="l">
              <a:defRPr sz="1200" b="0">
                <a:solidFill>
                  <a:srgbClr val="AAB6D3"/>
                </a:solidFill>
                <a:latin typeface="Aptos Display"/>
              </a:defRPr>
            </a:pPr>
            <a:r>
              <a:t>Of the documents selected, how many were actually useful?</a:t>
            </a:r>
          </a:p>
        </p:txBody>
      </p:sp>
      <p:sp>
        <p:nvSpPr>
          <p:cNvPr id="12" name="Rounded Rectangle 11"/>
          <p:cNvSpPr/>
          <p:nvPr/>
        </p:nvSpPr>
        <p:spPr>
          <a:xfrm>
            <a:off x="6309359" y="1737360"/>
            <a:ext cx="4800600" cy="1417320"/>
          </a:xfrm>
          <a:prstGeom prst="roundRect">
            <a:avLst/>
          </a:prstGeom>
          <a:solidFill>
            <a:srgbClr val="101A33"/>
          </a:solidFill>
          <a:ln w="15240">
            <a:solidFill>
              <a:srgbClr val="5FF0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874519"/>
            <a:ext cx="4434840" cy="256032"/>
          </a:xfrm>
          <a:prstGeom prst="rect">
            <a:avLst/>
          </a:prstGeom>
          <a:noFill/>
        </p:spPr>
        <p:txBody>
          <a:bodyPr wrap="square" lIns="73152" tIns="27432" rIns="73152" bIns="27432">
            <a:spAutoFit/>
          </a:bodyPr>
          <a:lstStyle/>
          <a:p>
            <a:pPr algn="l">
              <a:defRPr sz="1800" b="1">
                <a:solidFill>
                  <a:srgbClr val="5FF0B2"/>
                </a:solidFill>
                <a:latin typeface="Aptos Display"/>
              </a:defRPr>
            </a:pPr>
            <a:r>
              <a:t>Recall@K</a:t>
            </a:r>
          </a:p>
        </p:txBody>
      </p:sp>
      <p:sp>
        <p:nvSpPr>
          <p:cNvPr id="14" name="TextBox 13"/>
          <p:cNvSpPr txBox="1"/>
          <p:nvPr/>
        </p:nvSpPr>
        <p:spPr>
          <a:xfrm>
            <a:off x="6492240" y="2221991"/>
            <a:ext cx="4434840" cy="320040"/>
          </a:xfrm>
          <a:prstGeom prst="rect">
            <a:avLst/>
          </a:prstGeom>
          <a:noFill/>
        </p:spPr>
        <p:txBody>
          <a:bodyPr wrap="square" lIns="73152" tIns="27432" rIns="73152" bIns="27432">
            <a:spAutoFit/>
          </a:bodyPr>
          <a:lstStyle/>
          <a:p>
            <a:pPr algn="l">
              <a:defRPr sz="1500" b="1">
                <a:solidFill>
                  <a:srgbClr val="F2F6FF"/>
                </a:solidFill>
                <a:latin typeface="Aptos Display"/>
              </a:defRPr>
            </a:pPr>
            <a:r>
              <a:t>relevant retrieved / total support</a:t>
            </a:r>
          </a:p>
        </p:txBody>
      </p:sp>
      <p:sp>
        <p:nvSpPr>
          <p:cNvPr id="15" name="TextBox 14"/>
          <p:cNvSpPr txBox="1"/>
          <p:nvPr/>
        </p:nvSpPr>
        <p:spPr>
          <a:xfrm>
            <a:off x="6492240" y="2596896"/>
            <a:ext cx="4434840" cy="411480"/>
          </a:xfrm>
          <a:prstGeom prst="rect">
            <a:avLst/>
          </a:prstGeom>
          <a:noFill/>
        </p:spPr>
        <p:txBody>
          <a:bodyPr wrap="square" lIns="73152" tIns="27432" rIns="73152" bIns="27432">
            <a:spAutoFit/>
          </a:bodyPr>
          <a:lstStyle/>
          <a:p>
            <a:pPr algn="l">
              <a:defRPr sz="1200" b="0">
                <a:solidFill>
                  <a:srgbClr val="AAB6D3"/>
                </a:solidFill>
                <a:latin typeface="Aptos Display"/>
              </a:defRPr>
            </a:pPr>
            <a:r>
              <a:t>Of the documents needed, how many did the system find?</a:t>
            </a:r>
          </a:p>
        </p:txBody>
      </p:sp>
      <p:sp>
        <p:nvSpPr>
          <p:cNvPr id="16" name="Rounded Rectangle 15"/>
          <p:cNvSpPr/>
          <p:nvPr/>
        </p:nvSpPr>
        <p:spPr>
          <a:xfrm>
            <a:off x="731520" y="3703320"/>
            <a:ext cx="4800600" cy="1417320"/>
          </a:xfrm>
          <a:prstGeom prst="roundRect">
            <a:avLst/>
          </a:prstGeom>
          <a:solidFill>
            <a:srgbClr val="101A33"/>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840480"/>
            <a:ext cx="4434840" cy="256032"/>
          </a:xfrm>
          <a:prstGeom prst="rect">
            <a:avLst/>
          </a:prstGeom>
          <a:noFill/>
        </p:spPr>
        <p:txBody>
          <a:bodyPr wrap="square" lIns="73152" tIns="27432" rIns="73152" bIns="27432">
            <a:spAutoFit/>
          </a:bodyPr>
          <a:lstStyle/>
          <a:p>
            <a:pPr algn="l">
              <a:defRPr sz="1800" b="1">
                <a:solidFill>
                  <a:srgbClr val="A78BFA"/>
                </a:solidFill>
                <a:latin typeface="Aptos Display"/>
              </a:defRPr>
            </a:pPr>
            <a:r>
              <a:t>MRR</a:t>
            </a:r>
          </a:p>
        </p:txBody>
      </p:sp>
      <p:sp>
        <p:nvSpPr>
          <p:cNvPr id="18" name="TextBox 17"/>
          <p:cNvSpPr txBox="1"/>
          <p:nvPr/>
        </p:nvSpPr>
        <p:spPr>
          <a:xfrm>
            <a:off x="914400" y="4187952"/>
            <a:ext cx="4434840" cy="320040"/>
          </a:xfrm>
          <a:prstGeom prst="rect">
            <a:avLst/>
          </a:prstGeom>
          <a:noFill/>
        </p:spPr>
        <p:txBody>
          <a:bodyPr wrap="square" lIns="73152" tIns="27432" rIns="73152" bIns="27432">
            <a:spAutoFit/>
          </a:bodyPr>
          <a:lstStyle/>
          <a:p>
            <a:pPr algn="l">
              <a:defRPr sz="1500" b="1">
                <a:solidFill>
                  <a:srgbClr val="F2F6FF"/>
                </a:solidFill>
                <a:latin typeface="Aptos Display"/>
              </a:defRPr>
            </a:pPr>
            <a:r>
              <a:t>1 / rank of first relevant doc</a:t>
            </a:r>
          </a:p>
        </p:txBody>
      </p:sp>
      <p:sp>
        <p:nvSpPr>
          <p:cNvPr id="19" name="TextBox 18"/>
          <p:cNvSpPr txBox="1"/>
          <p:nvPr/>
        </p:nvSpPr>
        <p:spPr>
          <a:xfrm>
            <a:off x="914400" y="4562856"/>
            <a:ext cx="4434840" cy="411480"/>
          </a:xfrm>
          <a:prstGeom prst="rect">
            <a:avLst/>
          </a:prstGeom>
          <a:noFill/>
        </p:spPr>
        <p:txBody>
          <a:bodyPr wrap="square" lIns="73152" tIns="27432" rIns="73152" bIns="27432">
            <a:spAutoFit/>
          </a:bodyPr>
          <a:lstStyle/>
          <a:p>
            <a:pPr algn="l">
              <a:defRPr sz="1200" b="0">
                <a:solidFill>
                  <a:srgbClr val="AAB6D3"/>
                </a:solidFill>
                <a:latin typeface="Aptos Display"/>
              </a:defRPr>
            </a:pPr>
            <a:r>
              <a:t>How early does the first useful document appear?</a:t>
            </a:r>
          </a:p>
        </p:txBody>
      </p:sp>
      <p:sp>
        <p:nvSpPr>
          <p:cNvPr id="20" name="Rounded Rectangle 19"/>
          <p:cNvSpPr/>
          <p:nvPr/>
        </p:nvSpPr>
        <p:spPr>
          <a:xfrm>
            <a:off x="6309359" y="3703320"/>
            <a:ext cx="4800600" cy="1417320"/>
          </a:xfrm>
          <a:prstGeom prst="roundRect">
            <a:avLst/>
          </a:prstGeom>
          <a:solidFill>
            <a:srgbClr val="101A33"/>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3840480"/>
            <a:ext cx="4434840" cy="256032"/>
          </a:xfrm>
          <a:prstGeom prst="rect">
            <a:avLst/>
          </a:prstGeom>
          <a:noFill/>
        </p:spPr>
        <p:txBody>
          <a:bodyPr wrap="square" lIns="73152" tIns="27432" rIns="73152" bIns="27432">
            <a:spAutoFit/>
          </a:bodyPr>
          <a:lstStyle/>
          <a:p>
            <a:pPr algn="l">
              <a:defRPr sz="1800" b="1">
                <a:solidFill>
                  <a:srgbClr val="FFD166"/>
                </a:solidFill>
                <a:latin typeface="Aptos Display"/>
              </a:defRPr>
            </a:pPr>
            <a:r>
              <a:t>Complete-support coverage</a:t>
            </a:r>
          </a:p>
        </p:txBody>
      </p:sp>
      <p:sp>
        <p:nvSpPr>
          <p:cNvPr id="22" name="TextBox 21"/>
          <p:cNvSpPr txBox="1"/>
          <p:nvPr/>
        </p:nvSpPr>
        <p:spPr>
          <a:xfrm>
            <a:off x="6492240" y="4187952"/>
            <a:ext cx="4434840" cy="320040"/>
          </a:xfrm>
          <a:prstGeom prst="rect">
            <a:avLst/>
          </a:prstGeom>
          <a:noFill/>
        </p:spPr>
        <p:txBody>
          <a:bodyPr wrap="square" lIns="73152" tIns="27432" rIns="73152" bIns="27432">
            <a:spAutoFit/>
          </a:bodyPr>
          <a:lstStyle/>
          <a:p>
            <a:pPr algn="l">
              <a:defRPr sz="1500" b="1">
                <a:solidFill>
                  <a:srgbClr val="F2F6FF"/>
                </a:solidFill>
                <a:latin typeface="Aptos Display"/>
              </a:defRPr>
            </a:pPr>
            <a:r>
              <a:t>all support docs in top K</a:t>
            </a:r>
          </a:p>
        </p:txBody>
      </p:sp>
      <p:sp>
        <p:nvSpPr>
          <p:cNvPr id="23" name="TextBox 22"/>
          <p:cNvSpPr txBox="1"/>
          <p:nvPr/>
        </p:nvSpPr>
        <p:spPr>
          <a:xfrm>
            <a:off x="6492240" y="4562856"/>
            <a:ext cx="4434840" cy="411480"/>
          </a:xfrm>
          <a:prstGeom prst="rect">
            <a:avLst/>
          </a:prstGeom>
          <a:noFill/>
        </p:spPr>
        <p:txBody>
          <a:bodyPr wrap="square" lIns="73152" tIns="27432" rIns="73152" bIns="27432">
            <a:spAutoFit/>
          </a:bodyPr>
          <a:lstStyle/>
          <a:p>
            <a:pPr algn="l">
              <a:defRPr sz="1200" b="0">
                <a:solidFill>
                  <a:srgbClr val="AAB6D3"/>
                </a:solidFill>
                <a:latin typeface="Aptos Display"/>
              </a:defRPr>
            </a:pPr>
            <a:r>
              <a:t>Did we retrieve every document needed for a full answer?</a:t>
            </a:r>
          </a:p>
        </p:txBody>
      </p:sp>
      <p:sp>
        <p:nvSpPr>
          <p:cNvPr id="24" name="TextBox 23"/>
          <p:cNvSpPr txBox="1"/>
          <p:nvPr/>
        </p:nvSpPr>
        <p:spPr>
          <a:xfrm>
            <a:off x="822960" y="5760720"/>
            <a:ext cx="10515600" cy="384048"/>
          </a:xfrm>
          <a:prstGeom prst="rect">
            <a:avLst/>
          </a:prstGeom>
          <a:noFill/>
        </p:spPr>
        <p:txBody>
          <a:bodyPr wrap="square" lIns="73152" tIns="27432" rIns="73152" bIns="27432">
            <a:spAutoFit/>
          </a:bodyPr>
          <a:lstStyle/>
          <a:p>
            <a:pPr algn="ctr">
              <a:defRPr sz="1600" b="1">
                <a:solidFill>
                  <a:srgbClr val="FFD166"/>
                </a:solidFill>
                <a:latin typeface="Aptos Display"/>
              </a:defRPr>
            </a:pPr>
            <a:r>
              <a:t>Key technical point: MRR can look high even if the second required support document is missing.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4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12280"/>
            <a:ext cx="12191695"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10896"/>
            <a:ext cx="2743200" cy="228600"/>
          </a:xfrm>
          <a:prstGeom prst="rect">
            <a:avLst/>
          </a:prstGeom>
          <a:noFill/>
        </p:spPr>
        <p:txBody>
          <a:bodyPr wrap="square" lIns="73152" tIns="27432" rIns="73152" bIns="27432">
            <a:spAutoFit/>
          </a:bodyPr>
          <a:lstStyle/>
          <a:p>
            <a:pPr algn="l">
              <a:defRPr sz="1000" b="1">
                <a:solidFill>
                  <a:srgbClr val="49D9FF"/>
                </a:solidFill>
                <a:latin typeface="Aptos Display"/>
              </a:defRPr>
            </a:pPr>
            <a:r>
              <a:t>PAPER • TECHNICAL</a:t>
            </a:r>
          </a:p>
        </p:txBody>
      </p:sp>
      <p:sp>
        <p:nvSpPr>
          <p:cNvPr id="6" name="TextBox 5"/>
          <p:cNvSpPr txBox="1"/>
          <p:nvPr/>
        </p:nvSpPr>
        <p:spPr>
          <a:xfrm>
            <a:off x="548640" y="502920"/>
            <a:ext cx="10972800" cy="502920"/>
          </a:xfrm>
          <a:prstGeom prst="rect">
            <a:avLst/>
          </a:prstGeom>
          <a:noFill/>
        </p:spPr>
        <p:txBody>
          <a:bodyPr wrap="square" lIns="73152" tIns="27432" rIns="73152" bIns="27432">
            <a:spAutoFit/>
          </a:bodyPr>
          <a:lstStyle/>
          <a:p>
            <a:pPr algn="l">
              <a:defRPr sz="3100" b="1">
                <a:solidFill>
                  <a:srgbClr val="F2F6FF"/>
                </a:solidFill>
                <a:latin typeface="Aptos Display"/>
              </a:defRPr>
            </a:pPr>
            <a:r>
              <a:t>Why cross-lingual RAG fails technically</a:t>
            </a:r>
          </a:p>
        </p:txBody>
      </p:sp>
      <p:sp>
        <p:nvSpPr>
          <p:cNvPr id="7" name="TextBox 6"/>
          <p:cNvSpPr txBox="1"/>
          <p:nvPr/>
        </p:nvSpPr>
        <p:spPr>
          <a:xfrm>
            <a:off x="594360" y="1051560"/>
            <a:ext cx="10607040" cy="320040"/>
          </a:xfrm>
          <a:prstGeom prst="rect">
            <a:avLst/>
          </a:prstGeom>
          <a:noFill/>
        </p:spPr>
        <p:txBody>
          <a:bodyPr wrap="square" lIns="73152" tIns="27432" rIns="73152" bIns="27432">
            <a:spAutoFit/>
          </a:bodyPr>
          <a:lstStyle/>
          <a:p>
            <a:pPr algn="l">
              <a:defRPr sz="1500" b="0">
                <a:solidFill>
                  <a:srgbClr val="AAB6D3"/>
                </a:solidFill>
                <a:latin typeface="Aptos Display"/>
              </a:defRPr>
            </a:pPr>
            <a:r>
              <a:t>XRAG is hard because errors can occur at several points in the pipeline.</a:t>
            </a:r>
          </a:p>
        </p:txBody>
      </p:sp>
      <p:sp>
        <p:nvSpPr>
          <p:cNvPr id="8" name="Oval 7"/>
          <p:cNvSpPr/>
          <p:nvPr/>
        </p:nvSpPr>
        <p:spPr>
          <a:xfrm>
            <a:off x="731520" y="1508760"/>
            <a:ext cx="438912" cy="438912"/>
          </a:xfrm>
          <a:prstGeom prst="ellipse">
            <a:avLst/>
          </a:prstGeom>
          <a:solidFill>
            <a:srgbClr val="4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45336"/>
            <a:ext cx="438912" cy="228600"/>
          </a:xfrm>
          <a:prstGeom prst="rect">
            <a:avLst/>
          </a:prstGeom>
          <a:noFill/>
        </p:spPr>
        <p:txBody>
          <a:bodyPr wrap="square" lIns="73152" tIns="27432" rIns="73152" bIns="27432">
            <a:spAutoFit/>
          </a:bodyPr>
          <a:lstStyle/>
          <a:p>
            <a:pPr algn="ctr">
              <a:defRPr sz="1300" b="1">
                <a:solidFill>
                  <a:srgbClr val="0B1020"/>
                </a:solidFill>
                <a:latin typeface="Aptos Display"/>
              </a:defRPr>
            </a:pPr>
            <a:r>
              <a:t>1</a:t>
            </a:r>
          </a:p>
        </p:txBody>
      </p:sp>
      <p:sp>
        <p:nvSpPr>
          <p:cNvPr id="10" name="Rounded Rectangle 9"/>
          <p:cNvSpPr/>
          <p:nvPr/>
        </p:nvSpPr>
        <p:spPr>
          <a:xfrm>
            <a:off x="1325880" y="1490472"/>
            <a:ext cx="9966960" cy="566928"/>
          </a:xfrm>
          <a:prstGeom prst="roundRect">
            <a:avLst/>
          </a:prstGeom>
          <a:solidFill>
            <a:srgbClr val="101A33"/>
          </a:solidFill>
          <a:ln w="15240">
            <a:solidFill>
              <a:srgbClr val="49D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08760" y="1572768"/>
            <a:ext cx="2606040" cy="228600"/>
          </a:xfrm>
          <a:prstGeom prst="rect">
            <a:avLst/>
          </a:prstGeom>
          <a:noFill/>
        </p:spPr>
        <p:txBody>
          <a:bodyPr wrap="square" lIns="73152" tIns="27432" rIns="73152" bIns="27432">
            <a:spAutoFit/>
          </a:bodyPr>
          <a:lstStyle/>
          <a:p>
            <a:pPr algn="l">
              <a:defRPr sz="1500" b="1">
                <a:solidFill>
                  <a:srgbClr val="49D9FF"/>
                </a:solidFill>
                <a:latin typeface="Aptos Display"/>
              </a:defRPr>
            </a:pPr>
            <a:r>
              <a:t>Retrieval miss</a:t>
            </a:r>
          </a:p>
        </p:txBody>
      </p:sp>
      <p:sp>
        <p:nvSpPr>
          <p:cNvPr id="12" name="TextBox 11"/>
          <p:cNvSpPr txBox="1"/>
          <p:nvPr/>
        </p:nvSpPr>
        <p:spPr>
          <a:xfrm>
            <a:off x="3886200" y="1581912"/>
            <a:ext cx="7086600" cy="256032"/>
          </a:xfrm>
          <a:prstGeom prst="rect">
            <a:avLst/>
          </a:prstGeom>
          <a:noFill/>
        </p:spPr>
        <p:txBody>
          <a:bodyPr wrap="square" lIns="73152" tIns="27432" rIns="73152" bIns="27432">
            <a:spAutoFit/>
          </a:bodyPr>
          <a:lstStyle/>
          <a:p>
            <a:pPr algn="l">
              <a:defRPr sz="1300" b="0">
                <a:solidFill>
                  <a:srgbClr val="F2F6FF"/>
                </a:solidFill>
                <a:latin typeface="Aptos Display"/>
              </a:defRPr>
            </a:pPr>
            <a:r>
              <a:t>The correct article is not ranked highly enough.</a:t>
            </a:r>
          </a:p>
        </p:txBody>
      </p:sp>
      <p:sp>
        <p:nvSpPr>
          <p:cNvPr id="13" name="Oval 12"/>
          <p:cNvSpPr/>
          <p:nvPr/>
        </p:nvSpPr>
        <p:spPr>
          <a:xfrm>
            <a:off x="731520" y="2313432"/>
            <a:ext cx="438912" cy="43891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350008"/>
            <a:ext cx="438912" cy="228600"/>
          </a:xfrm>
          <a:prstGeom prst="rect">
            <a:avLst/>
          </a:prstGeom>
          <a:noFill/>
        </p:spPr>
        <p:txBody>
          <a:bodyPr wrap="square" lIns="73152" tIns="27432" rIns="73152" bIns="27432">
            <a:spAutoFit/>
          </a:bodyPr>
          <a:lstStyle/>
          <a:p>
            <a:pPr algn="ctr">
              <a:defRPr sz="1300" b="1">
                <a:solidFill>
                  <a:srgbClr val="0B1020"/>
                </a:solidFill>
                <a:latin typeface="Aptos Display"/>
              </a:defRPr>
            </a:pPr>
            <a:r>
              <a:t>2</a:t>
            </a:r>
          </a:p>
        </p:txBody>
      </p:sp>
      <p:sp>
        <p:nvSpPr>
          <p:cNvPr id="15" name="Rounded Rectangle 14"/>
          <p:cNvSpPr/>
          <p:nvPr/>
        </p:nvSpPr>
        <p:spPr>
          <a:xfrm>
            <a:off x="1325880" y="2295144"/>
            <a:ext cx="9966960" cy="566928"/>
          </a:xfrm>
          <a:prstGeom prst="roundRect">
            <a:avLst/>
          </a:prstGeom>
          <a:solidFill>
            <a:srgbClr val="101A33"/>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08760" y="2377439"/>
            <a:ext cx="2606040" cy="228600"/>
          </a:xfrm>
          <a:prstGeom prst="rect">
            <a:avLst/>
          </a:prstGeom>
          <a:noFill/>
        </p:spPr>
        <p:txBody>
          <a:bodyPr wrap="square" lIns="73152" tIns="27432" rIns="73152" bIns="27432">
            <a:spAutoFit/>
          </a:bodyPr>
          <a:lstStyle/>
          <a:p>
            <a:pPr algn="l">
              <a:defRPr sz="1500" b="1">
                <a:solidFill>
                  <a:srgbClr val="A78BFA"/>
                </a:solidFill>
                <a:latin typeface="Aptos Display"/>
              </a:defRPr>
            </a:pPr>
            <a:r>
              <a:t>Distractor interference</a:t>
            </a:r>
          </a:p>
        </p:txBody>
      </p:sp>
      <p:sp>
        <p:nvSpPr>
          <p:cNvPr id="17" name="TextBox 16"/>
          <p:cNvSpPr txBox="1"/>
          <p:nvPr/>
        </p:nvSpPr>
        <p:spPr>
          <a:xfrm>
            <a:off x="3886200" y="2386584"/>
            <a:ext cx="7086600" cy="256032"/>
          </a:xfrm>
          <a:prstGeom prst="rect">
            <a:avLst/>
          </a:prstGeom>
          <a:noFill/>
        </p:spPr>
        <p:txBody>
          <a:bodyPr wrap="square" lIns="73152" tIns="27432" rIns="73152" bIns="27432">
            <a:spAutoFit/>
          </a:bodyPr>
          <a:lstStyle/>
          <a:p>
            <a:pPr algn="l">
              <a:defRPr sz="1300" b="0">
                <a:solidFill>
                  <a:srgbClr val="F2F6FF"/>
                </a:solidFill>
                <a:latin typeface="Aptos Display"/>
              </a:defRPr>
            </a:pPr>
            <a:r>
              <a:t>A related but wrong article competes with true evidence.</a:t>
            </a:r>
          </a:p>
        </p:txBody>
      </p:sp>
      <p:sp>
        <p:nvSpPr>
          <p:cNvPr id="18" name="Oval 17"/>
          <p:cNvSpPr/>
          <p:nvPr/>
        </p:nvSpPr>
        <p:spPr>
          <a:xfrm>
            <a:off x="731520" y="3118104"/>
            <a:ext cx="438912" cy="438912"/>
          </a:xfrm>
          <a:prstGeom prst="ellipse">
            <a:avLst/>
          </a:prstGeom>
          <a:solidFill>
            <a:srgbClr val="5FF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154680"/>
            <a:ext cx="438912" cy="228600"/>
          </a:xfrm>
          <a:prstGeom prst="rect">
            <a:avLst/>
          </a:prstGeom>
          <a:noFill/>
        </p:spPr>
        <p:txBody>
          <a:bodyPr wrap="square" lIns="73152" tIns="27432" rIns="73152" bIns="27432">
            <a:spAutoFit/>
          </a:bodyPr>
          <a:lstStyle/>
          <a:p>
            <a:pPr algn="ctr">
              <a:defRPr sz="1300" b="1">
                <a:solidFill>
                  <a:srgbClr val="0B1020"/>
                </a:solidFill>
                <a:latin typeface="Aptos Display"/>
              </a:defRPr>
            </a:pPr>
            <a:r>
              <a:t>3</a:t>
            </a:r>
          </a:p>
        </p:txBody>
      </p:sp>
      <p:sp>
        <p:nvSpPr>
          <p:cNvPr id="20" name="Rounded Rectangle 19"/>
          <p:cNvSpPr/>
          <p:nvPr/>
        </p:nvSpPr>
        <p:spPr>
          <a:xfrm>
            <a:off x="1325880" y="3099816"/>
            <a:ext cx="9966960" cy="566928"/>
          </a:xfrm>
          <a:prstGeom prst="roundRect">
            <a:avLst/>
          </a:prstGeom>
          <a:solidFill>
            <a:srgbClr val="101A33"/>
          </a:solidFill>
          <a:ln w="15240">
            <a:solidFill>
              <a:srgbClr val="5FF0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08760" y="3182112"/>
            <a:ext cx="2606040" cy="228600"/>
          </a:xfrm>
          <a:prstGeom prst="rect">
            <a:avLst/>
          </a:prstGeom>
          <a:noFill/>
        </p:spPr>
        <p:txBody>
          <a:bodyPr wrap="square" lIns="73152" tIns="27432" rIns="73152" bIns="27432">
            <a:spAutoFit/>
          </a:bodyPr>
          <a:lstStyle/>
          <a:p>
            <a:pPr algn="l">
              <a:defRPr sz="1500" b="1">
                <a:solidFill>
                  <a:srgbClr val="5FF0B2"/>
                </a:solidFill>
                <a:latin typeface="Aptos Display"/>
              </a:defRPr>
            </a:pPr>
            <a:r>
              <a:t>Cross-document gap</a:t>
            </a:r>
          </a:p>
        </p:txBody>
      </p:sp>
      <p:sp>
        <p:nvSpPr>
          <p:cNvPr id="22" name="TextBox 21"/>
          <p:cNvSpPr txBox="1"/>
          <p:nvPr/>
        </p:nvSpPr>
        <p:spPr>
          <a:xfrm>
            <a:off x="3886200" y="3191256"/>
            <a:ext cx="7086600" cy="256032"/>
          </a:xfrm>
          <a:prstGeom prst="rect">
            <a:avLst/>
          </a:prstGeom>
          <a:noFill/>
        </p:spPr>
        <p:txBody>
          <a:bodyPr wrap="square" lIns="73152" tIns="27432" rIns="73152" bIns="27432">
            <a:spAutoFit/>
          </a:bodyPr>
          <a:lstStyle/>
          <a:p>
            <a:pPr algn="l">
              <a:defRPr sz="1300" b="0">
                <a:solidFill>
                  <a:srgbClr val="F2F6FF"/>
                </a:solidFill>
                <a:latin typeface="Aptos Display"/>
              </a:defRPr>
            </a:pPr>
            <a:r>
              <a:t>The model uses one article but misses the second required fact.</a:t>
            </a:r>
          </a:p>
        </p:txBody>
      </p:sp>
      <p:sp>
        <p:nvSpPr>
          <p:cNvPr id="23" name="Oval 22"/>
          <p:cNvSpPr/>
          <p:nvPr/>
        </p:nvSpPr>
        <p:spPr>
          <a:xfrm>
            <a:off x="731520" y="3922776"/>
            <a:ext cx="438912" cy="438912"/>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959352"/>
            <a:ext cx="438912" cy="228600"/>
          </a:xfrm>
          <a:prstGeom prst="rect">
            <a:avLst/>
          </a:prstGeom>
          <a:noFill/>
        </p:spPr>
        <p:txBody>
          <a:bodyPr wrap="square" lIns="73152" tIns="27432" rIns="73152" bIns="27432">
            <a:spAutoFit/>
          </a:bodyPr>
          <a:lstStyle/>
          <a:p>
            <a:pPr algn="ctr">
              <a:defRPr sz="1300" b="1">
                <a:solidFill>
                  <a:srgbClr val="0B1020"/>
                </a:solidFill>
                <a:latin typeface="Aptos Display"/>
              </a:defRPr>
            </a:pPr>
            <a:r>
              <a:t>4</a:t>
            </a:r>
          </a:p>
        </p:txBody>
      </p:sp>
      <p:sp>
        <p:nvSpPr>
          <p:cNvPr id="25" name="Rounded Rectangle 24"/>
          <p:cNvSpPr/>
          <p:nvPr/>
        </p:nvSpPr>
        <p:spPr>
          <a:xfrm>
            <a:off x="1325880" y="3904488"/>
            <a:ext cx="9966960" cy="566928"/>
          </a:xfrm>
          <a:prstGeom prst="roundRect">
            <a:avLst/>
          </a:prstGeom>
          <a:solidFill>
            <a:srgbClr val="101A33"/>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508760" y="3986784"/>
            <a:ext cx="2606040" cy="228600"/>
          </a:xfrm>
          <a:prstGeom prst="rect">
            <a:avLst/>
          </a:prstGeom>
          <a:noFill/>
        </p:spPr>
        <p:txBody>
          <a:bodyPr wrap="square" lIns="73152" tIns="27432" rIns="73152" bIns="27432">
            <a:spAutoFit/>
          </a:bodyPr>
          <a:lstStyle/>
          <a:p>
            <a:pPr algn="l">
              <a:defRPr sz="1500" b="1">
                <a:solidFill>
                  <a:srgbClr val="FFD166"/>
                </a:solidFill>
                <a:latin typeface="Aptos Display"/>
              </a:defRPr>
            </a:pPr>
            <a:r>
              <a:t>Language drift</a:t>
            </a:r>
          </a:p>
        </p:txBody>
      </p:sp>
      <p:sp>
        <p:nvSpPr>
          <p:cNvPr id="27" name="TextBox 26"/>
          <p:cNvSpPr txBox="1"/>
          <p:nvPr/>
        </p:nvSpPr>
        <p:spPr>
          <a:xfrm>
            <a:off x="3886200" y="3995928"/>
            <a:ext cx="7086600" cy="256032"/>
          </a:xfrm>
          <a:prstGeom prst="rect">
            <a:avLst/>
          </a:prstGeom>
          <a:noFill/>
        </p:spPr>
        <p:txBody>
          <a:bodyPr wrap="square" lIns="73152" tIns="27432" rIns="73152" bIns="27432">
            <a:spAutoFit/>
          </a:bodyPr>
          <a:lstStyle/>
          <a:p>
            <a:pPr algn="l">
              <a:defRPr sz="1300" b="0">
                <a:solidFill>
                  <a:srgbClr val="F2F6FF"/>
                </a:solidFill>
                <a:latin typeface="Aptos Display"/>
              </a:defRPr>
            </a:pPr>
            <a:r>
              <a:t>The answer shifts toward the evidence language instead of the question language.</a:t>
            </a:r>
          </a:p>
        </p:txBody>
      </p:sp>
      <p:sp>
        <p:nvSpPr>
          <p:cNvPr id="28" name="Oval 27"/>
          <p:cNvSpPr/>
          <p:nvPr/>
        </p:nvSpPr>
        <p:spPr>
          <a:xfrm>
            <a:off x="731520" y="4727448"/>
            <a:ext cx="438912" cy="438912"/>
          </a:xfrm>
          <a:prstGeom prst="ellipse">
            <a:avLst/>
          </a:prstGeom>
          <a:solidFill>
            <a:srgbClr val="FF7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764024"/>
            <a:ext cx="438912" cy="228600"/>
          </a:xfrm>
          <a:prstGeom prst="rect">
            <a:avLst/>
          </a:prstGeom>
          <a:noFill/>
        </p:spPr>
        <p:txBody>
          <a:bodyPr wrap="square" lIns="73152" tIns="27432" rIns="73152" bIns="27432">
            <a:spAutoFit/>
          </a:bodyPr>
          <a:lstStyle/>
          <a:p>
            <a:pPr algn="ctr">
              <a:defRPr sz="1300" b="1">
                <a:solidFill>
                  <a:srgbClr val="0B1020"/>
                </a:solidFill>
                <a:latin typeface="Aptos Display"/>
              </a:defRPr>
            </a:pPr>
            <a:r>
              <a:t>5</a:t>
            </a:r>
          </a:p>
        </p:txBody>
      </p:sp>
      <p:sp>
        <p:nvSpPr>
          <p:cNvPr id="30" name="Rounded Rectangle 29"/>
          <p:cNvSpPr/>
          <p:nvPr/>
        </p:nvSpPr>
        <p:spPr>
          <a:xfrm>
            <a:off x="1325880" y="4709160"/>
            <a:ext cx="9966960" cy="566928"/>
          </a:xfrm>
          <a:prstGeom prst="roundRect">
            <a:avLst/>
          </a:prstGeom>
          <a:solidFill>
            <a:srgbClr val="101A33"/>
          </a:solidFill>
          <a:ln w="15240">
            <a:solidFill>
              <a:srgbClr val="FF7A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508760" y="4791456"/>
            <a:ext cx="2606040" cy="228600"/>
          </a:xfrm>
          <a:prstGeom prst="rect">
            <a:avLst/>
          </a:prstGeom>
          <a:noFill/>
        </p:spPr>
        <p:txBody>
          <a:bodyPr wrap="square" lIns="73152" tIns="27432" rIns="73152" bIns="27432">
            <a:spAutoFit/>
          </a:bodyPr>
          <a:lstStyle/>
          <a:p>
            <a:pPr algn="l">
              <a:defRPr sz="1500" b="1">
                <a:solidFill>
                  <a:srgbClr val="FF7A90"/>
                </a:solidFill>
                <a:latin typeface="Aptos Display"/>
              </a:defRPr>
            </a:pPr>
            <a:r>
              <a:t>Generation error</a:t>
            </a:r>
          </a:p>
        </p:txBody>
      </p:sp>
      <p:sp>
        <p:nvSpPr>
          <p:cNvPr id="32" name="TextBox 31"/>
          <p:cNvSpPr txBox="1"/>
          <p:nvPr/>
        </p:nvSpPr>
        <p:spPr>
          <a:xfrm>
            <a:off x="3886200" y="4800600"/>
            <a:ext cx="7086600" cy="256032"/>
          </a:xfrm>
          <a:prstGeom prst="rect">
            <a:avLst/>
          </a:prstGeom>
          <a:noFill/>
        </p:spPr>
        <p:txBody>
          <a:bodyPr wrap="square" lIns="73152" tIns="27432" rIns="73152" bIns="27432">
            <a:spAutoFit/>
          </a:bodyPr>
          <a:lstStyle/>
          <a:p>
            <a:pPr algn="l">
              <a:defRPr sz="1300" b="0">
                <a:solidFill>
                  <a:srgbClr val="F2F6FF"/>
                </a:solidFill>
                <a:latin typeface="Aptos Display"/>
              </a:defRPr>
            </a:pPr>
            <a:r>
              <a:t>The model adds unsupported claims or gives the wrong count.</a:t>
            </a:r>
          </a:p>
        </p:txBody>
      </p:sp>
      <p:sp>
        <p:nvSpPr>
          <p:cNvPr id="33" name="TextBox 32"/>
          <p:cNvSpPr txBox="1"/>
          <p:nvPr/>
        </p:nvSpPr>
        <p:spPr>
          <a:xfrm>
            <a:off x="868680" y="5833872"/>
            <a:ext cx="10424160" cy="411480"/>
          </a:xfrm>
          <a:prstGeom prst="rect">
            <a:avLst/>
          </a:prstGeom>
          <a:noFill/>
        </p:spPr>
        <p:txBody>
          <a:bodyPr wrap="square" lIns="73152" tIns="27432" rIns="73152" bIns="27432">
            <a:spAutoFit/>
          </a:bodyPr>
          <a:lstStyle/>
          <a:p>
            <a:pPr algn="ctr">
              <a:defRPr sz="1500" b="0">
                <a:solidFill>
                  <a:srgbClr val="AAB6D3"/>
                </a:solidFill>
                <a:latin typeface="Aptos Display"/>
              </a:defRPr>
            </a:pPr>
            <a:r>
              <a:t>This is why my project tests benchmarks first: the benchmark shows which failure point my own system must improve.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49D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12280"/>
            <a:ext cx="12191695"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10896"/>
            <a:ext cx="2743200" cy="228600"/>
          </a:xfrm>
          <a:prstGeom prst="rect">
            <a:avLst/>
          </a:prstGeom>
          <a:noFill/>
        </p:spPr>
        <p:txBody>
          <a:bodyPr wrap="square" lIns="73152" tIns="27432" rIns="73152" bIns="27432">
            <a:spAutoFit/>
          </a:bodyPr>
          <a:lstStyle/>
          <a:p>
            <a:pPr algn="l">
              <a:defRPr sz="1000" b="1">
                <a:solidFill>
                  <a:srgbClr val="49D9FF"/>
                </a:solidFill>
                <a:latin typeface="Aptos Display"/>
              </a:defRPr>
            </a:pPr>
            <a:r>
              <a:t>PROJECT • TECHNICAL</a:t>
            </a:r>
          </a:p>
        </p:txBody>
      </p:sp>
      <p:sp>
        <p:nvSpPr>
          <p:cNvPr id="6" name="TextBox 5"/>
          <p:cNvSpPr txBox="1"/>
          <p:nvPr/>
        </p:nvSpPr>
        <p:spPr>
          <a:xfrm>
            <a:off x="548640" y="502920"/>
            <a:ext cx="10972800" cy="502920"/>
          </a:xfrm>
          <a:prstGeom prst="rect">
            <a:avLst/>
          </a:prstGeom>
          <a:noFill/>
        </p:spPr>
        <p:txBody>
          <a:bodyPr wrap="square" lIns="73152" tIns="27432" rIns="73152" bIns="27432">
            <a:spAutoFit/>
          </a:bodyPr>
          <a:lstStyle/>
          <a:p>
            <a:pPr algn="l">
              <a:defRPr sz="3100" b="1">
                <a:solidFill>
                  <a:srgbClr val="F2F6FF"/>
                </a:solidFill>
                <a:latin typeface="Aptos Display"/>
              </a:defRPr>
            </a:pPr>
            <a:r>
              <a:t>How the paper becomes my system design</a:t>
            </a:r>
          </a:p>
        </p:txBody>
      </p:sp>
      <p:sp>
        <p:nvSpPr>
          <p:cNvPr id="7" name="TextBox 6"/>
          <p:cNvSpPr txBox="1"/>
          <p:nvPr/>
        </p:nvSpPr>
        <p:spPr>
          <a:xfrm>
            <a:off x="594360" y="1051560"/>
            <a:ext cx="10607040" cy="320040"/>
          </a:xfrm>
          <a:prstGeom prst="rect">
            <a:avLst/>
          </a:prstGeom>
          <a:noFill/>
        </p:spPr>
        <p:txBody>
          <a:bodyPr wrap="square" lIns="73152" tIns="27432" rIns="73152" bIns="27432">
            <a:spAutoFit/>
          </a:bodyPr>
          <a:lstStyle/>
          <a:p>
            <a:pPr algn="l">
              <a:defRPr sz="1500" b="0">
                <a:solidFill>
                  <a:srgbClr val="AAB6D3"/>
                </a:solidFill>
                <a:latin typeface="Aptos Display"/>
              </a:defRPr>
            </a:pPr>
            <a:r>
              <a:t>Benchmark testing comes first; system building comes next.</a:t>
            </a:r>
          </a:p>
        </p:txBody>
      </p:sp>
      <p:sp>
        <p:nvSpPr>
          <p:cNvPr id="8" name="Rounded Rectangle 7"/>
          <p:cNvSpPr/>
          <p:nvPr/>
        </p:nvSpPr>
        <p:spPr>
          <a:xfrm>
            <a:off x="411480" y="1828800"/>
            <a:ext cx="2011680" cy="1920240"/>
          </a:xfrm>
          <a:prstGeom prst="roundRect">
            <a:avLst/>
          </a:prstGeom>
          <a:solidFill>
            <a:srgbClr val="101A33"/>
          </a:solidFill>
          <a:ln w="15240">
            <a:solidFill>
              <a:srgbClr val="49D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993392"/>
            <a:ext cx="1828800" cy="320040"/>
          </a:xfrm>
          <a:prstGeom prst="rect">
            <a:avLst/>
          </a:prstGeom>
          <a:noFill/>
        </p:spPr>
        <p:txBody>
          <a:bodyPr wrap="square" lIns="73152" tIns="27432" rIns="73152" bIns="27432">
            <a:spAutoFit/>
          </a:bodyPr>
          <a:lstStyle/>
          <a:p>
            <a:pPr algn="ctr">
              <a:defRPr sz="1500" b="1">
                <a:solidFill>
                  <a:srgbClr val="49D9FF"/>
                </a:solidFill>
                <a:latin typeface="Aptos Display"/>
              </a:defRPr>
            </a:pPr>
            <a:r>
              <a:t>XRAG benchmark</a:t>
            </a:r>
          </a:p>
        </p:txBody>
      </p:sp>
      <p:sp>
        <p:nvSpPr>
          <p:cNvPr id="10" name="TextBox 9"/>
          <p:cNvSpPr txBox="1"/>
          <p:nvPr/>
        </p:nvSpPr>
        <p:spPr>
          <a:xfrm>
            <a:off x="594360" y="2468880"/>
            <a:ext cx="1645920" cy="685800"/>
          </a:xfrm>
          <a:prstGeom prst="rect">
            <a:avLst/>
          </a:prstGeom>
          <a:noFill/>
        </p:spPr>
        <p:txBody>
          <a:bodyPr wrap="square" lIns="73152" tIns="27432" rIns="73152" bIns="27432">
            <a:spAutoFit/>
          </a:bodyPr>
          <a:lstStyle/>
          <a:p>
            <a:pPr algn="ctr">
              <a:defRPr sz="1100" b="0">
                <a:solidFill>
                  <a:srgbClr val="F2F6FF"/>
                </a:solidFill>
                <a:latin typeface="Aptos Display"/>
              </a:defRPr>
            </a:pPr>
            <a:r>
              <a:t>Test current model behavior</a:t>
            </a:r>
          </a:p>
        </p:txBody>
      </p:sp>
      <p:cxnSp>
        <p:nvCxnSpPr>
          <p:cNvPr id="11" name="Connector 10"/>
          <p:cNvCxnSpPr/>
          <p:nvPr/>
        </p:nvCxnSpPr>
        <p:spPr>
          <a:xfrm>
            <a:off x="2423160" y="2761488"/>
            <a:ext cx="274320" cy="0"/>
          </a:xfrm>
          <a:prstGeom prst="line">
            <a:avLst/>
          </a:prstGeom>
          <a:ln w="25400">
            <a:solidFill>
              <a:srgbClr val="AAB6D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43200" y="1828800"/>
            <a:ext cx="2011680" cy="1920240"/>
          </a:xfrm>
          <a:prstGeom prst="roundRect">
            <a:avLst/>
          </a:prstGeom>
          <a:solidFill>
            <a:srgbClr val="101A33"/>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34640" y="1993392"/>
            <a:ext cx="1828800" cy="320040"/>
          </a:xfrm>
          <a:prstGeom prst="rect">
            <a:avLst/>
          </a:prstGeom>
          <a:noFill/>
        </p:spPr>
        <p:txBody>
          <a:bodyPr wrap="square" lIns="73152" tIns="27432" rIns="73152" bIns="27432">
            <a:spAutoFit/>
          </a:bodyPr>
          <a:lstStyle/>
          <a:p>
            <a:pPr algn="ctr">
              <a:defRPr sz="1500" b="1">
                <a:solidFill>
                  <a:srgbClr val="A78BFA"/>
                </a:solidFill>
                <a:latin typeface="Aptos Display"/>
              </a:defRPr>
            </a:pPr>
            <a:r>
              <a:t>Retriever</a:t>
            </a:r>
          </a:p>
        </p:txBody>
      </p:sp>
      <p:sp>
        <p:nvSpPr>
          <p:cNvPr id="14" name="TextBox 13"/>
          <p:cNvSpPr txBox="1"/>
          <p:nvPr/>
        </p:nvSpPr>
        <p:spPr>
          <a:xfrm>
            <a:off x="2926080" y="2468880"/>
            <a:ext cx="1645920" cy="685800"/>
          </a:xfrm>
          <a:prstGeom prst="rect">
            <a:avLst/>
          </a:prstGeom>
          <a:noFill/>
        </p:spPr>
        <p:txBody>
          <a:bodyPr wrap="square" lIns="73152" tIns="27432" rIns="73152" bIns="27432">
            <a:spAutoFit/>
          </a:bodyPr>
          <a:lstStyle/>
          <a:p>
            <a:pPr algn="ctr">
              <a:defRPr sz="1100" b="0">
                <a:solidFill>
                  <a:srgbClr val="F2F6FF"/>
                </a:solidFill>
                <a:latin typeface="Aptos Display"/>
              </a:defRPr>
            </a:pPr>
            <a:r>
              <a:t>BM25 / embeddings / hybrid</a:t>
            </a:r>
          </a:p>
        </p:txBody>
      </p:sp>
      <p:cxnSp>
        <p:nvCxnSpPr>
          <p:cNvPr id="15" name="Connector 14"/>
          <p:cNvCxnSpPr/>
          <p:nvPr/>
        </p:nvCxnSpPr>
        <p:spPr>
          <a:xfrm>
            <a:off x="4754880" y="2761488"/>
            <a:ext cx="274320" cy="0"/>
          </a:xfrm>
          <a:prstGeom prst="line">
            <a:avLst/>
          </a:prstGeom>
          <a:ln w="25400">
            <a:solidFill>
              <a:srgbClr val="AAB6D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74920" y="1828800"/>
            <a:ext cx="2011680" cy="1920240"/>
          </a:xfrm>
          <a:prstGeom prst="roundRect">
            <a:avLst/>
          </a:prstGeom>
          <a:solidFill>
            <a:srgbClr val="101A33"/>
          </a:solidFill>
          <a:ln w="15240">
            <a:solidFill>
              <a:srgbClr val="5FF0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66359" y="1993392"/>
            <a:ext cx="1828800" cy="320040"/>
          </a:xfrm>
          <a:prstGeom prst="rect">
            <a:avLst/>
          </a:prstGeom>
          <a:noFill/>
        </p:spPr>
        <p:txBody>
          <a:bodyPr wrap="square" lIns="73152" tIns="27432" rIns="73152" bIns="27432">
            <a:spAutoFit/>
          </a:bodyPr>
          <a:lstStyle/>
          <a:p>
            <a:pPr algn="ctr">
              <a:defRPr sz="1500" b="1">
                <a:solidFill>
                  <a:srgbClr val="5FF0B2"/>
                </a:solidFill>
                <a:latin typeface="Aptos Display"/>
              </a:defRPr>
            </a:pPr>
            <a:r>
              <a:t>Evidence filter</a:t>
            </a:r>
          </a:p>
        </p:txBody>
      </p:sp>
      <p:sp>
        <p:nvSpPr>
          <p:cNvPr id="18" name="TextBox 17"/>
          <p:cNvSpPr txBox="1"/>
          <p:nvPr/>
        </p:nvSpPr>
        <p:spPr>
          <a:xfrm>
            <a:off x="5257800" y="2468880"/>
            <a:ext cx="1645920" cy="685800"/>
          </a:xfrm>
          <a:prstGeom prst="rect">
            <a:avLst/>
          </a:prstGeom>
          <a:noFill/>
        </p:spPr>
        <p:txBody>
          <a:bodyPr wrap="square" lIns="73152" tIns="27432" rIns="73152" bIns="27432">
            <a:spAutoFit/>
          </a:bodyPr>
          <a:lstStyle/>
          <a:p>
            <a:pPr algn="ctr">
              <a:defRPr sz="1100" b="0">
                <a:solidFill>
                  <a:srgbClr val="F2F6FF"/>
                </a:solidFill>
                <a:latin typeface="Aptos Display"/>
              </a:defRPr>
            </a:pPr>
            <a:r>
              <a:t>Remove distractors and keep support</a:t>
            </a:r>
          </a:p>
        </p:txBody>
      </p:sp>
      <p:cxnSp>
        <p:nvCxnSpPr>
          <p:cNvPr id="19" name="Connector 18"/>
          <p:cNvCxnSpPr/>
          <p:nvPr/>
        </p:nvCxnSpPr>
        <p:spPr>
          <a:xfrm>
            <a:off x="7086600" y="2761488"/>
            <a:ext cx="274320" cy="0"/>
          </a:xfrm>
          <a:prstGeom prst="line">
            <a:avLst/>
          </a:prstGeom>
          <a:ln w="25400">
            <a:solidFill>
              <a:srgbClr val="AAB6D3"/>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06640" y="1828800"/>
            <a:ext cx="2011680" cy="1920240"/>
          </a:xfrm>
          <a:prstGeom prst="roundRect">
            <a:avLst/>
          </a:prstGeom>
          <a:solidFill>
            <a:srgbClr val="101A33"/>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1993392"/>
            <a:ext cx="1828800" cy="320040"/>
          </a:xfrm>
          <a:prstGeom prst="rect">
            <a:avLst/>
          </a:prstGeom>
          <a:noFill/>
        </p:spPr>
        <p:txBody>
          <a:bodyPr wrap="square" lIns="73152" tIns="27432" rIns="73152" bIns="27432">
            <a:spAutoFit/>
          </a:bodyPr>
          <a:lstStyle/>
          <a:p>
            <a:pPr algn="ctr">
              <a:defRPr sz="1500" b="1">
                <a:solidFill>
                  <a:srgbClr val="FFD166"/>
                </a:solidFill>
                <a:latin typeface="Aptos Display"/>
              </a:defRPr>
            </a:pPr>
            <a:r>
              <a:t>Generator</a:t>
            </a:r>
          </a:p>
        </p:txBody>
      </p:sp>
      <p:sp>
        <p:nvSpPr>
          <p:cNvPr id="22" name="TextBox 21"/>
          <p:cNvSpPr txBox="1"/>
          <p:nvPr/>
        </p:nvSpPr>
        <p:spPr>
          <a:xfrm>
            <a:off x="7589519" y="2468880"/>
            <a:ext cx="1645920" cy="685800"/>
          </a:xfrm>
          <a:prstGeom prst="rect">
            <a:avLst/>
          </a:prstGeom>
          <a:noFill/>
        </p:spPr>
        <p:txBody>
          <a:bodyPr wrap="square" lIns="73152" tIns="27432" rIns="73152" bIns="27432">
            <a:spAutoFit/>
          </a:bodyPr>
          <a:lstStyle/>
          <a:p>
            <a:pPr algn="ctr">
              <a:defRPr sz="1100" b="0">
                <a:solidFill>
                  <a:srgbClr val="F2F6FF"/>
                </a:solidFill>
                <a:latin typeface="Aptos Display"/>
              </a:defRPr>
            </a:pPr>
            <a:r>
              <a:t>LLM answers in question language</a:t>
            </a:r>
          </a:p>
        </p:txBody>
      </p:sp>
      <p:cxnSp>
        <p:nvCxnSpPr>
          <p:cNvPr id="23" name="Connector 22"/>
          <p:cNvCxnSpPr/>
          <p:nvPr/>
        </p:nvCxnSpPr>
        <p:spPr>
          <a:xfrm>
            <a:off x="9418320" y="2761488"/>
            <a:ext cx="274320" cy="0"/>
          </a:xfrm>
          <a:prstGeom prst="line">
            <a:avLst/>
          </a:prstGeom>
          <a:ln w="25400">
            <a:solidFill>
              <a:srgbClr val="AAB6D3"/>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738359" y="1828800"/>
            <a:ext cx="2011680" cy="1920240"/>
          </a:xfrm>
          <a:prstGeom prst="roundRect">
            <a:avLst/>
          </a:prstGeom>
          <a:solidFill>
            <a:srgbClr val="101A33"/>
          </a:solidFill>
          <a:ln w="15240">
            <a:solidFill>
              <a:srgbClr val="FF7A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29799" y="1993392"/>
            <a:ext cx="1828800" cy="320040"/>
          </a:xfrm>
          <a:prstGeom prst="rect">
            <a:avLst/>
          </a:prstGeom>
          <a:noFill/>
        </p:spPr>
        <p:txBody>
          <a:bodyPr wrap="square" lIns="73152" tIns="27432" rIns="73152" bIns="27432">
            <a:spAutoFit/>
          </a:bodyPr>
          <a:lstStyle/>
          <a:p>
            <a:pPr algn="ctr">
              <a:defRPr sz="1500" b="1">
                <a:solidFill>
                  <a:srgbClr val="FF7A90"/>
                </a:solidFill>
                <a:latin typeface="Aptos Display"/>
              </a:defRPr>
            </a:pPr>
            <a:r>
              <a:t>Evaluator</a:t>
            </a:r>
          </a:p>
        </p:txBody>
      </p:sp>
      <p:sp>
        <p:nvSpPr>
          <p:cNvPr id="26" name="TextBox 25"/>
          <p:cNvSpPr txBox="1"/>
          <p:nvPr/>
        </p:nvSpPr>
        <p:spPr>
          <a:xfrm>
            <a:off x="9921239" y="2468880"/>
            <a:ext cx="1645920" cy="685800"/>
          </a:xfrm>
          <a:prstGeom prst="rect">
            <a:avLst/>
          </a:prstGeom>
          <a:noFill/>
        </p:spPr>
        <p:txBody>
          <a:bodyPr wrap="square" lIns="73152" tIns="27432" rIns="73152" bIns="27432">
            <a:spAutoFit/>
          </a:bodyPr>
          <a:lstStyle/>
          <a:p>
            <a:pPr algn="ctr">
              <a:defRPr sz="1100" b="0">
                <a:solidFill>
                  <a:srgbClr val="F2F6FF"/>
                </a:solidFill>
                <a:latin typeface="Aptos Display"/>
              </a:defRPr>
            </a:pPr>
            <a:r>
              <a:t>Score correctness + unsupported info</a:t>
            </a:r>
          </a:p>
        </p:txBody>
      </p:sp>
      <p:sp>
        <p:nvSpPr>
          <p:cNvPr id="27" name="TextBox 26"/>
          <p:cNvSpPr txBox="1"/>
          <p:nvPr/>
        </p:nvSpPr>
        <p:spPr>
          <a:xfrm>
            <a:off x="777240" y="4343400"/>
            <a:ext cx="10789920" cy="320040"/>
          </a:xfrm>
          <a:prstGeom prst="rect">
            <a:avLst/>
          </a:prstGeom>
          <a:noFill/>
        </p:spPr>
        <p:txBody>
          <a:bodyPr wrap="square" lIns="73152" tIns="27432" rIns="73152" bIns="27432">
            <a:spAutoFit/>
          </a:bodyPr>
          <a:lstStyle/>
          <a:p>
            <a:pPr algn="ctr">
              <a:defRPr sz="1900" b="1">
                <a:solidFill>
                  <a:srgbClr val="F2F6FF"/>
                </a:solidFill>
                <a:latin typeface="Aptos Display"/>
              </a:defRPr>
            </a:pPr>
            <a:r>
              <a:t>Current project framing</a:t>
            </a:r>
          </a:p>
        </p:txBody>
      </p:sp>
      <p:sp>
        <p:nvSpPr>
          <p:cNvPr id="28" name="TextBox 27"/>
          <p:cNvSpPr txBox="1"/>
          <p:nvPr/>
        </p:nvSpPr>
        <p:spPr>
          <a:xfrm>
            <a:off x="914400" y="4800600"/>
            <a:ext cx="10424160" cy="502920"/>
          </a:xfrm>
          <a:prstGeom prst="rect">
            <a:avLst/>
          </a:prstGeom>
          <a:noFill/>
        </p:spPr>
        <p:txBody>
          <a:bodyPr wrap="square" lIns="73152" tIns="27432" rIns="73152" bIns="27432">
            <a:spAutoFit/>
          </a:bodyPr>
          <a:lstStyle/>
          <a:p>
            <a:pPr algn="ctr">
              <a:defRPr sz="1600" b="1">
                <a:solidFill>
                  <a:srgbClr val="49D9FF"/>
                </a:solidFill>
                <a:latin typeface="Aptos Display"/>
              </a:defRPr>
            </a:pPr>
            <a:r>
              <a:t>Phase 1: test benchmarks like XRAG → Phase 2: build my own multilingual RAG system using the failure patterns I find.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Performance bounds</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The paper first asks: do models need retrieval?</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68680" y="1234440"/>
          <a:ext cx="5166360" cy="2971800"/>
        </p:xfrm>
        <a:graphic>
          <a:graphicData uri="http://schemas.openxmlformats.org/drawingml/2006/table">
            <a:tbl>
              <a:tblPr/>
              <a:tblGrid>
                <a:gridCol w="22402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495300">
                <a:tc>
                  <a:txBody>
                    <a:bodyPr/>
                    <a:lstStyle/>
                    <a:p>
                      <a:pPr marL="0" indent="0">
                        <a:buNone/>
                      </a:pPr>
                      <a:r>
                        <a:rPr lang="en-US" sz="1150" b="1" dirty="0">
                          <a:solidFill>
                            <a:srgbClr val="F4F7FB"/>
                          </a:solidFill>
                        </a:rPr>
                        <a:t>Model</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150" b="1" dirty="0">
                          <a:solidFill>
                            <a:srgbClr val="F4F7FB"/>
                          </a:solidFill>
                        </a:rPr>
                        <a:t>No retrieval</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150" b="1" dirty="0">
                          <a:solidFill>
                            <a:srgbClr val="F4F7FB"/>
                          </a:solidFill>
                        </a:rPr>
                        <a:t>Oracle retrieval</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extLst>
                  <a:ext uri="{0D108BD9-81ED-4DB2-BD59-A6C34878D82A}">
                    <a16:rowId xmlns:a16="http://schemas.microsoft.com/office/drawing/2014/main" val="10000"/>
                  </a:ext>
                </a:extLst>
              </a:tr>
              <a:tr h="495300">
                <a:tc>
                  <a:txBody>
                    <a:bodyPr/>
                    <a:lstStyle/>
                    <a:p>
                      <a:pPr marL="0" indent="0">
                        <a:buNone/>
                      </a:pPr>
                      <a:r>
                        <a:rPr lang="en-US" sz="1150" dirty="0">
                          <a:solidFill>
                            <a:srgbClr val="A6B5CD"/>
                          </a:solidFill>
                        </a:rPr>
                        <a:t>GPT-4o</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6.3%</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75.4%</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1"/>
                  </a:ext>
                </a:extLst>
              </a:tr>
              <a:tr h="495300">
                <a:tc>
                  <a:txBody>
                    <a:bodyPr/>
                    <a:lstStyle/>
                    <a:p>
                      <a:pPr marL="0" indent="0">
                        <a:buNone/>
                      </a:pPr>
                      <a:r>
                        <a:rPr lang="en-US" sz="1150" dirty="0">
                          <a:solidFill>
                            <a:srgbClr val="A6B5CD"/>
                          </a:solidFill>
                        </a:rPr>
                        <a:t>Claude Sonnet 3.5</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11.7%</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67.6%</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2"/>
                  </a:ext>
                </a:extLst>
              </a:tr>
              <a:tr h="495300">
                <a:tc>
                  <a:txBody>
                    <a:bodyPr/>
                    <a:lstStyle/>
                    <a:p>
                      <a:pPr marL="0" indent="0">
                        <a:buNone/>
                      </a:pPr>
                      <a:r>
                        <a:rPr lang="en-US" sz="1150" dirty="0">
                          <a:solidFill>
                            <a:srgbClr val="A6B5CD"/>
                          </a:solidFill>
                        </a:rPr>
                        <a:t>Mistral-Large</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15.2%</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66.4%</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3"/>
                  </a:ext>
                </a:extLst>
              </a:tr>
              <a:tr h="495300">
                <a:tc>
                  <a:txBody>
                    <a:bodyPr/>
                    <a:lstStyle/>
                    <a:p>
                      <a:pPr marL="0" indent="0">
                        <a:buNone/>
                      </a:pPr>
                      <a:r>
                        <a:rPr lang="en-US" sz="1150" dirty="0">
                          <a:solidFill>
                            <a:srgbClr val="A6B5CD"/>
                          </a:solidFill>
                        </a:rPr>
                        <a:t>Command-R+</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15.3%</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63.5%</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4"/>
                  </a:ext>
                </a:extLst>
              </a:tr>
              <a:tr h="495300">
                <a:tc>
                  <a:txBody>
                    <a:bodyPr/>
                    <a:lstStyle/>
                    <a:p>
                      <a:pPr marL="0" indent="0">
                        <a:buNone/>
                      </a:pPr>
                      <a:r>
                        <a:rPr lang="en-US" sz="1150" dirty="0">
                          <a:solidFill>
                            <a:srgbClr val="A6B5CD"/>
                          </a:solidFill>
                        </a:rPr>
                        <a:t>Nova-Pro</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13.7%</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50" dirty="0">
                          <a:solidFill>
                            <a:srgbClr val="A6B5CD"/>
                          </a:solidFill>
                        </a:rPr>
                        <a:t>68.2%</a:t>
                      </a:r>
                      <a:endParaRPr lang="en-US" sz="115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5"/>
                  </a:ext>
                </a:extLst>
              </a:tr>
            </a:tbl>
          </a:graphicData>
        </a:graphic>
      </p:graphicFrame>
      <p:sp>
        <p:nvSpPr>
          <p:cNvPr id="8" name="Shape 5"/>
          <p:cNvSpPr/>
          <p:nvPr/>
        </p:nvSpPr>
        <p:spPr>
          <a:xfrm>
            <a:off x="6537960" y="1325880"/>
            <a:ext cx="4297680" cy="1097280"/>
          </a:xfrm>
          <a:prstGeom prst="roundRect">
            <a:avLst>
              <a:gd name="adj" fmla="val 5833"/>
            </a:avLst>
          </a:prstGeom>
          <a:solidFill>
            <a:srgbClr val="11192D"/>
          </a:solidFill>
          <a:ln w="12700">
            <a:solidFill>
              <a:srgbClr val="405378"/>
            </a:solidFill>
            <a:prstDash val="solid"/>
          </a:ln>
        </p:spPr>
        <p:txBody>
          <a:bodyPr/>
          <a:lstStyle/>
          <a:p>
            <a:endParaRPr/>
          </a:p>
        </p:txBody>
      </p:sp>
      <p:sp>
        <p:nvSpPr>
          <p:cNvPr id="9" name="Shape 6"/>
          <p:cNvSpPr/>
          <p:nvPr/>
        </p:nvSpPr>
        <p:spPr>
          <a:xfrm>
            <a:off x="6537960" y="1325880"/>
            <a:ext cx="100584" cy="1097280"/>
          </a:xfrm>
          <a:prstGeom prst="rect">
            <a:avLst/>
          </a:prstGeom>
          <a:solidFill>
            <a:srgbClr val="22D3EE"/>
          </a:solidFill>
          <a:ln w="12700">
            <a:solidFill>
              <a:srgbClr val="22D3EE"/>
            </a:solidFill>
            <a:prstDash val="solid"/>
          </a:ln>
        </p:spPr>
        <p:txBody>
          <a:bodyPr/>
          <a:lstStyle/>
          <a:p>
            <a:endParaRPr/>
          </a:p>
        </p:txBody>
      </p:sp>
      <p:sp>
        <p:nvSpPr>
          <p:cNvPr id="10" name="Text 7"/>
          <p:cNvSpPr/>
          <p:nvPr/>
        </p:nvSpPr>
        <p:spPr>
          <a:xfrm>
            <a:off x="6766560" y="1490472"/>
            <a:ext cx="3977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Interpretation 1</a:t>
            </a:r>
            <a:endParaRPr lang="en-US" sz="1220" dirty="0"/>
          </a:p>
        </p:txBody>
      </p:sp>
      <p:sp>
        <p:nvSpPr>
          <p:cNvPr id="11" name="Text 8"/>
          <p:cNvSpPr/>
          <p:nvPr/>
        </p:nvSpPr>
        <p:spPr>
          <a:xfrm>
            <a:off x="6766560" y="1856232"/>
            <a:ext cx="3913632" cy="43891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No-retrieval scores below 16% show that XRAG questions are not easy memory questions.</a:t>
            </a:r>
            <a:endParaRPr lang="en-US" sz="1020" dirty="0"/>
          </a:p>
        </p:txBody>
      </p:sp>
      <p:sp>
        <p:nvSpPr>
          <p:cNvPr id="12" name="Shape 9"/>
          <p:cNvSpPr/>
          <p:nvPr/>
        </p:nvSpPr>
        <p:spPr>
          <a:xfrm>
            <a:off x="6537960" y="2697480"/>
            <a:ext cx="4297680" cy="1097280"/>
          </a:xfrm>
          <a:prstGeom prst="roundRect">
            <a:avLst>
              <a:gd name="adj" fmla="val 5833"/>
            </a:avLst>
          </a:prstGeom>
          <a:solidFill>
            <a:srgbClr val="11192D"/>
          </a:solidFill>
          <a:ln w="12700">
            <a:solidFill>
              <a:srgbClr val="405378"/>
            </a:solidFill>
            <a:prstDash val="solid"/>
          </a:ln>
        </p:spPr>
        <p:txBody>
          <a:bodyPr/>
          <a:lstStyle/>
          <a:p>
            <a:endParaRPr/>
          </a:p>
        </p:txBody>
      </p:sp>
      <p:sp>
        <p:nvSpPr>
          <p:cNvPr id="13" name="Shape 10"/>
          <p:cNvSpPr/>
          <p:nvPr/>
        </p:nvSpPr>
        <p:spPr>
          <a:xfrm>
            <a:off x="6537960" y="2697480"/>
            <a:ext cx="100584" cy="1097280"/>
          </a:xfrm>
          <a:prstGeom prst="rect">
            <a:avLst/>
          </a:prstGeom>
          <a:solidFill>
            <a:srgbClr val="22D3EE"/>
          </a:solidFill>
          <a:ln w="12700">
            <a:solidFill>
              <a:srgbClr val="22D3EE"/>
            </a:solidFill>
            <a:prstDash val="solid"/>
          </a:ln>
        </p:spPr>
        <p:txBody>
          <a:bodyPr/>
          <a:lstStyle/>
          <a:p>
            <a:endParaRPr/>
          </a:p>
        </p:txBody>
      </p:sp>
      <p:sp>
        <p:nvSpPr>
          <p:cNvPr id="14" name="Text 11"/>
          <p:cNvSpPr/>
          <p:nvPr/>
        </p:nvSpPr>
        <p:spPr>
          <a:xfrm>
            <a:off x="6766560" y="2862072"/>
            <a:ext cx="3977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Interpretation 2</a:t>
            </a:r>
            <a:endParaRPr lang="en-US" sz="1220" dirty="0"/>
          </a:p>
        </p:txBody>
      </p:sp>
      <p:sp>
        <p:nvSpPr>
          <p:cNvPr id="7" name="Text 12"/>
          <p:cNvSpPr/>
          <p:nvPr/>
        </p:nvSpPr>
        <p:spPr>
          <a:xfrm>
            <a:off x="6766560" y="3227832"/>
            <a:ext cx="3913632" cy="43891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Even with oracle support, the best model reaches 75.4%, below human performance.</a:t>
            </a:r>
            <a:endParaRPr lang="en-US" sz="1020" dirty="0"/>
          </a:p>
        </p:txBody>
      </p:sp>
      <p:sp>
        <p:nvSpPr>
          <p:cNvPr id="16" name="Shape 13"/>
          <p:cNvSpPr/>
          <p:nvPr/>
        </p:nvSpPr>
        <p:spPr>
          <a:xfrm>
            <a:off x="6537960" y="4069080"/>
            <a:ext cx="4297680" cy="1097280"/>
          </a:xfrm>
          <a:prstGeom prst="roundRect">
            <a:avLst>
              <a:gd name="adj" fmla="val 5833"/>
            </a:avLst>
          </a:prstGeom>
          <a:solidFill>
            <a:srgbClr val="11192D"/>
          </a:solidFill>
          <a:ln w="12700">
            <a:solidFill>
              <a:srgbClr val="405378"/>
            </a:solidFill>
            <a:prstDash val="solid"/>
          </a:ln>
        </p:spPr>
        <p:txBody>
          <a:bodyPr/>
          <a:lstStyle/>
          <a:p>
            <a:endParaRPr/>
          </a:p>
        </p:txBody>
      </p:sp>
      <p:sp>
        <p:nvSpPr>
          <p:cNvPr id="17" name="Shape 14"/>
          <p:cNvSpPr/>
          <p:nvPr/>
        </p:nvSpPr>
        <p:spPr>
          <a:xfrm>
            <a:off x="6537960" y="4069080"/>
            <a:ext cx="100584" cy="1097280"/>
          </a:xfrm>
          <a:prstGeom prst="rect">
            <a:avLst/>
          </a:prstGeom>
          <a:solidFill>
            <a:srgbClr val="22D3EE"/>
          </a:solidFill>
          <a:ln w="12700">
            <a:solidFill>
              <a:srgbClr val="22D3EE"/>
            </a:solidFill>
            <a:prstDash val="solid"/>
          </a:ln>
        </p:spPr>
        <p:txBody>
          <a:bodyPr/>
          <a:lstStyle/>
          <a:p>
            <a:endParaRPr/>
          </a:p>
        </p:txBody>
      </p:sp>
      <p:sp>
        <p:nvSpPr>
          <p:cNvPr id="18" name="Text 15"/>
          <p:cNvSpPr/>
          <p:nvPr/>
        </p:nvSpPr>
        <p:spPr>
          <a:xfrm>
            <a:off x="6766560" y="4233672"/>
            <a:ext cx="3977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Interpretation 3</a:t>
            </a:r>
            <a:endParaRPr lang="en-US" sz="1220" dirty="0"/>
          </a:p>
        </p:txBody>
      </p:sp>
      <p:sp>
        <p:nvSpPr>
          <p:cNvPr id="19" name="Text 16"/>
          <p:cNvSpPr/>
          <p:nvPr/>
        </p:nvSpPr>
        <p:spPr>
          <a:xfrm>
            <a:off x="6766560" y="4599432"/>
            <a:ext cx="3913632" cy="43891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XRAG tests reasoning difficulty, not only language difficulty.</a:t>
            </a:r>
            <a:endParaRPr lang="en-US" sz="1020" dirty="0"/>
          </a:p>
        </p:txBody>
      </p:sp>
      <p:sp>
        <p:nvSpPr>
          <p:cNvPr id="20" name="Text 17"/>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Table 3 and Section 5.2.</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Human upper bound</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XRAG is challenging even before cross-lingual complexity.</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Text 5"/>
          <p:cNvSpPr/>
          <p:nvPr/>
        </p:nvSpPr>
        <p:spPr>
          <a:xfrm>
            <a:off x="1188720" y="1554480"/>
            <a:ext cx="1645920" cy="50292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2800" b="1" dirty="0">
                <a:solidFill>
                  <a:srgbClr val="F4F7FB"/>
                </a:solidFill>
              </a:rPr>
              <a:t>85%</a:t>
            </a:r>
            <a:endParaRPr lang="en-US" sz="2800" dirty="0"/>
          </a:p>
        </p:txBody>
      </p:sp>
      <p:sp>
        <p:nvSpPr>
          <p:cNvPr id="8" name="Text 6"/>
          <p:cNvSpPr/>
          <p:nvPr/>
        </p:nvSpPr>
        <p:spPr>
          <a:xfrm>
            <a:off x="1097280" y="2121408"/>
            <a:ext cx="1828800" cy="32004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850" b="1" dirty="0">
                <a:solidFill>
                  <a:srgbClr val="22D3EE"/>
                </a:solidFill>
              </a:rPr>
              <a:t>human performance on 200 English questions</a:t>
            </a:r>
            <a:endParaRPr lang="en-US" sz="850" dirty="0"/>
          </a:p>
        </p:txBody>
      </p:sp>
      <p:sp>
        <p:nvSpPr>
          <p:cNvPr id="9" name="Text 7"/>
          <p:cNvSpPr/>
          <p:nvPr/>
        </p:nvSpPr>
        <p:spPr>
          <a:xfrm>
            <a:off x="3886200" y="1554480"/>
            <a:ext cx="1645920" cy="50292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2800" b="1" dirty="0">
                <a:solidFill>
                  <a:srgbClr val="F4F7FB"/>
                </a:solidFill>
              </a:rPr>
              <a:t>75.4%</a:t>
            </a:r>
            <a:endParaRPr lang="en-US" sz="2800" dirty="0"/>
          </a:p>
        </p:txBody>
      </p:sp>
      <p:sp>
        <p:nvSpPr>
          <p:cNvPr id="10" name="Text 8"/>
          <p:cNvSpPr/>
          <p:nvPr/>
        </p:nvSpPr>
        <p:spPr>
          <a:xfrm>
            <a:off x="3794760" y="2121408"/>
            <a:ext cx="1828800" cy="32004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850" b="1" dirty="0">
                <a:solidFill>
                  <a:srgbClr val="22D3EE"/>
                </a:solidFill>
              </a:rPr>
              <a:t>best LLM oracle-retrieval score in Table 3</a:t>
            </a:r>
            <a:endParaRPr lang="en-US" sz="850" dirty="0"/>
          </a:p>
        </p:txBody>
      </p:sp>
      <p:sp>
        <p:nvSpPr>
          <p:cNvPr id="11" name="Text 9"/>
          <p:cNvSpPr/>
          <p:nvPr/>
        </p:nvSpPr>
        <p:spPr>
          <a:xfrm>
            <a:off x="6537960" y="1554480"/>
            <a:ext cx="1645920" cy="50292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2800" b="1" dirty="0">
                <a:solidFill>
                  <a:srgbClr val="F4F7FB"/>
                </a:solidFill>
              </a:rPr>
              <a:t>92%</a:t>
            </a:r>
            <a:endParaRPr lang="en-US" sz="2800" dirty="0"/>
          </a:p>
        </p:txBody>
      </p:sp>
      <p:sp>
        <p:nvSpPr>
          <p:cNvPr id="12" name="Text 10"/>
          <p:cNvSpPr/>
          <p:nvPr/>
        </p:nvSpPr>
        <p:spPr>
          <a:xfrm>
            <a:off x="6446520" y="2121408"/>
            <a:ext cx="1828800" cy="320040"/>
          </a:xfrm>
          <a:prstGeom prst="rect">
            <a:avLst/>
          </a:prstGeom>
          <a:solidFill>
            <a:srgbClr val="11192D"/>
          </a:solidFill>
          <a:ln>
            <a:solidFill>
              <a:srgbClr val="405378"/>
            </a:solidFill>
          </a:ln>
        </p:spPr>
        <p:txBody>
          <a:bodyPr wrap="square" lIns="0" tIns="0" rIns="0" bIns="0" rtlCol="0" anchor="ctr"/>
          <a:lstStyle/>
          <a:p>
            <a:pPr marL="0" indent="0" algn="ctr">
              <a:buNone/>
            </a:pPr>
            <a:r>
              <a:rPr lang="en-US" sz="850" b="1" dirty="0">
                <a:solidFill>
                  <a:srgbClr val="22D3EE"/>
                </a:solidFill>
              </a:rPr>
              <a:t>upper bound allowing for noisy / ambiguous questions</a:t>
            </a:r>
            <a:endParaRPr lang="en-US" sz="850" dirty="0"/>
          </a:p>
        </p:txBody>
      </p:sp>
      <p:sp>
        <p:nvSpPr>
          <p:cNvPr id="13" name="Shape 11"/>
          <p:cNvSpPr/>
          <p:nvPr/>
        </p:nvSpPr>
        <p:spPr>
          <a:xfrm>
            <a:off x="9006840" y="1325880"/>
            <a:ext cx="2240280" cy="1828800"/>
          </a:xfrm>
          <a:prstGeom prst="roundRect">
            <a:avLst>
              <a:gd name="adj" fmla="val 3500"/>
            </a:avLst>
          </a:prstGeom>
          <a:solidFill>
            <a:srgbClr val="11192D"/>
          </a:solidFill>
          <a:ln w="12700">
            <a:solidFill>
              <a:srgbClr val="405378"/>
            </a:solidFill>
            <a:prstDash val="solid"/>
          </a:ln>
        </p:spPr>
        <p:txBody>
          <a:bodyPr/>
          <a:lstStyle/>
          <a:p>
            <a:endParaRPr/>
          </a:p>
        </p:txBody>
      </p:sp>
      <p:sp>
        <p:nvSpPr>
          <p:cNvPr id="14" name="Shape 12"/>
          <p:cNvSpPr/>
          <p:nvPr/>
        </p:nvSpPr>
        <p:spPr>
          <a:xfrm>
            <a:off x="9006840" y="1325880"/>
            <a:ext cx="100584" cy="1828800"/>
          </a:xfrm>
          <a:prstGeom prst="rect">
            <a:avLst/>
          </a:prstGeom>
          <a:solidFill>
            <a:srgbClr val="22D3EE"/>
          </a:solidFill>
          <a:ln w="12700">
            <a:solidFill>
              <a:srgbClr val="22D3EE"/>
            </a:solidFill>
            <a:prstDash val="solid"/>
          </a:ln>
        </p:spPr>
        <p:txBody>
          <a:bodyPr/>
          <a:lstStyle/>
          <a:p>
            <a:endParaRPr/>
          </a:p>
        </p:txBody>
      </p:sp>
      <p:sp>
        <p:nvSpPr>
          <p:cNvPr id="15" name="Text 13"/>
          <p:cNvSpPr/>
          <p:nvPr/>
        </p:nvSpPr>
        <p:spPr>
          <a:xfrm>
            <a:off x="9235440" y="1490472"/>
            <a:ext cx="19202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Meaning</a:t>
            </a:r>
            <a:endParaRPr lang="en-US" sz="1220" dirty="0"/>
          </a:p>
        </p:txBody>
      </p:sp>
      <p:sp>
        <p:nvSpPr>
          <p:cNvPr id="16" name="Text 14"/>
          <p:cNvSpPr/>
          <p:nvPr/>
        </p:nvSpPr>
        <p:spPr>
          <a:xfrm>
            <a:off x="9235440" y="1856232"/>
            <a:ext cx="1856232" cy="11704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Humans still outperform LLMs on XRAG, so the benchmark tests complex reasoning, not only translation.</a:t>
            </a:r>
            <a:endParaRPr lang="en-US" sz="1020" dirty="0"/>
          </a:p>
        </p:txBody>
      </p:sp>
      <p:sp>
        <p:nvSpPr>
          <p:cNvPr id="17" name="Shape 15"/>
          <p:cNvSpPr/>
          <p:nvPr/>
        </p:nvSpPr>
        <p:spPr>
          <a:xfrm>
            <a:off x="1234440" y="4069080"/>
            <a:ext cx="9601200" cy="822960"/>
          </a:xfrm>
          <a:prstGeom prst="roundRect">
            <a:avLst>
              <a:gd name="adj" fmla="val 7778"/>
            </a:avLst>
          </a:prstGeom>
          <a:solidFill>
            <a:srgbClr val="11192D"/>
          </a:solidFill>
          <a:ln w="12700">
            <a:solidFill>
              <a:srgbClr val="405378"/>
            </a:solidFill>
            <a:prstDash val="solid"/>
          </a:ln>
        </p:spPr>
        <p:txBody>
          <a:bodyPr/>
          <a:lstStyle/>
          <a:p>
            <a:endParaRPr/>
          </a:p>
        </p:txBody>
      </p:sp>
      <p:sp>
        <p:nvSpPr>
          <p:cNvPr id="18" name="Text 16"/>
          <p:cNvSpPr/>
          <p:nvPr/>
        </p:nvSpPr>
        <p:spPr>
          <a:xfrm>
            <a:off x="1600200" y="4315968"/>
            <a:ext cx="8869680" cy="292608"/>
          </a:xfrm>
          <a:prstGeom prst="rect">
            <a:avLst/>
          </a:prstGeom>
          <a:solidFill>
            <a:srgbClr val="11192D"/>
          </a:solidFill>
          <a:ln>
            <a:solidFill>
              <a:srgbClr val="405378"/>
            </a:solidFill>
          </a:ln>
        </p:spPr>
        <p:txBody>
          <a:bodyPr wrap="square" rtlCol="0" anchor="ctr"/>
          <a:lstStyle/>
          <a:p>
            <a:pPr marL="0" indent="0" algn="ctr">
              <a:buNone/>
            </a:pPr>
            <a:r>
              <a:rPr lang="en-US" sz="1400" b="1" dirty="0">
                <a:solidFill>
                  <a:srgbClr val="F4F7FB"/>
                </a:solidFill>
              </a:rPr>
              <a:t>This is one reason XRAG is a strong foundation for my project: it leaves room to study where RAG systems fail.</a:t>
            </a:r>
            <a:endParaRPr lang="en-US" sz="1400" dirty="0"/>
          </a:p>
        </p:txBody>
      </p:sp>
      <p:sp>
        <p:nvSpPr>
          <p:cNvPr id="19" name="Text 17"/>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Section 5.2: performance upper bounds.</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Paper result: monolingual retrieval</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Non-English question + English documents.</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68680" y="1325880"/>
          <a:ext cx="4114800" cy="2932176"/>
        </p:xfrm>
        <a:graphic>
          <a:graphicData uri="http://schemas.openxmlformats.org/drawingml/2006/table">
            <a:tbl>
              <a:tblPr/>
              <a:tblGrid>
                <a:gridCol w="23317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tblGrid>
              <a:tr h="487680">
                <a:tc>
                  <a:txBody>
                    <a:bodyPr/>
                    <a:lstStyle/>
                    <a:p>
                      <a:pPr marL="0" indent="0">
                        <a:buNone/>
                      </a:pPr>
                      <a:r>
                        <a:rPr lang="en-US" sz="1200" b="1" dirty="0">
                          <a:solidFill>
                            <a:srgbClr val="F4F7FB"/>
                          </a:solidFill>
                        </a:rPr>
                        <a:t>Model</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200" b="1" dirty="0">
                          <a:solidFill>
                            <a:srgbClr val="F4F7FB"/>
                          </a:solidFill>
                        </a:rPr>
                        <a:t>Avg. cross-lingual accuracy</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extLst>
                  <a:ext uri="{0D108BD9-81ED-4DB2-BD59-A6C34878D82A}">
                    <a16:rowId xmlns:a16="http://schemas.microsoft.com/office/drawing/2014/main" val="10000"/>
                  </a:ext>
                </a:extLst>
              </a:tr>
              <a:tr h="487680">
                <a:tc>
                  <a:txBody>
                    <a:bodyPr/>
                    <a:lstStyle/>
                    <a:p>
                      <a:pPr marL="0" indent="0">
                        <a:buNone/>
                      </a:pPr>
                      <a:r>
                        <a:rPr lang="en-US" sz="1200" dirty="0">
                          <a:solidFill>
                            <a:srgbClr val="A6B5CD"/>
                          </a:solidFill>
                        </a:rPr>
                        <a:t>GPT-4o</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55.50%</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1"/>
                  </a:ext>
                </a:extLst>
              </a:tr>
              <a:tr h="487680">
                <a:tc>
                  <a:txBody>
                    <a:bodyPr/>
                    <a:lstStyle/>
                    <a:p>
                      <a:pPr marL="0" indent="0">
                        <a:buNone/>
                      </a:pPr>
                      <a:r>
                        <a:rPr lang="en-US" sz="1200" dirty="0">
                          <a:solidFill>
                            <a:srgbClr val="A6B5CD"/>
                          </a:solidFill>
                        </a:rPr>
                        <a:t>Claude 3.5</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38.40%</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2"/>
                  </a:ext>
                </a:extLst>
              </a:tr>
              <a:tr h="487680">
                <a:tc>
                  <a:txBody>
                    <a:bodyPr/>
                    <a:lstStyle/>
                    <a:p>
                      <a:pPr marL="0" indent="0">
                        <a:buNone/>
                      </a:pPr>
                      <a:r>
                        <a:rPr lang="en-US" sz="1200" dirty="0">
                          <a:solidFill>
                            <a:srgbClr val="A6B5CD"/>
                          </a:solidFill>
                        </a:rPr>
                        <a:t>Mistral-large</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31.40%</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3"/>
                  </a:ext>
                </a:extLst>
              </a:tr>
              <a:tr h="487680">
                <a:tc>
                  <a:txBody>
                    <a:bodyPr/>
                    <a:lstStyle/>
                    <a:p>
                      <a:pPr marL="0" indent="0">
                        <a:buNone/>
                      </a:pPr>
                      <a:r>
                        <a:rPr lang="en-US" sz="1200" dirty="0">
                          <a:solidFill>
                            <a:srgbClr val="A6B5CD"/>
                          </a:solidFill>
                        </a:rPr>
                        <a:t>Command-R+</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37.30%</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4"/>
                  </a:ext>
                </a:extLst>
              </a:tr>
              <a:tr h="487680">
                <a:tc>
                  <a:txBody>
                    <a:bodyPr/>
                    <a:lstStyle/>
                    <a:p>
                      <a:pPr marL="0" indent="0">
                        <a:buNone/>
                      </a:pPr>
                      <a:r>
                        <a:rPr lang="en-US" sz="1200" dirty="0">
                          <a:solidFill>
                            <a:srgbClr val="A6B5CD"/>
                          </a:solidFill>
                        </a:rPr>
                        <a:t>Nova-Pro</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41.43%</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5"/>
                  </a:ext>
                </a:extLst>
              </a:tr>
            </a:tbl>
          </a:graphicData>
        </a:graphic>
      </p:graphicFrame>
      <p:sp>
        <p:nvSpPr>
          <p:cNvPr id="8" name="Shape 5"/>
          <p:cNvSpPr/>
          <p:nvPr/>
        </p:nvSpPr>
        <p:spPr>
          <a:xfrm>
            <a:off x="5623560" y="1325880"/>
            <a:ext cx="5349240" cy="1005840"/>
          </a:xfrm>
          <a:prstGeom prst="roundRect">
            <a:avLst>
              <a:gd name="adj" fmla="val 6364"/>
            </a:avLst>
          </a:prstGeom>
          <a:solidFill>
            <a:srgbClr val="11192D"/>
          </a:solidFill>
          <a:ln w="12700">
            <a:solidFill>
              <a:srgbClr val="405378"/>
            </a:solidFill>
            <a:prstDash val="solid"/>
          </a:ln>
        </p:spPr>
        <p:txBody>
          <a:bodyPr/>
          <a:lstStyle/>
          <a:p>
            <a:endParaRPr/>
          </a:p>
        </p:txBody>
      </p:sp>
      <p:sp>
        <p:nvSpPr>
          <p:cNvPr id="9" name="Shape 6"/>
          <p:cNvSpPr/>
          <p:nvPr/>
        </p:nvSpPr>
        <p:spPr>
          <a:xfrm>
            <a:off x="5623560" y="1325880"/>
            <a:ext cx="100584" cy="1005840"/>
          </a:xfrm>
          <a:prstGeom prst="rect">
            <a:avLst/>
          </a:prstGeom>
          <a:solidFill>
            <a:srgbClr val="22D3EE"/>
          </a:solidFill>
          <a:ln w="12700">
            <a:solidFill>
              <a:srgbClr val="22D3EE"/>
            </a:solidFill>
            <a:prstDash val="solid"/>
          </a:ln>
        </p:spPr>
        <p:txBody>
          <a:bodyPr/>
          <a:lstStyle/>
          <a:p>
            <a:endParaRPr/>
          </a:p>
        </p:txBody>
      </p:sp>
      <p:sp>
        <p:nvSpPr>
          <p:cNvPr id="10" name="Text 7"/>
          <p:cNvSpPr/>
          <p:nvPr/>
        </p:nvSpPr>
        <p:spPr>
          <a:xfrm>
            <a:off x="5852160" y="1490472"/>
            <a:ext cx="502920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Key finding</a:t>
            </a:r>
            <a:endParaRPr lang="en-US" sz="1220" dirty="0"/>
          </a:p>
        </p:txBody>
      </p:sp>
      <p:sp>
        <p:nvSpPr>
          <p:cNvPr id="11" name="Text 8"/>
          <p:cNvSpPr/>
          <p:nvPr/>
        </p:nvSpPr>
        <p:spPr>
          <a:xfrm>
            <a:off x="5852160" y="1856232"/>
            <a:ext cx="4965192" cy="34747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All models struggle in this setting, even though the evidence documents are in English.</a:t>
            </a:r>
            <a:endParaRPr lang="en-US" sz="1020" dirty="0"/>
          </a:p>
        </p:txBody>
      </p:sp>
      <p:sp>
        <p:nvSpPr>
          <p:cNvPr id="12" name="Shape 9"/>
          <p:cNvSpPr/>
          <p:nvPr/>
        </p:nvSpPr>
        <p:spPr>
          <a:xfrm>
            <a:off x="5623560" y="2651760"/>
            <a:ext cx="5349240" cy="1005840"/>
          </a:xfrm>
          <a:prstGeom prst="roundRect">
            <a:avLst>
              <a:gd name="adj" fmla="val 6364"/>
            </a:avLst>
          </a:prstGeom>
          <a:solidFill>
            <a:srgbClr val="11192D"/>
          </a:solidFill>
          <a:ln w="12700">
            <a:solidFill>
              <a:srgbClr val="405378"/>
            </a:solidFill>
            <a:prstDash val="solid"/>
          </a:ln>
        </p:spPr>
        <p:txBody>
          <a:bodyPr/>
          <a:lstStyle/>
          <a:p>
            <a:endParaRPr/>
          </a:p>
        </p:txBody>
      </p:sp>
      <p:sp>
        <p:nvSpPr>
          <p:cNvPr id="13" name="Shape 10"/>
          <p:cNvSpPr/>
          <p:nvPr/>
        </p:nvSpPr>
        <p:spPr>
          <a:xfrm>
            <a:off x="5623560" y="2651760"/>
            <a:ext cx="100584" cy="1005840"/>
          </a:xfrm>
          <a:prstGeom prst="rect">
            <a:avLst/>
          </a:prstGeom>
          <a:solidFill>
            <a:srgbClr val="22D3EE"/>
          </a:solidFill>
          <a:ln w="12700">
            <a:solidFill>
              <a:srgbClr val="22D3EE"/>
            </a:solidFill>
            <a:prstDash val="solid"/>
          </a:ln>
        </p:spPr>
        <p:txBody>
          <a:bodyPr/>
          <a:lstStyle/>
          <a:p>
            <a:endParaRPr/>
          </a:p>
        </p:txBody>
      </p:sp>
      <p:sp>
        <p:nvSpPr>
          <p:cNvPr id="14" name="Text 11"/>
          <p:cNvSpPr/>
          <p:nvPr/>
        </p:nvSpPr>
        <p:spPr>
          <a:xfrm>
            <a:off x="5852160" y="2816352"/>
            <a:ext cx="502920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Response Language Correctness</a:t>
            </a:r>
            <a:endParaRPr lang="en-US" sz="1220" dirty="0"/>
          </a:p>
        </p:txBody>
      </p:sp>
      <p:sp>
        <p:nvSpPr>
          <p:cNvPr id="15" name="Text 12"/>
          <p:cNvSpPr/>
          <p:nvPr/>
        </p:nvSpPr>
        <p:spPr>
          <a:xfrm>
            <a:off x="5852160" y="3182112"/>
            <a:ext cx="4965192" cy="34747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Models sometimes answer in English instead of the user’s language.</a:t>
            </a:r>
            <a:endParaRPr lang="en-US" sz="1020" dirty="0"/>
          </a:p>
        </p:txBody>
      </p:sp>
      <p:sp>
        <p:nvSpPr>
          <p:cNvPr id="16" name="Shape 13"/>
          <p:cNvSpPr/>
          <p:nvPr/>
        </p:nvSpPr>
        <p:spPr>
          <a:xfrm>
            <a:off x="5623560" y="3977640"/>
            <a:ext cx="5349240" cy="1005840"/>
          </a:xfrm>
          <a:prstGeom prst="roundRect">
            <a:avLst>
              <a:gd name="adj" fmla="val 6364"/>
            </a:avLst>
          </a:prstGeom>
          <a:solidFill>
            <a:srgbClr val="11192D"/>
          </a:solidFill>
          <a:ln w="12700">
            <a:solidFill>
              <a:srgbClr val="405378"/>
            </a:solidFill>
            <a:prstDash val="solid"/>
          </a:ln>
        </p:spPr>
        <p:txBody>
          <a:bodyPr/>
          <a:lstStyle/>
          <a:p>
            <a:endParaRPr/>
          </a:p>
        </p:txBody>
      </p:sp>
      <p:sp>
        <p:nvSpPr>
          <p:cNvPr id="7" name="Shape 14"/>
          <p:cNvSpPr/>
          <p:nvPr/>
        </p:nvSpPr>
        <p:spPr>
          <a:xfrm>
            <a:off x="5623560" y="3977640"/>
            <a:ext cx="100584" cy="1005840"/>
          </a:xfrm>
          <a:prstGeom prst="rect">
            <a:avLst/>
          </a:prstGeom>
          <a:solidFill>
            <a:srgbClr val="22D3EE"/>
          </a:solidFill>
          <a:ln w="12700">
            <a:solidFill>
              <a:srgbClr val="22D3EE"/>
            </a:solidFill>
            <a:prstDash val="solid"/>
          </a:ln>
        </p:spPr>
        <p:txBody>
          <a:bodyPr/>
          <a:lstStyle/>
          <a:p>
            <a:endParaRPr/>
          </a:p>
        </p:txBody>
      </p:sp>
      <p:sp>
        <p:nvSpPr>
          <p:cNvPr id="18" name="Text 15"/>
          <p:cNvSpPr/>
          <p:nvPr/>
        </p:nvSpPr>
        <p:spPr>
          <a:xfrm>
            <a:off x="5852160" y="4142232"/>
            <a:ext cx="502920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Why it matters</a:t>
            </a:r>
            <a:endParaRPr lang="en-US" sz="1220" dirty="0"/>
          </a:p>
        </p:txBody>
      </p:sp>
      <p:sp>
        <p:nvSpPr>
          <p:cNvPr id="19" name="Text 16"/>
          <p:cNvSpPr/>
          <p:nvPr/>
        </p:nvSpPr>
        <p:spPr>
          <a:xfrm>
            <a:off x="5852160" y="4507992"/>
            <a:ext cx="4965192" cy="34747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A cross-lingual RAG system must not only understand English evidence; it must answer in the user’s language.</a:t>
            </a:r>
            <a:endParaRPr lang="en-US" sz="1020" dirty="0"/>
          </a:p>
        </p:txBody>
      </p:sp>
      <p:sp>
        <p:nvSpPr>
          <p:cNvPr id="20" name="Text 17"/>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Table 4 and Figure 5.</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Paper result: multilingual retrieval</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Question language + English evidence mixed together.</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68680" y="1325880"/>
          <a:ext cx="4114800" cy="2932176"/>
        </p:xfrm>
        <a:graphic>
          <a:graphicData uri="http://schemas.openxmlformats.org/drawingml/2006/table">
            <a:tbl>
              <a:tblPr/>
              <a:tblGrid>
                <a:gridCol w="23317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tblGrid>
              <a:tr h="487680">
                <a:tc>
                  <a:txBody>
                    <a:bodyPr/>
                    <a:lstStyle/>
                    <a:p>
                      <a:pPr marL="0" indent="0">
                        <a:buNone/>
                      </a:pPr>
                      <a:r>
                        <a:rPr lang="en-US" sz="1200" b="1" dirty="0">
                          <a:solidFill>
                            <a:srgbClr val="F4F7FB"/>
                          </a:solidFill>
                        </a:rPr>
                        <a:t>Model</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200" b="1" dirty="0">
                          <a:solidFill>
                            <a:srgbClr val="F4F7FB"/>
                          </a:solidFill>
                        </a:rPr>
                        <a:t>Avg. cross-lingual accuracy</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extLst>
                  <a:ext uri="{0D108BD9-81ED-4DB2-BD59-A6C34878D82A}">
                    <a16:rowId xmlns:a16="http://schemas.microsoft.com/office/drawing/2014/main" val="10000"/>
                  </a:ext>
                </a:extLst>
              </a:tr>
              <a:tr h="487680">
                <a:tc>
                  <a:txBody>
                    <a:bodyPr/>
                    <a:lstStyle/>
                    <a:p>
                      <a:pPr marL="0" indent="0">
                        <a:buNone/>
                      </a:pPr>
                      <a:r>
                        <a:rPr lang="en-US" sz="1200" dirty="0">
                          <a:solidFill>
                            <a:srgbClr val="A6B5CD"/>
                          </a:solidFill>
                        </a:rPr>
                        <a:t>GPT-4o</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57.58%</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1"/>
                  </a:ext>
                </a:extLst>
              </a:tr>
              <a:tr h="487680">
                <a:tc>
                  <a:txBody>
                    <a:bodyPr/>
                    <a:lstStyle/>
                    <a:p>
                      <a:pPr marL="0" indent="0">
                        <a:buNone/>
                      </a:pPr>
                      <a:r>
                        <a:rPr lang="en-US" sz="1200" dirty="0">
                          <a:solidFill>
                            <a:srgbClr val="A6B5CD"/>
                          </a:solidFill>
                        </a:rPr>
                        <a:t>Claude 3.5</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44.00%</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2"/>
                  </a:ext>
                </a:extLst>
              </a:tr>
              <a:tr h="487680">
                <a:tc>
                  <a:txBody>
                    <a:bodyPr/>
                    <a:lstStyle/>
                    <a:p>
                      <a:pPr marL="0" indent="0">
                        <a:buNone/>
                      </a:pPr>
                      <a:r>
                        <a:rPr lang="en-US" sz="1200" dirty="0">
                          <a:solidFill>
                            <a:srgbClr val="A6B5CD"/>
                          </a:solidFill>
                        </a:rPr>
                        <a:t>Mistral-large</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37.67%</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3"/>
                  </a:ext>
                </a:extLst>
              </a:tr>
              <a:tr h="487680">
                <a:tc>
                  <a:txBody>
                    <a:bodyPr/>
                    <a:lstStyle/>
                    <a:p>
                      <a:pPr marL="0" indent="0">
                        <a:buNone/>
                      </a:pPr>
                      <a:r>
                        <a:rPr lang="en-US" sz="1200" dirty="0">
                          <a:solidFill>
                            <a:srgbClr val="A6B5CD"/>
                          </a:solidFill>
                        </a:rPr>
                        <a:t>Command-R+</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37.17%</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4"/>
                  </a:ext>
                </a:extLst>
              </a:tr>
              <a:tr h="487680">
                <a:tc>
                  <a:txBody>
                    <a:bodyPr/>
                    <a:lstStyle/>
                    <a:p>
                      <a:pPr marL="0" indent="0">
                        <a:buNone/>
                      </a:pPr>
                      <a:r>
                        <a:rPr lang="en-US" sz="1200" dirty="0">
                          <a:solidFill>
                            <a:srgbClr val="A6B5CD"/>
                          </a:solidFill>
                        </a:rPr>
                        <a:t>Nova-Pro</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00" dirty="0">
                          <a:solidFill>
                            <a:srgbClr val="A6B5CD"/>
                          </a:solidFill>
                        </a:rPr>
                        <a:t>48.08%</a:t>
                      </a:r>
                      <a:endParaRPr lang="en-US" sz="120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5"/>
                  </a:ext>
                </a:extLst>
              </a:tr>
            </a:tbl>
          </a:graphicData>
        </a:graphic>
      </p:graphicFrame>
      <p:sp>
        <p:nvSpPr>
          <p:cNvPr id="8" name="Shape 5"/>
          <p:cNvSpPr/>
          <p:nvPr/>
        </p:nvSpPr>
        <p:spPr>
          <a:xfrm>
            <a:off x="5623560" y="1234440"/>
            <a:ext cx="534924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9" name="Shape 6"/>
          <p:cNvSpPr/>
          <p:nvPr/>
        </p:nvSpPr>
        <p:spPr>
          <a:xfrm>
            <a:off x="5623560" y="1234440"/>
            <a:ext cx="100584" cy="1143000"/>
          </a:xfrm>
          <a:prstGeom prst="rect">
            <a:avLst/>
          </a:prstGeom>
          <a:solidFill>
            <a:srgbClr val="22D3EE"/>
          </a:solidFill>
          <a:ln w="12700">
            <a:solidFill>
              <a:srgbClr val="22D3EE"/>
            </a:solidFill>
            <a:prstDash val="solid"/>
          </a:ln>
        </p:spPr>
        <p:txBody>
          <a:bodyPr/>
          <a:lstStyle/>
          <a:p>
            <a:endParaRPr/>
          </a:p>
        </p:txBody>
      </p:sp>
      <p:sp>
        <p:nvSpPr>
          <p:cNvPr id="10" name="Text 7"/>
          <p:cNvSpPr/>
          <p:nvPr/>
        </p:nvSpPr>
        <p:spPr>
          <a:xfrm>
            <a:off x="5852160" y="1399032"/>
            <a:ext cx="502920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Main finding</a:t>
            </a:r>
            <a:endParaRPr lang="en-US" sz="1220" dirty="0"/>
          </a:p>
        </p:txBody>
      </p:sp>
      <p:sp>
        <p:nvSpPr>
          <p:cNvPr id="11" name="Text 8"/>
          <p:cNvSpPr/>
          <p:nvPr/>
        </p:nvSpPr>
        <p:spPr>
          <a:xfrm>
            <a:off x="5852160" y="1764792"/>
            <a:ext cx="496519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main challenge is not simply generating non-English text.</a:t>
            </a:r>
            <a:endParaRPr lang="en-US" sz="1020" dirty="0"/>
          </a:p>
        </p:txBody>
      </p:sp>
      <p:sp>
        <p:nvSpPr>
          <p:cNvPr id="12" name="Shape 9"/>
          <p:cNvSpPr/>
          <p:nvPr/>
        </p:nvSpPr>
        <p:spPr>
          <a:xfrm>
            <a:off x="5623560" y="2697480"/>
            <a:ext cx="5349240" cy="1143000"/>
          </a:xfrm>
          <a:prstGeom prst="roundRect">
            <a:avLst>
              <a:gd name="adj" fmla="val 5600"/>
            </a:avLst>
          </a:prstGeom>
          <a:solidFill>
            <a:srgbClr val="11192D"/>
          </a:solidFill>
          <a:ln w="12700">
            <a:solidFill>
              <a:srgbClr val="405378"/>
            </a:solidFill>
            <a:prstDash val="solid"/>
          </a:ln>
        </p:spPr>
        <p:txBody>
          <a:bodyPr/>
          <a:lstStyle/>
          <a:p>
            <a:endParaRPr/>
          </a:p>
        </p:txBody>
      </p:sp>
      <p:sp>
        <p:nvSpPr>
          <p:cNvPr id="13" name="Shape 10"/>
          <p:cNvSpPr/>
          <p:nvPr/>
        </p:nvSpPr>
        <p:spPr>
          <a:xfrm>
            <a:off x="5623560" y="2697480"/>
            <a:ext cx="100584" cy="1143000"/>
          </a:xfrm>
          <a:prstGeom prst="rect">
            <a:avLst/>
          </a:prstGeom>
          <a:solidFill>
            <a:srgbClr val="22D3EE"/>
          </a:solidFill>
          <a:ln w="12700">
            <a:solidFill>
              <a:srgbClr val="22D3EE"/>
            </a:solidFill>
            <a:prstDash val="solid"/>
          </a:ln>
        </p:spPr>
        <p:txBody>
          <a:bodyPr/>
          <a:lstStyle/>
          <a:p>
            <a:endParaRPr/>
          </a:p>
        </p:txBody>
      </p:sp>
      <p:sp>
        <p:nvSpPr>
          <p:cNvPr id="14" name="Text 11"/>
          <p:cNvSpPr/>
          <p:nvPr/>
        </p:nvSpPr>
        <p:spPr>
          <a:xfrm>
            <a:off x="5852160" y="2862072"/>
            <a:ext cx="502920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Harder issue</a:t>
            </a:r>
            <a:endParaRPr lang="en-US" sz="1220" dirty="0"/>
          </a:p>
        </p:txBody>
      </p:sp>
      <p:sp>
        <p:nvSpPr>
          <p:cNvPr id="15" name="Text 12"/>
          <p:cNvSpPr/>
          <p:nvPr/>
        </p:nvSpPr>
        <p:spPr>
          <a:xfrm>
            <a:off x="5852160" y="3227832"/>
            <a:ext cx="4965192" cy="4846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LLMs struggle to reason over retrieved information across languages.</a:t>
            </a:r>
            <a:endParaRPr lang="en-US" sz="1020" dirty="0"/>
          </a:p>
        </p:txBody>
      </p:sp>
      <p:sp>
        <p:nvSpPr>
          <p:cNvPr id="16" name="Shape 13"/>
          <p:cNvSpPr/>
          <p:nvPr/>
        </p:nvSpPr>
        <p:spPr>
          <a:xfrm>
            <a:off x="5623560" y="4160520"/>
            <a:ext cx="5349240" cy="914400"/>
          </a:xfrm>
          <a:prstGeom prst="roundRect">
            <a:avLst>
              <a:gd name="adj" fmla="val 7000"/>
            </a:avLst>
          </a:prstGeom>
          <a:solidFill>
            <a:srgbClr val="11192D"/>
          </a:solidFill>
          <a:ln w="12700">
            <a:solidFill>
              <a:srgbClr val="405378"/>
            </a:solidFill>
            <a:prstDash val="solid"/>
          </a:ln>
        </p:spPr>
        <p:txBody>
          <a:bodyPr/>
          <a:lstStyle/>
          <a:p>
            <a:endParaRPr/>
          </a:p>
        </p:txBody>
      </p:sp>
      <p:sp>
        <p:nvSpPr>
          <p:cNvPr id="17" name="Shape 14"/>
          <p:cNvSpPr/>
          <p:nvPr/>
        </p:nvSpPr>
        <p:spPr>
          <a:xfrm>
            <a:off x="5623560" y="4160520"/>
            <a:ext cx="100584" cy="914400"/>
          </a:xfrm>
          <a:prstGeom prst="rect">
            <a:avLst/>
          </a:prstGeom>
          <a:solidFill>
            <a:srgbClr val="22D3EE"/>
          </a:solidFill>
          <a:ln w="12700">
            <a:solidFill>
              <a:srgbClr val="22D3EE"/>
            </a:solidFill>
            <a:prstDash val="solid"/>
          </a:ln>
        </p:spPr>
        <p:txBody>
          <a:bodyPr/>
          <a:lstStyle/>
          <a:p>
            <a:endParaRPr/>
          </a:p>
        </p:txBody>
      </p:sp>
      <p:sp>
        <p:nvSpPr>
          <p:cNvPr id="7" name="Text 15"/>
          <p:cNvSpPr/>
          <p:nvPr/>
        </p:nvSpPr>
        <p:spPr>
          <a:xfrm>
            <a:off x="5852160" y="4325112"/>
            <a:ext cx="502920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Controlled analysis</a:t>
            </a:r>
            <a:endParaRPr lang="en-US" sz="1220" dirty="0"/>
          </a:p>
        </p:txBody>
      </p:sp>
      <p:sp>
        <p:nvSpPr>
          <p:cNvPr id="19" name="Text 16"/>
          <p:cNvSpPr/>
          <p:nvPr/>
        </p:nvSpPr>
        <p:spPr>
          <a:xfrm>
            <a:off x="5852160" y="4690872"/>
            <a:ext cx="4965192" cy="25603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Replacing non-English support articles with English translations improved accuracy more than just changing the question language.</a:t>
            </a:r>
            <a:endParaRPr lang="en-US" sz="1020" dirty="0"/>
          </a:p>
        </p:txBody>
      </p:sp>
      <p:sp>
        <p:nvSpPr>
          <p:cNvPr id="20" name="Text 17"/>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Table 5 and Table 6.</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The paper’s two big failure modes</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Different settings reveal different weaknesses.</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Shape 5"/>
          <p:cNvSpPr/>
          <p:nvPr/>
        </p:nvSpPr>
        <p:spPr>
          <a:xfrm>
            <a:off x="914400" y="1417320"/>
            <a:ext cx="4892040" cy="2468880"/>
          </a:xfrm>
          <a:prstGeom prst="roundRect">
            <a:avLst>
              <a:gd name="adj" fmla="val 2593"/>
            </a:avLst>
          </a:prstGeom>
          <a:solidFill>
            <a:srgbClr val="11192D"/>
          </a:solidFill>
          <a:ln w="12700">
            <a:solidFill>
              <a:srgbClr val="405378"/>
            </a:solidFill>
            <a:prstDash val="solid"/>
          </a:ln>
        </p:spPr>
        <p:txBody>
          <a:bodyPr/>
          <a:lstStyle/>
          <a:p>
            <a:endParaRPr/>
          </a:p>
        </p:txBody>
      </p:sp>
      <p:sp>
        <p:nvSpPr>
          <p:cNvPr id="8" name="Shape 6"/>
          <p:cNvSpPr/>
          <p:nvPr/>
        </p:nvSpPr>
        <p:spPr>
          <a:xfrm>
            <a:off x="914400" y="1417320"/>
            <a:ext cx="100584" cy="2468880"/>
          </a:xfrm>
          <a:prstGeom prst="rect">
            <a:avLst/>
          </a:prstGeom>
          <a:solidFill>
            <a:srgbClr val="22D3EE"/>
          </a:solidFill>
          <a:ln w="12700">
            <a:solidFill>
              <a:srgbClr val="22D3EE"/>
            </a:solidFill>
            <a:prstDash val="solid"/>
          </a:ln>
        </p:spPr>
        <p:txBody>
          <a:bodyPr/>
          <a:lstStyle/>
          <a:p>
            <a:endParaRPr/>
          </a:p>
        </p:txBody>
      </p:sp>
      <p:sp>
        <p:nvSpPr>
          <p:cNvPr id="9" name="Text 7"/>
          <p:cNvSpPr/>
          <p:nvPr/>
        </p:nvSpPr>
        <p:spPr>
          <a:xfrm>
            <a:off x="1143000" y="1581912"/>
            <a:ext cx="457200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Monolingual retrieval failure</a:t>
            </a:r>
            <a:endParaRPr lang="en-US" sz="1220" dirty="0"/>
          </a:p>
        </p:txBody>
      </p:sp>
      <p:sp>
        <p:nvSpPr>
          <p:cNvPr id="10" name="Text 8"/>
          <p:cNvSpPr/>
          <p:nvPr/>
        </p:nvSpPr>
        <p:spPr>
          <a:xfrm>
            <a:off x="1143000" y="1947672"/>
            <a:ext cx="4507992" cy="181051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When documents are English but the question is not, LLMs often struggle with response language correctness. They may answer in English instead of the user language.</a:t>
            </a:r>
            <a:endParaRPr lang="en-US" sz="1020" dirty="0"/>
          </a:p>
        </p:txBody>
      </p:sp>
      <p:sp>
        <p:nvSpPr>
          <p:cNvPr id="11" name="Shape 9"/>
          <p:cNvSpPr/>
          <p:nvPr/>
        </p:nvSpPr>
        <p:spPr>
          <a:xfrm>
            <a:off x="6355080" y="1417320"/>
            <a:ext cx="4892040" cy="2468880"/>
          </a:xfrm>
          <a:prstGeom prst="roundRect">
            <a:avLst>
              <a:gd name="adj" fmla="val 2593"/>
            </a:avLst>
          </a:prstGeom>
          <a:solidFill>
            <a:srgbClr val="11192D"/>
          </a:solidFill>
          <a:ln w="12700">
            <a:solidFill>
              <a:srgbClr val="405378"/>
            </a:solidFill>
            <a:prstDash val="solid"/>
          </a:ln>
        </p:spPr>
        <p:txBody>
          <a:bodyPr/>
          <a:lstStyle/>
          <a:p>
            <a:endParaRPr/>
          </a:p>
        </p:txBody>
      </p:sp>
      <p:sp>
        <p:nvSpPr>
          <p:cNvPr id="12" name="Shape 10"/>
          <p:cNvSpPr/>
          <p:nvPr/>
        </p:nvSpPr>
        <p:spPr>
          <a:xfrm>
            <a:off x="6355080" y="1417320"/>
            <a:ext cx="100584" cy="2468880"/>
          </a:xfrm>
          <a:prstGeom prst="rect">
            <a:avLst/>
          </a:prstGeom>
          <a:solidFill>
            <a:srgbClr val="22D3EE"/>
          </a:solidFill>
          <a:ln w="12700">
            <a:solidFill>
              <a:srgbClr val="22D3EE"/>
            </a:solidFill>
            <a:prstDash val="solid"/>
          </a:ln>
        </p:spPr>
        <p:txBody>
          <a:bodyPr/>
          <a:lstStyle/>
          <a:p>
            <a:endParaRPr/>
          </a:p>
        </p:txBody>
      </p:sp>
      <p:sp>
        <p:nvSpPr>
          <p:cNvPr id="13" name="Text 11"/>
          <p:cNvSpPr/>
          <p:nvPr/>
        </p:nvSpPr>
        <p:spPr>
          <a:xfrm>
            <a:off x="6583680" y="1581912"/>
            <a:ext cx="457200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Multilingual retrieval failure</a:t>
            </a:r>
            <a:endParaRPr lang="en-US" sz="1220" dirty="0"/>
          </a:p>
        </p:txBody>
      </p:sp>
      <p:sp>
        <p:nvSpPr>
          <p:cNvPr id="14" name="Text 12"/>
          <p:cNvSpPr/>
          <p:nvPr/>
        </p:nvSpPr>
        <p:spPr>
          <a:xfrm>
            <a:off x="6583680" y="1947672"/>
            <a:ext cx="4507992" cy="181051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When documents are mixed across languages, the main challenge becomes selecting and reasoning over the right evidence across languages.</a:t>
            </a:r>
            <a:endParaRPr lang="en-US" sz="1020" dirty="0"/>
          </a:p>
        </p:txBody>
      </p:sp>
      <p:sp>
        <p:nvSpPr>
          <p:cNvPr id="15" name="Shape 13"/>
          <p:cNvSpPr/>
          <p:nvPr/>
        </p:nvSpPr>
        <p:spPr>
          <a:xfrm>
            <a:off x="1234440" y="4526280"/>
            <a:ext cx="9738360" cy="640080"/>
          </a:xfrm>
          <a:prstGeom prst="roundRect">
            <a:avLst>
              <a:gd name="adj" fmla="val 8571"/>
            </a:avLst>
          </a:prstGeom>
          <a:solidFill>
            <a:srgbClr val="11192D"/>
          </a:solidFill>
          <a:ln w="12700">
            <a:solidFill>
              <a:srgbClr val="405378"/>
            </a:solidFill>
            <a:prstDash val="solid"/>
          </a:ln>
        </p:spPr>
        <p:txBody>
          <a:bodyPr/>
          <a:lstStyle/>
          <a:p>
            <a:endParaRPr/>
          </a:p>
        </p:txBody>
      </p:sp>
      <p:sp>
        <p:nvSpPr>
          <p:cNvPr id="16" name="Text 14"/>
          <p:cNvSpPr/>
          <p:nvPr/>
        </p:nvSpPr>
        <p:spPr>
          <a:xfrm>
            <a:off x="1554480" y="4718304"/>
            <a:ext cx="9098280" cy="210312"/>
          </a:xfrm>
          <a:prstGeom prst="rect">
            <a:avLst/>
          </a:prstGeom>
          <a:solidFill>
            <a:srgbClr val="11192D"/>
          </a:solidFill>
          <a:ln>
            <a:solidFill>
              <a:srgbClr val="405378"/>
            </a:solidFill>
          </a:ln>
        </p:spPr>
        <p:txBody>
          <a:bodyPr wrap="square" rtlCol="0" anchor="ctr"/>
          <a:lstStyle/>
          <a:p>
            <a:pPr marL="0" indent="0" algn="ctr">
              <a:buNone/>
            </a:pPr>
            <a:r>
              <a:rPr lang="en-US" sz="1350" b="1" dirty="0">
                <a:solidFill>
                  <a:srgbClr val="F4F7FB"/>
                </a:solidFill>
              </a:rPr>
              <a:t>That is why XRAG is useful: it separates language-generation problems from evidence-reasoning problems.</a:t>
            </a:r>
            <a:endParaRPr lang="en-US" sz="1350" dirty="0"/>
          </a:p>
        </p:txBody>
      </p:sp>
      <p:sp>
        <p:nvSpPr>
          <p:cNvPr id="17" name="Text 15"/>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conclusion and controlled analyses.</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Limitations of the XRAG paper</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What the authors say still needs more work.</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Text 5"/>
          <p:cNvSpPr/>
          <p:nvPr/>
        </p:nvSpPr>
        <p:spPr>
          <a:xfrm>
            <a:off x="868680" y="1325880"/>
            <a:ext cx="6675120" cy="4023360"/>
          </a:xfrm>
          <a:prstGeom prst="rect">
            <a:avLst/>
          </a:prstGeom>
          <a:solidFill>
            <a:srgbClr val="11192D"/>
          </a:solidFill>
          <a:ln>
            <a:solidFill>
              <a:srgbClr val="405378"/>
            </a:solidFill>
          </a:ln>
        </p:spPr>
        <p:txBody>
          <a:bodyPr wrap="square" lIns="889" tIns="889" rIns="889" bIns="889" rtlCol="0" anchor="t">
            <a:normAutofit/>
          </a:bodyPr>
          <a:lstStyle/>
          <a:p>
            <a:r>
              <a:rPr lang="en-US" sz="1600" dirty="0">
                <a:solidFill>
                  <a:srgbClr val="F4F7FB"/>
                </a:solidFill>
              </a:rPr>
              <a:t>XRAG covers four non-English languages, not every language.</a:t>
            </a:r>
            <a:endParaRPr lang="en-US" sz="1600" dirty="0"/>
          </a:p>
          <a:p>
            <a:r>
              <a:rPr lang="en-US" sz="1600" dirty="0">
                <a:solidFill>
                  <a:srgbClr val="F4F7FB"/>
                </a:solidFill>
              </a:rPr>
              <a:t>The multilingual setting uses English plus one target language, not many languages at once.</a:t>
            </a:r>
            <a:endParaRPr lang="en-US" sz="1600" dirty="0"/>
          </a:p>
          <a:p>
            <a:r>
              <a:rPr lang="en-US" sz="1600" dirty="0">
                <a:solidFill>
                  <a:srgbClr val="F4F7FB"/>
                </a:solidFill>
              </a:rPr>
              <a:t>The paper evaluates five LLMs, so more models could be tested.</a:t>
            </a:r>
            <a:endParaRPr lang="en-US" sz="1600" dirty="0"/>
          </a:p>
          <a:p>
            <a:r>
              <a:rPr lang="en-US" sz="1600" dirty="0">
                <a:solidFill>
                  <a:srgbClr val="F4F7FB"/>
                </a:solidFill>
              </a:rPr>
              <a:t>The authors leave more detailed analysis of distractor quantity for future work.</a:t>
            </a:r>
            <a:endParaRPr lang="en-US" sz="1600" dirty="0"/>
          </a:p>
          <a:p>
            <a:r>
              <a:rPr lang="en-US" sz="1600" dirty="0">
                <a:solidFill>
                  <a:srgbClr val="F4F7FB"/>
                </a:solidFill>
              </a:rPr>
              <a:t>The benchmark focuses on generation quality, while real systems also need retrieval pipelines.</a:t>
            </a:r>
            <a:endParaRPr lang="en-US" sz="1600" dirty="0"/>
          </a:p>
        </p:txBody>
      </p:sp>
      <p:sp>
        <p:nvSpPr>
          <p:cNvPr id="8" name="Shape 6"/>
          <p:cNvSpPr/>
          <p:nvPr/>
        </p:nvSpPr>
        <p:spPr>
          <a:xfrm>
            <a:off x="7955280" y="1600200"/>
            <a:ext cx="3154680" cy="2560320"/>
          </a:xfrm>
          <a:prstGeom prst="roundRect">
            <a:avLst>
              <a:gd name="adj" fmla="val 2500"/>
            </a:avLst>
          </a:prstGeom>
          <a:solidFill>
            <a:srgbClr val="11192D"/>
          </a:solidFill>
          <a:ln w="12700">
            <a:solidFill>
              <a:srgbClr val="405378"/>
            </a:solidFill>
            <a:prstDash val="solid"/>
          </a:ln>
        </p:spPr>
        <p:txBody>
          <a:bodyPr/>
          <a:lstStyle/>
          <a:p>
            <a:endParaRPr/>
          </a:p>
        </p:txBody>
      </p:sp>
      <p:sp>
        <p:nvSpPr>
          <p:cNvPr id="9" name="Shape 7"/>
          <p:cNvSpPr/>
          <p:nvPr/>
        </p:nvSpPr>
        <p:spPr>
          <a:xfrm>
            <a:off x="7955280" y="1600200"/>
            <a:ext cx="100584" cy="2560320"/>
          </a:xfrm>
          <a:prstGeom prst="rect">
            <a:avLst/>
          </a:prstGeom>
          <a:solidFill>
            <a:srgbClr val="22D3EE"/>
          </a:solidFill>
          <a:ln w="12700">
            <a:solidFill>
              <a:srgbClr val="22D3EE"/>
            </a:solidFill>
            <a:prstDash val="solid"/>
          </a:ln>
        </p:spPr>
        <p:txBody>
          <a:bodyPr/>
          <a:lstStyle/>
          <a:p>
            <a:endParaRPr/>
          </a:p>
        </p:txBody>
      </p:sp>
      <p:sp>
        <p:nvSpPr>
          <p:cNvPr id="10" name="Text 8"/>
          <p:cNvSpPr/>
          <p:nvPr/>
        </p:nvSpPr>
        <p:spPr>
          <a:xfrm>
            <a:off x="8183880" y="1764792"/>
            <a:ext cx="2834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Why this matters for me</a:t>
            </a:r>
            <a:endParaRPr lang="en-US" sz="1220" dirty="0"/>
          </a:p>
        </p:txBody>
      </p:sp>
      <p:sp>
        <p:nvSpPr>
          <p:cNvPr id="11" name="Text 9"/>
          <p:cNvSpPr/>
          <p:nvPr/>
        </p:nvSpPr>
        <p:spPr>
          <a:xfrm>
            <a:off x="8183880" y="2130552"/>
            <a:ext cx="2770632" cy="190195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These limitations create space for my project: I can focus specifically on retrieval, evidence filtering, and distractor effects using XRAG.</a:t>
            </a:r>
            <a:endParaRPr lang="en-US" sz="1020" dirty="0"/>
          </a:p>
        </p:txBody>
      </p:sp>
      <p:sp>
        <p:nvSpPr>
          <p:cNvPr id="12" name="Text 10"/>
          <p:cNvSpPr/>
          <p:nvPr/>
        </p:nvSpPr>
        <p:spPr>
          <a:xfrm>
            <a:off x="502920" y="6108192"/>
            <a:ext cx="10881360" cy="164592"/>
          </a:xfrm>
          <a:prstGeom prst="rect">
            <a:avLst/>
          </a:prstGeom>
          <a:noFill/>
          <a:ln>
            <a:noFill/>
          </a:ln>
        </p:spPr>
        <p:txBody>
          <a:bodyPr wrap="square" lIns="0" tIns="0" rIns="0" bIns="0" rtlCol="0" anchor="ctr"/>
          <a:lstStyle/>
          <a:p>
            <a:pPr marL="0" indent="0">
              <a:buNone/>
            </a:pPr>
            <a:r>
              <a:rPr lang="en-US" sz="640" i="1" dirty="0">
                <a:solidFill>
                  <a:srgbClr val="7A8DA8"/>
                </a:solidFill>
              </a:rPr>
              <a:t>XRAG Limitations section.</a:t>
            </a:r>
            <a:endParaRPr lang="en-US" sz="64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How the paper correlates with my project</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XRAG gives me the benchmark and research structure.</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4D399"/>
          </a:solidFill>
          <a:ln>
            <a:solidFill>
              <a:srgbClr val="34D399"/>
            </a:solidFill>
          </a:ln>
        </p:spPr>
        <p:txBody>
          <a:bodyPr wrap="square" lIns="0" tIns="0" rIns="0" bIns="0" rtlCol="0" anchor="ctr"/>
          <a:lstStyle/>
          <a:p>
            <a:pPr marL="0" indent="0" algn="ctr">
              <a:buNone/>
            </a:pPr>
            <a:r>
              <a:rPr lang="en-US" sz="750" b="1" dirty="0">
                <a:solidFill>
                  <a:srgbClr val="F4F7FB"/>
                </a:solidFill>
              </a:rPr>
              <a:t>BRIDGE</a:t>
            </a:r>
            <a:endParaRPr lang="en-US" sz="7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22960" y="1234440"/>
          <a:ext cx="10515600" cy="3886200"/>
        </p:xfrm>
        <a:graphic>
          <a:graphicData uri="http://schemas.openxmlformats.org/drawingml/2006/table">
            <a:tbl>
              <a:tblPr/>
              <a:tblGrid>
                <a:gridCol w="393192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647700">
                <a:tc>
                  <a:txBody>
                    <a:bodyPr/>
                    <a:lstStyle/>
                    <a:p>
                      <a:pPr marL="0" indent="0">
                        <a:buNone/>
                      </a:pPr>
                      <a:r>
                        <a:rPr lang="en-US" sz="1220" b="1" dirty="0">
                          <a:solidFill>
                            <a:srgbClr val="F4F7FB"/>
                          </a:solidFill>
                        </a:rPr>
                        <a:t>XRAG paper component</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220" b="1" dirty="0">
                          <a:solidFill>
                            <a:srgbClr val="F4F7FB"/>
                          </a:solidFill>
                        </a:rPr>
                        <a:t>How I use it in my project</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extLst>
                  <a:ext uri="{0D108BD9-81ED-4DB2-BD59-A6C34878D82A}">
                    <a16:rowId xmlns:a16="http://schemas.microsoft.com/office/drawing/2014/main" val="10000"/>
                  </a:ext>
                </a:extLst>
              </a:tr>
              <a:tr h="647700">
                <a:tc>
                  <a:txBody>
                    <a:bodyPr/>
                    <a:lstStyle/>
                    <a:p>
                      <a:pPr marL="0" indent="0">
                        <a:buNone/>
                      </a:pPr>
                      <a:r>
                        <a:rPr lang="en-US" sz="1220" dirty="0">
                          <a:solidFill>
                            <a:srgbClr val="A6B5CD"/>
                          </a:solidFill>
                        </a:rPr>
                        <a:t>Questions + gold answers</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20" dirty="0">
                          <a:solidFill>
                            <a:srgbClr val="A6B5CD"/>
                          </a:solidFill>
                        </a:rPr>
                        <a:t>Score model answers consistently</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1"/>
                  </a:ext>
                </a:extLst>
              </a:tr>
              <a:tr h="647700">
                <a:tc>
                  <a:txBody>
                    <a:bodyPr/>
                    <a:lstStyle/>
                    <a:p>
                      <a:pPr marL="0" indent="0">
                        <a:buNone/>
                      </a:pPr>
                      <a:r>
                        <a:rPr lang="en-US" sz="1220" dirty="0">
                          <a:solidFill>
                            <a:srgbClr val="A6B5CD"/>
                          </a:solidFill>
                        </a:rPr>
                        <a:t>Support labels</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20" dirty="0">
                          <a:solidFill>
                            <a:srgbClr val="A6B5CD"/>
                          </a:solidFill>
                        </a:rPr>
                        <a:t>Measure whether retrieval finds the evidence</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2"/>
                  </a:ext>
                </a:extLst>
              </a:tr>
              <a:tr h="647700">
                <a:tc>
                  <a:txBody>
                    <a:bodyPr/>
                    <a:lstStyle/>
                    <a:p>
                      <a:pPr marL="0" indent="0">
                        <a:buNone/>
                      </a:pPr>
                      <a:r>
                        <a:rPr lang="en-US" sz="1220" dirty="0">
                          <a:solidFill>
                            <a:srgbClr val="A6B5CD"/>
                          </a:solidFill>
                        </a:rPr>
                        <a:t>Distractor documents</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20" dirty="0">
                          <a:solidFill>
                            <a:srgbClr val="A6B5CD"/>
                          </a:solidFill>
                        </a:rPr>
                        <a:t>Test whether extra documents confuse the model</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3"/>
                  </a:ext>
                </a:extLst>
              </a:tr>
              <a:tr h="647700">
                <a:tc>
                  <a:txBody>
                    <a:bodyPr/>
                    <a:lstStyle/>
                    <a:p>
                      <a:pPr marL="0" indent="0">
                        <a:buNone/>
                      </a:pPr>
                      <a:r>
                        <a:rPr lang="en-US" sz="1220" dirty="0">
                          <a:solidFill>
                            <a:srgbClr val="A6B5CD"/>
                          </a:solidFill>
                        </a:rPr>
                        <a:t>Arabic and Spanish examples</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20" dirty="0">
                          <a:solidFill>
                            <a:srgbClr val="A6B5CD"/>
                          </a:solidFill>
                        </a:rPr>
                        <a:t>Start with two multilingual settings I can analyze manually</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4"/>
                  </a:ext>
                </a:extLst>
              </a:tr>
              <a:tr h="647700">
                <a:tc>
                  <a:txBody>
                    <a:bodyPr/>
                    <a:lstStyle/>
                    <a:p>
                      <a:pPr marL="0" indent="0">
                        <a:buNone/>
                      </a:pPr>
                      <a:r>
                        <a:rPr lang="en-US" sz="1220" dirty="0">
                          <a:solidFill>
                            <a:srgbClr val="A6B5CD"/>
                          </a:solidFill>
                        </a:rPr>
                        <a:t>Monolingual / multilingual task labels</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20" dirty="0">
                          <a:solidFill>
                            <a:srgbClr val="A6B5CD"/>
                          </a:solidFill>
                        </a:rPr>
                        <a:t>Compare performance by retrieval setting</a:t>
                      </a:r>
                      <a:endParaRPr lang="en-US" sz="122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My project question</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Using XRAG to study evidence selection in multilingual RAG.</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4D399"/>
          </a:solidFill>
          <a:ln>
            <a:solidFill>
              <a:srgbClr val="34D399"/>
            </a:solidFill>
          </a:ln>
        </p:spPr>
        <p:txBody>
          <a:bodyPr wrap="square" lIns="0" tIns="0" rIns="0" bIns="0" rtlCol="0" anchor="ctr"/>
          <a:lstStyle/>
          <a:p>
            <a:pPr marL="0" indent="0" algn="ctr">
              <a:buNone/>
            </a:pPr>
            <a:r>
              <a:rPr lang="en-US" sz="750" b="1" dirty="0">
                <a:solidFill>
                  <a:srgbClr val="F4F7FB"/>
                </a:solidFill>
              </a:rPr>
              <a:t>BRIDGE</a:t>
            </a:r>
            <a:endParaRPr lang="en-US" sz="750" dirty="0"/>
          </a:p>
        </p:txBody>
      </p:sp>
      <p:sp>
        <p:nvSpPr>
          <p:cNvPr id="7" name="Shape 5"/>
          <p:cNvSpPr/>
          <p:nvPr/>
        </p:nvSpPr>
        <p:spPr>
          <a:xfrm>
            <a:off x="914400" y="1325880"/>
            <a:ext cx="10287000" cy="1005840"/>
          </a:xfrm>
          <a:prstGeom prst="roundRect">
            <a:avLst>
              <a:gd name="adj" fmla="val 7273"/>
            </a:avLst>
          </a:prstGeom>
          <a:solidFill>
            <a:srgbClr val="11192D"/>
          </a:solidFill>
          <a:ln w="12700">
            <a:solidFill>
              <a:srgbClr val="405378"/>
            </a:solidFill>
            <a:prstDash val="solid"/>
          </a:ln>
        </p:spPr>
        <p:txBody>
          <a:bodyPr/>
          <a:lstStyle/>
          <a:p>
            <a:endParaRPr/>
          </a:p>
        </p:txBody>
      </p:sp>
      <p:sp>
        <p:nvSpPr>
          <p:cNvPr id="8" name="Text 6"/>
          <p:cNvSpPr/>
          <p:nvPr/>
        </p:nvSpPr>
        <p:spPr>
          <a:xfrm>
            <a:off x="1280160" y="1508760"/>
            <a:ext cx="1920240" cy="228600"/>
          </a:xfrm>
          <a:prstGeom prst="rect">
            <a:avLst/>
          </a:prstGeom>
          <a:solidFill>
            <a:srgbClr val="11192D"/>
          </a:solidFill>
          <a:ln>
            <a:solidFill>
              <a:srgbClr val="405378"/>
            </a:solidFill>
          </a:ln>
        </p:spPr>
        <p:txBody>
          <a:bodyPr wrap="square" rtlCol="0" anchor="ctr"/>
          <a:lstStyle/>
          <a:p>
            <a:pPr marL="0" indent="0">
              <a:buNone/>
            </a:pPr>
            <a:r>
              <a:rPr lang="en-US" sz="1100" b="1" dirty="0">
                <a:solidFill>
                  <a:srgbClr val="22D3EE"/>
                </a:solidFill>
              </a:rPr>
              <a:t>Research question</a:t>
            </a:r>
            <a:endParaRPr lang="en-US" sz="1100" dirty="0"/>
          </a:p>
        </p:txBody>
      </p:sp>
      <p:sp>
        <p:nvSpPr>
          <p:cNvPr id="9" name="Text 7"/>
          <p:cNvSpPr/>
          <p:nvPr/>
        </p:nvSpPr>
        <p:spPr>
          <a:xfrm>
            <a:off x="1280160" y="1783080"/>
            <a:ext cx="9326880" cy="256032"/>
          </a:xfrm>
          <a:prstGeom prst="rect">
            <a:avLst/>
          </a:prstGeom>
          <a:solidFill>
            <a:srgbClr val="11192D"/>
          </a:solidFill>
          <a:ln>
            <a:solidFill>
              <a:srgbClr val="405378"/>
            </a:solidFill>
          </a:ln>
        </p:spPr>
        <p:txBody>
          <a:bodyPr wrap="square" rtlCol="0" anchor="ctr"/>
          <a:lstStyle/>
          <a:p>
            <a:pPr marL="0" indent="0">
              <a:buNone/>
            </a:pPr>
            <a:r>
              <a:rPr lang="en-US" sz="1600" b="1" dirty="0">
                <a:solidFill>
                  <a:srgbClr val="F4F7FB"/>
                </a:solidFill>
              </a:rPr>
              <a:t>How does the quality of retrieved evidence affect multilingual RAG answer accuracy?</a:t>
            </a:r>
            <a:endParaRPr lang="en-US" sz="1600" dirty="0"/>
          </a:p>
        </p:txBody>
      </p:sp>
      <p:sp>
        <p:nvSpPr>
          <p:cNvPr id="10" name="Shape 8"/>
          <p:cNvSpPr/>
          <p:nvPr/>
        </p:nvSpPr>
        <p:spPr>
          <a:xfrm>
            <a:off x="914400" y="2788920"/>
            <a:ext cx="310896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11" name="Shape 9"/>
          <p:cNvSpPr/>
          <p:nvPr/>
        </p:nvSpPr>
        <p:spPr>
          <a:xfrm>
            <a:off x="914400" y="2788920"/>
            <a:ext cx="100584" cy="1280160"/>
          </a:xfrm>
          <a:prstGeom prst="rect">
            <a:avLst/>
          </a:prstGeom>
          <a:solidFill>
            <a:srgbClr val="8B5CF6"/>
          </a:solidFill>
          <a:ln w="12700">
            <a:solidFill>
              <a:srgbClr val="8B5CF6"/>
            </a:solidFill>
            <a:prstDash val="solid"/>
          </a:ln>
        </p:spPr>
        <p:txBody>
          <a:bodyPr/>
          <a:lstStyle/>
          <a:p>
            <a:endParaRPr/>
          </a:p>
        </p:txBody>
      </p:sp>
      <p:sp>
        <p:nvSpPr>
          <p:cNvPr id="12" name="Text 10"/>
          <p:cNvSpPr/>
          <p:nvPr/>
        </p:nvSpPr>
        <p:spPr>
          <a:xfrm>
            <a:off x="1143000" y="2953512"/>
            <a:ext cx="27889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Independent variable</a:t>
            </a:r>
            <a:endParaRPr lang="en-US" sz="1220" dirty="0"/>
          </a:p>
        </p:txBody>
      </p:sp>
      <p:sp>
        <p:nvSpPr>
          <p:cNvPr id="13" name="Text 11"/>
          <p:cNvSpPr/>
          <p:nvPr/>
        </p:nvSpPr>
        <p:spPr>
          <a:xfrm>
            <a:off x="1143000" y="3319272"/>
            <a:ext cx="272491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Which documents the model receives: none, oracle support, all documents, or retrieved documents.</a:t>
            </a:r>
            <a:endParaRPr lang="en-US" sz="1020" dirty="0"/>
          </a:p>
        </p:txBody>
      </p:sp>
      <p:sp>
        <p:nvSpPr>
          <p:cNvPr id="14" name="Shape 12"/>
          <p:cNvSpPr/>
          <p:nvPr/>
        </p:nvSpPr>
        <p:spPr>
          <a:xfrm>
            <a:off x="4526280" y="2788920"/>
            <a:ext cx="310896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15" name="Shape 13"/>
          <p:cNvSpPr/>
          <p:nvPr/>
        </p:nvSpPr>
        <p:spPr>
          <a:xfrm>
            <a:off x="4526280" y="2788920"/>
            <a:ext cx="100584" cy="1280160"/>
          </a:xfrm>
          <a:prstGeom prst="rect">
            <a:avLst/>
          </a:prstGeom>
          <a:solidFill>
            <a:srgbClr val="8B5CF6"/>
          </a:solidFill>
          <a:ln w="12700">
            <a:solidFill>
              <a:srgbClr val="8B5CF6"/>
            </a:solidFill>
            <a:prstDash val="solid"/>
          </a:ln>
        </p:spPr>
        <p:txBody>
          <a:bodyPr/>
          <a:lstStyle/>
          <a:p>
            <a:endParaRPr/>
          </a:p>
        </p:txBody>
      </p:sp>
      <p:sp>
        <p:nvSpPr>
          <p:cNvPr id="16" name="Text 14"/>
          <p:cNvSpPr/>
          <p:nvPr/>
        </p:nvSpPr>
        <p:spPr>
          <a:xfrm>
            <a:off x="4754880" y="2953512"/>
            <a:ext cx="27889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Dependent variable</a:t>
            </a:r>
            <a:endParaRPr lang="en-US" sz="1220" dirty="0"/>
          </a:p>
        </p:txBody>
      </p:sp>
      <p:sp>
        <p:nvSpPr>
          <p:cNvPr id="17" name="Text 15"/>
          <p:cNvSpPr/>
          <p:nvPr/>
        </p:nvSpPr>
        <p:spPr>
          <a:xfrm>
            <a:off x="4754880" y="3319272"/>
            <a:ext cx="272491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Correctness, language correctness, unsupported information, and error category.</a:t>
            </a:r>
            <a:endParaRPr lang="en-US" sz="1020" dirty="0"/>
          </a:p>
        </p:txBody>
      </p:sp>
      <p:sp>
        <p:nvSpPr>
          <p:cNvPr id="18" name="Shape 16"/>
          <p:cNvSpPr/>
          <p:nvPr/>
        </p:nvSpPr>
        <p:spPr>
          <a:xfrm>
            <a:off x="8138160" y="2788920"/>
            <a:ext cx="310896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19" name="Shape 17"/>
          <p:cNvSpPr/>
          <p:nvPr/>
        </p:nvSpPr>
        <p:spPr>
          <a:xfrm>
            <a:off x="8138160" y="2788920"/>
            <a:ext cx="100584" cy="1280160"/>
          </a:xfrm>
          <a:prstGeom prst="rect">
            <a:avLst/>
          </a:prstGeom>
          <a:solidFill>
            <a:srgbClr val="8B5CF6"/>
          </a:solidFill>
          <a:ln w="12700">
            <a:solidFill>
              <a:srgbClr val="8B5CF6"/>
            </a:solidFill>
            <a:prstDash val="solid"/>
          </a:ln>
        </p:spPr>
        <p:txBody>
          <a:bodyPr/>
          <a:lstStyle/>
          <a:p>
            <a:endParaRPr/>
          </a:p>
        </p:txBody>
      </p:sp>
      <p:sp>
        <p:nvSpPr>
          <p:cNvPr id="20" name="Text 18"/>
          <p:cNvSpPr/>
          <p:nvPr/>
        </p:nvSpPr>
        <p:spPr>
          <a:xfrm>
            <a:off x="8366760" y="2953512"/>
            <a:ext cx="278892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Why XRAG fits</a:t>
            </a:r>
            <a:endParaRPr lang="en-US" sz="1220" dirty="0"/>
          </a:p>
        </p:txBody>
      </p:sp>
      <p:sp>
        <p:nvSpPr>
          <p:cNvPr id="21" name="Text 19"/>
          <p:cNvSpPr/>
          <p:nvPr/>
        </p:nvSpPr>
        <p:spPr>
          <a:xfrm>
            <a:off x="8366760" y="3319272"/>
            <a:ext cx="272491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It already contains gold answers, support labels, distractors, and multilingual questions.</a:t>
            </a:r>
            <a:endParaRPr lang="en-US" sz="102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My pilot experiment 1: evidence conditions</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A small application of XRAG, not the main focus of the talk.</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8B5CF6"/>
          </a:solidFill>
          <a:ln>
            <a:solidFill>
              <a:srgbClr val="8B5CF6"/>
            </a:solidFill>
          </a:ln>
        </p:spPr>
        <p:txBody>
          <a:bodyPr wrap="square" lIns="0" tIns="0" rIns="0" bIns="0" rtlCol="0" anchor="ctr"/>
          <a:lstStyle/>
          <a:p>
            <a:pPr marL="0" indent="0" algn="ctr">
              <a:buNone/>
            </a:pPr>
            <a:r>
              <a:rPr lang="en-US" sz="750" b="1" dirty="0">
                <a:solidFill>
                  <a:srgbClr val="F4F7FB"/>
                </a:solidFill>
              </a:rPr>
              <a:t>MY PROJECT</a:t>
            </a:r>
            <a:endParaRPr lang="en-US" sz="7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1234440"/>
          <a:ext cx="10424160" cy="2834640"/>
        </p:xfrm>
        <a:graphic>
          <a:graphicData uri="http://schemas.openxmlformats.org/drawingml/2006/table">
            <a:tbl>
              <a:tblPr/>
              <a:tblGrid>
                <a:gridCol w="22860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566928">
                <a:tc>
                  <a:txBody>
                    <a:bodyPr/>
                    <a:lstStyle/>
                    <a:p>
                      <a:pPr marL="0" indent="0">
                        <a:buNone/>
                      </a:pPr>
                      <a:r>
                        <a:rPr lang="en-US" sz="1230" b="1" dirty="0">
                          <a:solidFill>
                            <a:srgbClr val="F4F7FB"/>
                          </a:solidFill>
                        </a:rPr>
                        <a:t>Condition</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230" b="1" dirty="0">
                          <a:solidFill>
                            <a:srgbClr val="F4F7FB"/>
                          </a:solidFill>
                        </a:rPr>
                        <a:t>What the model sees</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230" b="1" dirty="0">
                          <a:solidFill>
                            <a:srgbClr val="F4F7FB"/>
                          </a:solidFill>
                        </a:rPr>
                        <a:t>GPT-5.4 score</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extLst>
                  <a:ext uri="{0D108BD9-81ED-4DB2-BD59-A6C34878D82A}">
                    <a16:rowId xmlns:a16="http://schemas.microsoft.com/office/drawing/2014/main" val="10000"/>
                  </a:ext>
                </a:extLst>
              </a:tr>
              <a:tr h="566928">
                <a:tc>
                  <a:txBody>
                    <a:bodyPr/>
                    <a:lstStyle/>
                    <a:p>
                      <a:pPr marL="0" indent="0">
                        <a:buNone/>
                      </a:pPr>
                      <a:r>
                        <a:rPr lang="en-US" sz="1230" dirty="0">
                          <a:solidFill>
                            <a:srgbClr val="A6B5CD"/>
                          </a:solidFill>
                        </a:rPr>
                        <a:t>No documents</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30" dirty="0">
                          <a:solidFill>
                            <a:srgbClr val="A6B5CD"/>
                          </a:solidFill>
                        </a:rPr>
                        <a:t>Only the question</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30" dirty="0">
                          <a:solidFill>
                            <a:srgbClr val="A6B5CD"/>
                          </a:solidFill>
                        </a:rPr>
                        <a:t>67.5%</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1"/>
                  </a:ext>
                </a:extLst>
              </a:tr>
              <a:tr h="566928">
                <a:tc>
                  <a:txBody>
                    <a:bodyPr/>
                    <a:lstStyle/>
                    <a:p>
                      <a:pPr marL="0" indent="0">
                        <a:buNone/>
                      </a:pPr>
                      <a:r>
                        <a:rPr lang="en-US" sz="1230" dirty="0">
                          <a:solidFill>
                            <a:srgbClr val="A6B5CD"/>
                          </a:solidFill>
                        </a:rPr>
                        <a:t>Oracle support-only</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30" dirty="0">
                          <a:solidFill>
                            <a:srgbClr val="A6B5CD"/>
                          </a:solidFill>
                        </a:rPr>
                        <a:t>Only XRAG-labeled support articles</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30" dirty="0">
                          <a:solidFill>
                            <a:srgbClr val="A6B5CD"/>
                          </a:solidFill>
                        </a:rPr>
                        <a:t>75.0%</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2"/>
                  </a:ext>
                </a:extLst>
              </a:tr>
              <a:tr h="566928">
                <a:tc>
                  <a:txBody>
                    <a:bodyPr/>
                    <a:lstStyle/>
                    <a:p>
                      <a:pPr marL="0" indent="0">
                        <a:buNone/>
                      </a:pPr>
                      <a:r>
                        <a:rPr lang="en-US" sz="1230" dirty="0">
                          <a:solidFill>
                            <a:srgbClr val="A6B5CD"/>
                          </a:solidFill>
                        </a:rPr>
                        <a:t>All documents</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30" dirty="0">
                          <a:solidFill>
                            <a:srgbClr val="A6B5CD"/>
                          </a:solidFill>
                        </a:rPr>
                        <a:t>Support + distractors</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30" dirty="0">
                          <a:solidFill>
                            <a:srgbClr val="A6B5CD"/>
                          </a:solidFill>
                        </a:rPr>
                        <a:t>65.0%</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3"/>
                  </a:ext>
                </a:extLst>
              </a:tr>
              <a:tr h="566928">
                <a:tc>
                  <a:txBody>
                    <a:bodyPr/>
                    <a:lstStyle/>
                    <a:p>
                      <a:pPr marL="0" indent="0">
                        <a:buNone/>
                      </a:pPr>
                      <a:r>
                        <a:rPr lang="en-US" sz="1230" dirty="0">
                          <a:solidFill>
                            <a:srgbClr val="A6B5CD"/>
                          </a:solidFill>
                        </a:rPr>
                        <a:t>BM25 top two</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30" dirty="0">
                          <a:solidFill>
                            <a:srgbClr val="A6B5CD"/>
                          </a:solidFill>
                        </a:rPr>
                        <a:t>Top two articles selected by BM25</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230" dirty="0">
                          <a:solidFill>
                            <a:srgbClr val="A6B5CD"/>
                          </a:solidFill>
                        </a:rPr>
                        <a:t>77.5%</a:t>
                      </a:r>
                      <a:endParaRPr lang="en-US" sz="123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4"/>
                  </a:ext>
                </a:extLst>
              </a:tr>
            </a:tbl>
          </a:graphicData>
        </a:graphic>
      </p:graphicFrame>
      <p:sp>
        <p:nvSpPr>
          <p:cNvPr id="8" name="Text 5"/>
          <p:cNvSpPr/>
          <p:nvPr/>
        </p:nvSpPr>
        <p:spPr>
          <a:xfrm>
            <a:off x="1143000" y="4617720"/>
            <a:ext cx="9784080" cy="329184"/>
          </a:xfrm>
          <a:prstGeom prst="rect">
            <a:avLst/>
          </a:prstGeom>
          <a:solidFill>
            <a:srgbClr val="11192D"/>
          </a:solidFill>
          <a:ln>
            <a:solidFill>
              <a:srgbClr val="405378"/>
            </a:solidFill>
          </a:ln>
        </p:spPr>
        <p:txBody>
          <a:bodyPr wrap="square" rtlCol="0" anchor="ctr"/>
          <a:lstStyle/>
          <a:p>
            <a:pPr marL="0" indent="0" algn="ctr">
              <a:buNone/>
            </a:pPr>
            <a:r>
              <a:rPr lang="en-US" sz="1500" b="1" dirty="0">
                <a:solidFill>
                  <a:srgbClr val="F4F7FB"/>
                </a:solidFill>
              </a:rPr>
              <a:t>Main takeaway: filtering evidence helped more than giving the model every document.</a:t>
            </a:r>
            <a:endParaRPr lang="en-US" sz="150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My pilot experiment 2: retrieval</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Can automatic retrieval find XRAG support documents?</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8B5CF6"/>
          </a:solidFill>
          <a:ln>
            <a:solidFill>
              <a:srgbClr val="8B5CF6"/>
            </a:solidFill>
          </a:ln>
        </p:spPr>
        <p:txBody>
          <a:bodyPr wrap="square" lIns="0" tIns="0" rIns="0" bIns="0" rtlCol="0" anchor="ctr"/>
          <a:lstStyle/>
          <a:p>
            <a:pPr marL="0" indent="0" algn="ctr">
              <a:buNone/>
            </a:pPr>
            <a:r>
              <a:rPr lang="en-US" sz="750" b="1" dirty="0">
                <a:solidFill>
                  <a:srgbClr val="F4F7FB"/>
                </a:solidFill>
              </a:rPr>
              <a:t>MY PROJECT</a:t>
            </a:r>
            <a:endParaRPr lang="en-US" sz="7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1280160"/>
          <a:ext cx="10515600" cy="2468880"/>
        </p:xfrm>
        <a:graphic>
          <a:graphicData uri="http://schemas.openxmlformats.org/drawingml/2006/table">
            <a:tbl>
              <a:tblPr/>
              <a:tblGrid>
                <a:gridCol w="25603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4617720">
                  <a:extLst>
                    <a:ext uri="{9D8B030D-6E8A-4147-A177-3AD203B41FA5}">
                      <a16:colId xmlns:a16="http://schemas.microsoft.com/office/drawing/2014/main" val="20003"/>
                    </a:ext>
                  </a:extLst>
                </a:gridCol>
              </a:tblGrid>
              <a:tr h="617220">
                <a:tc>
                  <a:txBody>
                    <a:bodyPr/>
                    <a:lstStyle/>
                    <a:p>
                      <a:pPr marL="0" indent="0">
                        <a:buNone/>
                      </a:pPr>
                      <a:r>
                        <a:rPr lang="en-US" sz="1180" b="1" dirty="0">
                          <a:solidFill>
                            <a:srgbClr val="F4F7FB"/>
                          </a:solidFill>
                        </a:rPr>
                        <a:t>Retriever</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180" b="1" dirty="0">
                          <a:solidFill>
                            <a:srgbClr val="F4F7FB"/>
                          </a:solidFill>
                        </a:rPr>
                        <a:t>Complete support @2</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180" b="1" dirty="0">
                          <a:solidFill>
                            <a:srgbClr val="F4F7FB"/>
                          </a:solidFill>
                        </a:rPr>
                        <a:t>MRR</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tc>
                  <a:txBody>
                    <a:bodyPr/>
                    <a:lstStyle/>
                    <a:p>
                      <a:pPr marL="0" indent="0">
                        <a:buNone/>
                      </a:pPr>
                      <a:r>
                        <a:rPr lang="en-US" sz="1180" b="1" dirty="0">
                          <a:solidFill>
                            <a:srgbClr val="F4F7FB"/>
                          </a:solidFill>
                        </a:rPr>
                        <a:t>Interpretation</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8223A"/>
                    </a:solidFill>
                  </a:tcPr>
                </a:tc>
                <a:extLst>
                  <a:ext uri="{0D108BD9-81ED-4DB2-BD59-A6C34878D82A}">
                    <a16:rowId xmlns:a16="http://schemas.microsoft.com/office/drawing/2014/main" val="10000"/>
                  </a:ext>
                </a:extLst>
              </a:tr>
              <a:tr h="617220">
                <a:tc>
                  <a:txBody>
                    <a:bodyPr/>
                    <a:lstStyle/>
                    <a:p>
                      <a:pPr marL="0" indent="0">
                        <a:buNone/>
                      </a:pPr>
                      <a:r>
                        <a:rPr lang="en-US" sz="1180" dirty="0">
                          <a:solidFill>
                            <a:srgbClr val="A6B5CD"/>
                          </a:solidFill>
                        </a:rPr>
                        <a:t>BM25</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80" dirty="0">
                          <a:solidFill>
                            <a:srgbClr val="A6B5CD"/>
                          </a:solidFill>
                        </a:rPr>
                        <a:t>10/20</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80" dirty="0">
                          <a:solidFill>
                            <a:srgbClr val="A6B5CD"/>
                          </a:solidFill>
                        </a:rPr>
                        <a:t>0.773</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80" dirty="0">
                          <a:solidFill>
                            <a:srgbClr val="A6B5CD"/>
                          </a:solidFill>
                        </a:rPr>
                        <a:t>Strongest baseline</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1"/>
                  </a:ext>
                </a:extLst>
              </a:tr>
              <a:tr h="617220">
                <a:tc>
                  <a:txBody>
                    <a:bodyPr/>
                    <a:lstStyle/>
                    <a:p>
                      <a:pPr marL="0" indent="0">
                        <a:buNone/>
                      </a:pPr>
                      <a:r>
                        <a:rPr lang="en-US" sz="1180" dirty="0">
                          <a:solidFill>
                            <a:srgbClr val="A6B5CD"/>
                          </a:solidFill>
                        </a:rPr>
                        <a:t>Chunked multilingual E5</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80" dirty="0">
                          <a:solidFill>
                            <a:srgbClr val="A6B5CD"/>
                          </a:solidFill>
                        </a:rPr>
                        <a:t>4/20</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80" dirty="0">
                          <a:solidFill>
                            <a:srgbClr val="A6B5CD"/>
                          </a:solidFill>
                        </a:rPr>
                        <a:t>0.568</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80" dirty="0">
                          <a:solidFill>
                            <a:srgbClr val="A6B5CD"/>
                          </a:solidFill>
                        </a:rPr>
                        <a:t>Semantic retrieval did not beat BM25</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2"/>
                  </a:ext>
                </a:extLst>
              </a:tr>
              <a:tr h="617220">
                <a:tc>
                  <a:txBody>
                    <a:bodyPr/>
                    <a:lstStyle/>
                    <a:p>
                      <a:pPr marL="0" indent="0">
                        <a:buNone/>
                      </a:pPr>
                      <a:r>
                        <a:rPr lang="en-US" sz="1180" dirty="0">
                          <a:solidFill>
                            <a:srgbClr val="A6B5CD"/>
                          </a:solidFill>
                        </a:rPr>
                        <a:t>BM25 + E5 RRF</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80" dirty="0">
                          <a:solidFill>
                            <a:srgbClr val="A6B5CD"/>
                          </a:solidFill>
                        </a:rPr>
                        <a:t>8/20</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80" dirty="0">
                          <a:solidFill>
                            <a:srgbClr val="A6B5CD"/>
                          </a:solidFill>
                        </a:rPr>
                        <a:t>0.685</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tc>
                  <a:txBody>
                    <a:bodyPr/>
                    <a:lstStyle/>
                    <a:p>
                      <a:pPr marL="0" indent="0">
                        <a:buNone/>
                      </a:pPr>
                      <a:r>
                        <a:rPr lang="en-US" sz="1180" dirty="0">
                          <a:solidFill>
                            <a:srgbClr val="A6B5CD"/>
                          </a:solidFill>
                        </a:rPr>
                        <a:t>Fusion did not improve top-two coverage</a:t>
                      </a:r>
                      <a:endParaRPr lang="en-US" sz="1180" dirty="0"/>
                    </a:p>
                  </a:txBody>
                  <a:tcPr marL="64008" marR="64008" marT="64008" marB="64008">
                    <a:lnL w="8890" cap="flat" cmpd="sng" algn="ctr">
                      <a:solidFill>
                        <a:srgbClr val="D6E2EF"/>
                      </a:solidFill>
                      <a:prstDash val="solid"/>
                      <a:round/>
                      <a:headEnd type="none" w="med" len="med"/>
                      <a:tailEnd type="none" w="med" len="med"/>
                    </a:lnL>
                    <a:lnR w="8890" cap="flat" cmpd="sng" algn="ctr">
                      <a:solidFill>
                        <a:srgbClr val="D6E2EF"/>
                      </a:solidFill>
                      <a:prstDash val="solid"/>
                      <a:round/>
                      <a:headEnd type="none" w="med" len="med"/>
                      <a:tailEnd type="none" w="med" len="med"/>
                    </a:lnR>
                    <a:lnT w="8890" cap="flat" cmpd="sng" algn="ctr">
                      <a:solidFill>
                        <a:srgbClr val="D6E2EF"/>
                      </a:solidFill>
                      <a:prstDash val="solid"/>
                      <a:round/>
                      <a:headEnd type="none" w="med" len="med"/>
                      <a:tailEnd type="none" w="med" len="med"/>
                    </a:lnT>
                    <a:lnB w="8890" cap="flat" cmpd="sng" algn="ctr">
                      <a:solidFill>
                        <a:srgbClr val="D6E2EF"/>
                      </a:solidFill>
                      <a:prstDash val="solid"/>
                      <a:round/>
                      <a:headEnd type="none" w="med" len="med"/>
                      <a:tailEnd type="none" w="med" len="med"/>
                    </a:lnB>
                    <a:solidFill>
                      <a:srgbClr val="11192D"/>
                    </a:solidFill>
                  </a:tcPr>
                </a:tc>
                <a:extLst>
                  <a:ext uri="{0D108BD9-81ED-4DB2-BD59-A6C34878D82A}">
                    <a16:rowId xmlns:a16="http://schemas.microsoft.com/office/drawing/2014/main" val="10003"/>
                  </a:ext>
                </a:extLst>
              </a:tr>
            </a:tbl>
          </a:graphicData>
        </a:graphic>
      </p:graphicFrame>
      <p:sp>
        <p:nvSpPr>
          <p:cNvPr id="8" name="Shape 5"/>
          <p:cNvSpPr/>
          <p:nvPr/>
        </p:nvSpPr>
        <p:spPr>
          <a:xfrm>
            <a:off x="1051560" y="4160520"/>
            <a:ext cx="10012680" cy="777240"/>
          </a:xfrm>
          <a:prstGeom prst="roundRect">
            <a:avLst>
              <a:gd name="adj" fmla="val 8235"/>
            </a:avLst>
          </a:prstGeom>
          <a:solidFill>
            <a:srgbClr val="11192D"/>
          </a:solidFill>
          <a:ln w="12700">
            <a:solidFill>
              <a:srgbClr val="405378"/>
            </a:solidFill>
            <a:prstDash val="solid"/>
          </a:ln>
        </p:spPr>
        <p:txBody>
          <a:bodyPr/>
          <a:lstStyle/>
          <a:p>
            <a:endParaRPr/>
          </a:p>
        </p:txBody>
      </p:sp>
      <p:sp>
        <p:nvSpPr>
          <p:cNvPr id="9" name="Shape 6"/>
          <p:cNvSpPr/>
          <p:nvPr/>
        </p:nvSpPr>
        <p:spPr>
          <a:xfrm>
            <a:off x="1051560" y="4160520"/>
            <a:ext cx="100584" cy="777240"/>
          </a:xfrm>
          <a:prstGeom prst="rect">
            <a:avLst/>
          </a:prstGeom>
          <a:solidFill>
            <a:srgbClr val="8B5CF6"/>
          </a:solidFill>
          <a:ln w="12700">
            <a:solidFill>
              <a:srgbClr val="8B5CF6"/>
            </a:solidFill>
            <a:prstDash val="solid"/>
          </a:ln>
        </p:spPr>
        <p:txBody>
          <a:bodyPr/>
          <a:lstStyle/>
          <a:p>
            <a:endParaRPr/>
          </a:p>
        </p:txBody>
      </p:sp>
      <p:sp>
        <p:nvSpPr>
          <p:cNvPr id="10" name="Text 7"/>
          <p:cNvSpPr/>
          <p:nvPr/>
        </p:nvSpPr>
        <p:spPr>
          <a:xfrm>
            <a:off x="1280160" y="4325112"/>
            <a:ext cx="9692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Connection back to paper</a:t>
            </a:r>
            <a:endParaRPr lang="en-US" sz="1220" dirty="0"/>
          </a:p>
        </p:txBody>
      </p:sp>
      <p:sp>
        <p:nvSpPr>
          <p:cNvPr id="11" name="Text 8"/>
          <p:cNvSpPr/>
          <p:nvPr/>
        </p:nvSpPr>
        <p:spPr>
          <a:xfrm>
            <a:off x="1280160" y="4690872"/>
            <a:ext cx="9628632" cy="11887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XRAG paper shows that distractors hurt generation; my project studies how retrieval choices decide which distractors reach the model.</a:t>
            </a:r>
            <a:endParaRPr lang="en-US" sz="102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What I will do next</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Turning the XRAG paper into a research plan.</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8B5CF6"/>
          </a:solidFill>
          <a:ln>
            <a:solidFill>
              <a:srgbClr val="8B5CF6"/>
            </a:solidFill>
          </a:ln>
        </p:spPr>
        <p:txBody>
          <a:bodyPr wrap="square" lIns="0" tIns="0" rIns="0" bIns="0" rtlCol="0" anchor="ctr"/>
          <a:lstStyle/>
          <a:p>
            <a:pPr marL="0" indent="0" algn="ctr">
              <a:buNone/>
            </a:pPr>
            <a:r>
              <a:rPr lang="en-US" sz="750" b="1" dirty="0">
                <a:solidFill>
                  <a:srgbClr val="F4F7FB"/>
                </a:solidFill>
              </a:rPr>
              <a:t>MY PROJECT</a:t>
            </a:r>
            <a:endParaRPr lang="en-US" sz="750" dirty="0"/>
          </a:p>
        </p:txBody>
      </p:sp>
      <p:sp>
        <p:nvSpPr>
          <p:cNvPr id="7" name="Text 5"/>
          <p:cNvSpPr/>
          <p:nvPr/>
        </p:nvSpPr>
        <p:spPr>
          <a:xfrm>
            <a:off x="868680" y="1325880"/>
            <a:ext cx="6583680" cy="4023360"/>
          </a:xfrm>
          <a:prstGeom prst="rect">
            <a:avLst/>
          </a:prstGeom>
          <a:solidFill>
            <a:srgbClr val="11192D"/>
          </a:solidFill>
          <a:ln>
            <a:solidFill>
              <a:srgbClr val="405378"/>
            </a:solidFill>
          </a:ln>
        </p:spPr>
        <p:txBody>
          <a:bodyPr wrap="square" lIns="889" tIns="889" rIns="889" bIns="889" rtlCol="0" anchor="t">
            <a:normAutofit/>
          </a:bodyPr>
          <a:lstStyle/>
          <a:p>
            <a:r>
              <a:rPr lang="en-US" sz="1600" dirty="0">
                <a:solidFill>
                  <a:srgbClr val="F4F7FB"/>
                </a:solidFill>
              </a:rPr>
              <a:t>Scale from the 20-question pilot to a larger XRAG sample.</a:t>
            </a:r>
            <a:endParaRPr lang="en-US" sz="1600" dirty="0"/>
          </a:p>
          <a:p>
            <a:r>
              <a:rPr lang="en-US" sz="1600" dirty="0">
                <a:solidFill>
                  <a:srgbClr val="F4F7FB"/>
                </a:solidFill>
              </a:rPr>
              <a:t>Test stronger evidence-selection methods, including reranking.</a:t>
            </a:r>
            <a:endParaRPr lang="en-US" sz="1600" dirty="0"/>
          </a:p>
          <a:p>
            <a:r>
              <a:rPr lang="en-US" sz="1600" dirty="0">
                <a:solidFill>
                  <a:srgbClr val="F4F7FB"/>
                </a:solidFill>
              </a:rPr>
              <a:t>Compare retrieval performance by language and question type.</a:t>
            </a:r>
            <a:endParaRPr lang="en-US" sz="1600" dirty="0"/>
          </a:p>
          <a:p>
            <a:r>
              <a:rPr lang="en-US" sz="1600" dirty="0">
                <a:solidFill>
                  <a:srgbClr val="F4F7FB"/>
                </a:solidFill>
              </a:rPr>
              <a:t>Measure how incomplete retrieval changes final answer quality.</a:t>
            </a:r>
            <a:endParaRPr lang="en-US" sz="1600" dirty="0"/>
          </a:p>
          <a:p>
            <a:r>
              <a:rPr lang="en-US" sz="1600" dirty="0">
                <a:solidFill>
                  <a:srgbClr val="F4F7FB"/>
                </a:solidFill>
              </a:rPr>
              <a:t>Analyze distractor contamination more systematically.</a:t>
            </a:r>
            <a:endParaRPr lang="en-US" sz="1600" dirty="0"/>
          </a:p>
          <a:p>
            <a:r>
              <a:rPr lang="en-US" sz="1600" dirty="0">
                <a:solidFill>
                  <a:srgbClr val="F4F7FB"/>
                </a:solidFill>
              </a:rPr>
              <a:t>Use XRAG results to design a stronger multilingual RAG pipeline.</a:t>
            </a:r>
            <a:endParaRPr lang="en-US" sz="1600" dirty="0"/>
          </a:p>
        </p:txBody>
      </p:sp>
      <p:sp>
        <p:nvSpPr>
          <p:cNvPr id="8" name="Shape 6"/>
          <p:cNvSpPr/>
          <p:nvPr/>
        </p:nvSpPr>
        <p:spPr>
          <a:xfrm>
            <a:off x="8001000" y="1600200"/>
            <a:ext cx="3154680" cy="2651760"/>
          </a:xfrm>
          <a:prstGeom prst="roundRect">
            <a:avLst>
              <a:gd name="adj" fmla="val 2414"/>
            </a:avLst>
          </a:prstGeom>
          <a:solidFill>
            <a:srgbClr val="11192D"/>
          </a:solidFill>
          <a:ln w="12700">
            <a:solidFill>
              <a:srgbClr val="405378"/>
            </a:solidFill>
            <a:prstDash val="solid"/>
          </a:ln>
        </p:spPr>
        <p:txBody>
          <a:bodyPr/>
          <a:lstStyle/>
          <a:p>
            <a:endParaRPr/>
          </a:p>
        </p:txBody>
      </p:sp>
      <p:sp>
        <p:nvSpPr>
          <p:cNvPr id="9" name="Shape 7"/>
          <p:cNvSpPr/>
          <p:nvPr/>
        </p:nvSpPr>
        <p:spPr>
          <a:xfrm>
            <a:off x="8001000" y="1600200"/>
            <a:ext cx="100584" cy="2651760"/>
          </a:xfrm>
          <a:prstGeom prst="rect">
            <a:avLst/>
          </a:prstGeom>
          <a:solidFill>
            <a:srgbClr val="8B5CF6"/>
          </a:solidFill>
          <a:ln w="12700">
            <a:solidFill>
              <a:srgbClr val="8B5CF6"/>
            </a:solidFill>
            <a:prstDash val="solid"/>
          </a:ln>
        </p:spPr>
        <p:txBody>
          <a:bodyPr/>
          <a:lstStyle/>
          <a:p>
            <a:endParaRPr/>
          </a:p>
        </p:txBody>
      </p:sp>
      <p:sp>
        <p:nvSpPr>
          <p:cNvPr id="10" name="Text 8"/>
          <p:cNvSpPr/>
          <p:nvPr/>
        </p:nvSpPr>
        <p:spPr>
          <a:xfrm>
            <a:off x="8229600" y="1764792"/>
            <a:ext cx="283464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Project direction</a:t>
            </a:r>
            <a:endParaRPr lang="en-US" sz="1220" dirty="0"/>
          </a:p>
        </p:txBody>
      </p:sp>
      <p:sp>
        <p:nvSpPr>
          <p:cNvPr id="11" name="Text 9"/>
          <p:cNvSpPr/>
          <p:nvPr/>
        </p:nvSpPr>
        <p:spPr>
          <a:xfrm>
            <a:off x="8229600" y="2130552"/>
            <a:ext cx="2770632" cy="19933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The final project is not just model comparison. It is a study of how retrieval and evidence filtering affect multilingual RAG.</a:t>
            </a:r>
            <a:endParaRPr lang="en-US" sz="102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Final takeaway</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XRAG is the foundation for my project.</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4D399"/>
          </a:solidFill>
          <a:ln>
            <a:solidFill>
              <a:srgbClr val="34D399"/>
            </a:solidFill>
          </a:ln>
        </p:spPr>
        <p:txBody>
          <a:bodyPr wrap="square" lIns="0" tIns="0" rIns="0" bIns="0" rtlCol="0" anchor="ctr"/>
          <a:lstStyle/>
          <a:p>
            <a:pPr marL="0" indent="0" algn="ctr">
              <a:buNone/>
            </a:pPr>
            <a:r>
              <a:rPr lang="en-US" sz="750" b="1" dirty="0">
                <a:solidFill>
                  <a:srgbClr val="F4F7FB"/>
                </a:solidFill>
              </a:rPr>
              <a:t>BRIDGE</a:t>
            </a:r>
            <a:endParaRPr lang="en-US" sz="750" dirty="0"/>
          </a:p>
        </p:txBody>
      </p:sp>
      <p:sp>
        <p:nvSpPr>
          <p:cNvPr id="7" name="Shape 5"/>
          <p:cNvSpPr/>
          <p:nvPr/>
        </p:nvSpPr>
        <p:spPr>
          <a:xfrm>
            <a:off x="914400" y="1371600"/>
            <a:ext cx="10287000" cy="1234440"/>
          </a:xfrm>
          <a:prstGeom prst="roundRect">
            <a:avLst>
              <a:gd name="adj" fmla="val 5926"/>
            </a:avLst>
          </a:prstGeom>
          <a:solidFill>
            <a:srgbClr val="11192D"/>
          </a:solidFill>
          <a:ln w="12700">
            <a:solidFill>
              <a:srgbClr val="405378"/>
            </a:solidFill>
            <a:prstDash val="solid"/>
          </a:ln>
        </p:spPr>
        <p:txBody>
          <a:bodyPr/>
          <a:lstStyle/>
          <a:p>
            <a:endParaRPr/>
          </a:p>
        </p:txBody>
      </p:sp>
      <p:sp>
        <p:nvSpPr>
          <p:cNvPr id="8" name="Text 6"/>
          <p:cNvSpPr/>
          <p:nvPr/>
        </p:nvSpPr>
        <p:spPr>
          <a:xfrm>
            <a:off x="1325880" y="1691640"/>
            <a:ext cx="9464040" cy="475488"/>
          </a:xfrm>
          <a:prstGeom prst="rect">
            <a:avLst/>
          </a:prstGeom>
          <a:solidFill>
            <a:srgbClr val="11192D"/>
          </a:solidFill>
          <a:ln>
            <a:solidFill>
              <a:srgbClr val="405378"/>
            </a:solidFill>
          </a:ln>
        </p:spPr>
        <p:txBody>
          <a:bodyPr wrap="square" rtlCol="0" anchor="ctr">
            <a:normAutofit/>
          </a:bodyPr>
          <a:lstStyle/>
          <a:p>
            <a:pPr marL="0" indent="0" algn="ctr">
              <a:buNone/>
            </a:pPr>
            <a:r>
              <a:rPr lang="en-US" sz="1700" b="1" dirty="0">
                <a:solidFill>
                  <a:srgbClr val="F4F7FB"/>
                </a:solidFill>
              </a:rPr>
              <a:t>The XRAG paper shows that cross-lingual RAG is hard because models must retrieve relevant evidence, ignore distractors, reason across documents, and answer in the user’s language.</a:t>
            </a:r>
            <a:endParaRPr lang="en-US" sz="1700" dirty="0"/>
          </a:p>
        </p:txBody>
      </p:sp>
      <p:sp>
        <p:nvSpPr>
          <p:cNvPr id="9" name="Shape 7"/>
          <p:cNvSpPr/>
          <p:nvPr/>
        </p:nvSpPr>
        <p:spPr>
          <a:xfrm>
            <a:off x="914400" y="3108960"/>
            <a:ext cx="320040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10" name="Shape 8"/>
          <p:cNvSpPr/>
          <p:nvPr/>
        </p:nvSpPr>
        <p:spPr>
          <a:xfrm>
            <a:off x="914400" y="3108960"/>
            <a:ext cx="100584" cy="1280160"/>
          </a:xfrm>
          <a:prstGeom prst="rect">
            <a:avLst/>
          </a:prstGeom>
          <a:solidFill>
            <a:srgbClr val="8B5CF6"/>
          </a:solidFill>
          <a:ln w="12700">
            <a:solidFill>
              <a:srgbClr val="8B5CF6"/>
            </a:solidFill>
            <a:prstDash val="solid"/>
          </a:ln>
        </p:spPr>
        <p:txBody>
          <a:bodyPr/>
          <a:lstStyle/>
          <a:p>
            <a:endParaRPr/>
          </a:p>
        </p:txBody>
      </p:sp>
      <p:sp>
        <p:nvSpPr>
          <p:cNvPr id="11" name="Text 9"/>
          <p:cNvSpPr/>
          <p:nvPr/>
        </p:nvSpPr>
        <p:spPr>
          <a:xfrm>
            <a:off x="1143000" y="3273552"/>
            <a:ext cx="288036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Paper contribution</a:t>
            </a:r>
            <a:endParaRPr lang="en-US" sz="1220" dirty="0"/>
          </a:p>
        </p:txBody>
      </p:sp>
      <p:sp>
        <p:nvSpPr>
          <p:cNvPr id="12" name="Text 10"/>
          <p:cNvSpPr/>
          <p:nvPr/>
        </p:nvSpPr>
        <p:spPr>
          <a:xfrm>
            <a:off x="1143000" y="3639312"/>
            <a:ext cx="281635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A controlled benchmark for cross-lingual RAG.</a:t>
            </a:r>
            <a:endParaRPr lang="en-US" sz="1020" dirty="0"/>
          </a:p>
        </p:txBody>
      </p:sp>
      <p:sp>
        <p:nvSpPr>
          <p:cNvPr id="13" name="Shape 11"/>
          <p:cNvSpPr/>
          <p:nvPr/>
        </p:nvSpPr>
        <p:spPr>
          <a:xfrm>
            <a:off x="4480560" y="3108960"/>
            <a:ext cx="320040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14" name="Shape 12"/>
          <p:cNvSpPr/>
          <p:nvPr/>
        </p:nvSpPr>
        <p:spPr>
          <a:xfrm>
            <a:off x="4480560" y="3108960"/>
            <a:ext cx="100584" cy="1280160"/>
          </a:xfrm>
          <a:prstGeom prst="rect">
            <a:avLst/>
          </a:prstGeom>
          <a:solidFill>
            <a:srgbClr val="8B5CF6"/>
          </a:solidFill>
          <a:ln w="12700">
            <a:solidFill>
              <a:srgbClr val="8B5CF6"/>
            </a:solidFill>
            <a:prstDash val="solid"/>
          </a:ln>
        </p:spPr>
        <p:txBody>
          <a:bodyPr/>
          <a:lstStyle/>
          <a:p>
            <a:endParaRPr/>
          </a:p>
        </p:txBody>
      </p:sp>
      <p:sp>
        <p:nvSpPr>
          <p:cNvPr id="15" name="Text 13"/>
          <p:cNvSpPr/>
          <p:nvPr/>
        </p:nvSpPr>
        <p:spPr>
          <a:xfrm>
            <a:off x="4709160" y="3273552"/>
            <a:ext cx="288036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My project connection</a:t>
            </a:r>
            <a:endParaRPr lang="en-US" sz="1220" dirty="0"/>
          </a:p>
        </p:txBody>
      </p:sp>
      <p:sp>
        <p:nvSpPr>
          <p:cNvPr id="16" name="Text 14"/>
          <p:cNvSpPr/>
          <p:nvPr/>
        </p:nvSpPr>
        <p:spPr>
          <a:xfrm>
            <a:off x="4709160" y="3639312"/>
            <a:ext cx="281635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Use XRAG to study evidence selection and retrieval.</a:t>
            </a:r>
            <a:endParaRPr lang="en-US" sz="1020" dirty="0"/>
          </a:p>
        </p:txBody>
      </p:sp>
      <p:sp>
        <p:nvSpPr>
          <p:cNvPr id="17" name="Shape 15"/>
          <p:cNvSpPr/>
          <p:nvPr/>
        </p:nvSpPr>
        <p:spPr>
          <a:xfrm>
            <a:off x="8046720" y="3108960"/>
            <a:ext cx="3200400" cy="1280160"/>
          </a:xfrm>
          <a:prstGeom prst="roundRect">
            <a:avLst>
              <a:gd name="adj" fmla="val 5000"/>
            </a:avLst>
          </a:prstGeom>
          <a:solidFill>
            <a:srgbClr val="11192D"/>
          </a:solidFill>
          <a:ln w="12700">
            <a:solidFill>
              <a:srgbClr val="405378"/>
            </a:solidFill>
            <a:prstDash val="solid"/>
          </a:ln>
        </p:spPr>
        <p:txBody>
          <a:bodyPr/>
          <a:lstStyle/>
          <a:p>
            <a:endParaRPr/>
          </a:p>
        </p:txBody>
      </p:sp>
      <p:sp>
        <p:nvSpPr>
          <p:cNvPr id="18" name="Shape 16"/>
          <p:cNvSpPr/>
          <p:nvPr/>
        </p:nvSpPr>
        <p:spPr>
          <a:xfrm>
            <a:off x="8046720" y="3108960"/>
            <a:ext cx="100584" cy="1280160"/>
          </a:xfrm>
          <a:prstGeom prst="rect">
            <a:avLst/>
          </a:prstGeom>
          <a:solidFill>
            <a:srgbClr val="8B5CF6"/>
          </a:solidFill>
          <a:ln w="12700">
            <a:solidFill>
              <a:srgbClr val="8B5CF6"/>
            </a:solidFill>
            <a:prstDash val="solid"/>
          </a:ln>
        </p:spPr>
        <p:txBody>
          <a:bodyPr/>
          <a:lstStyle/>
          <a:p>
            <a:endParaRPr/>
          </a:p>
        </p:txBody>
      </p:sp>
      <p:sp>
        <p:nvSpPr>
          <p:cNvPr id="19" name="Text 17"/>
          <p:cNvSpPr/>
          <p:nvPr/>
        </p:nvSpPr>
        <p:spPr>
          <a:xfrm>
            <a:off x="8275320" y="3273552"/>
            <a:ext cx="2880360" cy="256032"/>
          </a:xfrm>
          <a:prstGeom prst="rect">
            <a:avLst/>
          </a:prstGeom>
          <a:solidFill>
            <a:srgbClr val="11192D"/>
          </a:solidFill>
          <a:ln>
            <a:solidFill>
              <a:srgbClr val="405378"/>
            </a:solidFill>
          </a:ln>
        </p:spPr>
        <p:txBody>
          <a:bodyPr wrap="square" lIns="0" tIns="0" rIns="0" bIns="0" rtlCol="0" anchor="ctr"/>
          <a:lstStyle/>
          <a:p>
            <a:pPr marL="0" indent="0">
              <a:buNone/>
            </a:pPr>
            <a:r>
              <a:rPr lang="en-US" sz="1220" b="1" dirty="0">
                <a:solidFill>
                  <a:srgbClr val="22D3EE"/>
                </a:solidFill>
              </a:rPr>
              <a:t>Research value</a:t>
            </a:r>
            <a:endParaRPr lang="en-US" sz="1220" dirty="0"/>
          </a:p>
        </p:txBody>
      </p:sp>
      <p:sp>
        <p:nvSpPr>
          <p:cNvPr id="20" name="Text 18"/>
          <p:cNvSpPr/>
          <p:nvPr/>
        </p:nvSpPr>
        <p:spPr>
          <a:xfrm>
            <a:off x="8275320" y="3639312"/>
            <a:ext cx="2816352" cy="621792"/>
          </a:xfrm>
          <a:prstGeom prst="rect">
            <a:avLst/>
          </a:prstGeom>
          <a:solidFill>
            <a:srgbClr val="11192D"/>
          </a:solidFill>
          <a:ln>
            <a:solidFill>
              <a:srgbClr val="405378"/>
            </a:solidFill>
          </a:ln>
        </p:spPr>
        <p:txBody>
          <a:bodyPr wrap="square" lIns="0" tIns="0" rIns="0" bIns="0" rtlCol="0" anchor="ctr">
            <a:normAutofit/>
          </a:bodyPr>
          <a:lstStyle/>
          <a:p>
            <a:pPr marL="0" indent="0">
              <a:buNone/>
            </a:pPr>
            <a:r>
              <a:rPr lang="en-US" sz="1020" dirty="0">
                <a:solidFill>
                  <a:srgbClr val="F4F7FB"/>
                </a:solidFill>
              </a:rPr>
              <a:t>Build better multilingual RAG systems by reducing distractor interference.</a:t>
            </a:r>
            <a:endParaRPr lang="en-US" sz="102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bg>
      <p:bgPr>
        <a:solidFill>
          <a:srgbClr val="080D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2D3EE"/>
          </a:solidFill>
          <a:ln w="12700">
            <a:solidFill>
              <a:srgbClr val="22D3EE"/>
            </a:solidFill>
            <a:prstDash val="solid"/>
          </a:ln>
        </p:spPr>
        <p:txBody>
          <a:bodyPr/>
          <a:lstStyle/>
          <a:p>
            <a:endParaRPr/>
          </a:p>
        </p:txBody>
      </p:sp>
      <p:sp>
        <p:nvSpPr>
          <p:cNvPr id="3" name="Text 1"/>
          <p:cNvSpPr/>
          <p:nvPr/>
        </p:nvSpPr>
        <p:spPr>
          <a:xfrm>
            <a:off x="502920" y="320040"/>
            <a:ext cx="9418320" cy="457200"/>
          </a:xfrm>
          <a:prstGeom prst="rect">
            <a:avLst/>
          </a:prstGeom>
          <a:noFill/>
          <a:ln>
            <a:noFill/>
          </a:ln>
        </p:spPr>
        <p:txBody>
          <a:bodyPr wrap="square" lIns="0" tIns="0" rIns="0" bIns="0" rtlCol="0" anchor="ctr"/>
          <a:lstStyle/>
          <a:p>
            <a:pPr marL="0" indent="0">
              <a:buNone/>
            </a:pPr>
            <a:r>
              <a:rPr lang="en-US" sz="2500" b="1" dirty="0">
                <a:solidFill>
                  <a:srgbClr val="F4F7FB"/>
                </a:solidFill>
                <a:latin typeface="Aptos Display" pitchFamily="34" charset="0"/>
                <a:ea typeface="Aptos Display" pitchFamily="34" charset="-122"/>
                <a:cs typeface="Aptos Display" pitchFamily="34" charset="-120"/>
              </a:rPr>
              <a:t>Sources</a:t>
            </a:r>
            <a:endParaRPr lang="en-US" sz="2500" dirty="0"/>
          </a:p>
        </p:txBody>
      </p:sp>
      <p:sp>
        <p:nvSpPr>
          <p:cNvPr id="4" name="Text 2"/>
          <p:cNvSpPr/>
          <p:nvPr/>
        </p:nvSpPr>
        <p:spPr>
          <a:xfrm>
            <a:off x="530352" y="804672"/>
            <a:ext cx="9784080" cy="310896"/>
          </a:xfrm>
          <a:prstGeom prst="rect">
            <a:avLst/>
          </a:prstGeom>
          <a:noFill/>
          <a:ln>
            <a:noFill/>
          </a:ln>
        </p:spPr>
        <p:txBody>
          <a:bodyPr wrap="square" lIns="0" tIns="0" rIns="0" bIns="0" rtlCol="0" anchor="ctr"/>
          <a:lstStyle/>
          <a:p>
            <a:pPr marL="0" indent="0">
              <a:buNone/>
            </a:pPr>
            <a:r>
              <a:rPr lang="en-US" sz="1050" dirty="0">
                <a:solidFill>
                  <a:srgbClr val="A6B5CD"/>
                </a:solidFill>
              </a:rPr>
              <a:t>Main source for the presentation.</a:t>
            </a:r>
            <a:endParaRPr lang="en-US" sz="1050" dirty="0"/>
          </a:p>
        </p:txBody>
      </p:sp>
      <p:sp>
        <p:nvSpPr>
          <p:cNvPr id="5" name="Shape 3"/>
          <p:cNvSpPr/>
          <p:nvPr/>
        </p:nvSpPr>
        <p:spPr>
          <a:xfrm>
            <a:off x="10287000" y="384048"/>
            <a:ext cx="1417320" cy="310896"/>
          </a:xfrm>
          <a:prstGeom prst="roundRect">
            <a:avLst>
              <a:gd name="adj" fmla="val 14706"/>
            </a:avLst>
          </a:prstGeom>
          <a:solidFill>
            <a:srgbClr val="11192D"/>
          </a:solidFill>
          <a:ln w="12700">
            <a:solidFill>
              <a:srgbClr val="405378">
                <a:alpha val="65000"/>
              </a:srgbClr>
            </a:solidFill>
            <a:prstDash val="solid"/>
          </a:ln>
        </p:spPr>
        <p:txBody>
          <a:bodyPr/>
          <a:lstStyle/>
          <a:p>
            <a:endParaRPr/>
          </a:p>
        </p:txBody>
      </p:sp>
      <p:sp>
        <p:nvSpPr>
          <p:cNvPr id="6" name="Text 4"/>
          <p:cNvSpPr/>
          <p:nvPr/>
        </p:nvSpPr>
        <p:spPr>
          <a:xfrm>
            <a:off x="10287000" y="438912"/>
            <a:ext cx="1417320" cy="164592"/>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750" b="1" dirty="0">
                <a:solidFill>
                  <a:srgbClr val="F4F7FB"/>
                </a:solidFill>
              </a:rPr>
              <a:t>PAPER</a:t>
            </a:r>
            <a:endParaRPr lang="en-US" sz="750" dirty="0"/>
          </a:p>
        </p:txBody>
      </p:sp>
      <p:sp>
        <p:nvSpPr>
          <p:cNvPr id="7" name="Text 5"/>
          <p:cNvSpPr/>
          <p:nvPr/>
        </p:nvSpPr>
        <p:spPr>
          <a:xfrm>
            <a:off x="822960" y="1325880"/>
            <a:ext cx="2286000" cy="320040"/>
          </a:xfrm>
          <a:prstGeom prst="rect">
            <a:avLst/>
          </a:prstGeom>
          <a:solidFill>
            <a:srgbClr val="11192D"/>
          </a:solidFill>
          <a:ln>
            <a:solidFill>
              <a:srgbClr val="405378"/>
            </a:solidFill>
          </a:ln>
        </p:spPr>
        <p:txBody>
          <a:bodyPr wrap="square" rtlCol="0" anchor="ctr"/>
          <a:lstStyle/>
          <a:p>
            <a:pPr marL="0" indent="0">
              <a:buNone/>
            </a:pPr>
            <a:r>
              <a:rPr lang="en-US" sz="1600" b="1" dirty="0">
                <a:solidFill>
                  <a:srgbClr val="22D3EE"/>
                </a:solidFill>
              </a:rPr>
              <a:t>Primary paper</a:t>
            </a:r>
            <a:endParaRPr lang="en-US" sz="1600" dirty="0"/>
          </a:p>
        </p:txBody>
      </p:sp>
      <p:sp>
        <p:nvSpPr>
          <p:cNvPr id="8" name="Text 6"/>
          <p:cNvSpPr/>
          <p:nvPr/>
        </p:nvSpPr>
        <p:spPr>
          <a:xfrm>
            <a:off x="822960" y="1783080"/>
            <a:ext cx="10424160" cy="548640"/>
          </a:xfrm>
          <a:prstGeom prst="rect">
            <a:avLst/>
          </a:prstGeom>
          <a:solidFill>
            <a:srgbClr val="11192D"/>
          </a:solidFill>
          <a:ln>
            <a:solidFill>
              <a:srgbClr val="405378"/>
            </a:solidFill>
          </a:ln>
        </p:spPr>
        <p:txBody>
          <a:bodyPr wrap="square" rtlCol="0" anchor="ctr">
            <a:normAutofit/>
          </a:bodyPr>
          <a:lstStyle/>
          <a:p>
            <a:pPr marL="0" indent="0">
              <a:buNone/>
            </a:pPr>
            <a:r>
              <a:rPr lang="en-US" sz="1300" dirty="0">
                <a:solidFill>
                  <a:srgbClr val="F4F7FB"/>
                </a:solidFill>
              </a:rPr>
              <a:t>Liu, W., Trenous, S., Ribeiro, L. F. R., Byrne, B., &amp; Hieber, F. (2025). XRAG: Cross-lingual Retrieval-Augmented Generation. Findings of EMNLP 2025.</a:t>
            </a:r>
            <a:endParaRPr lang="en-US" sz="1300" dirty="0"/>
          </a:p>
        </p:txBody>
      </p:sp>
      <p:sp>
        <p:nvSpPr>
          <p:cNvPr id="9" name="Text 7"/>
          <p:cNvSpPr/>
          <p:nvPr/>
        </p:nvSpPr>
        <p:spPr>
          <a:xfrm>
            <a:off x="822960" y="2606040"/>
            <a:ext cx="10424160" cy="310896"/>
          </a:xfrm>
          <a:prstGeom prst="rect">
            <a:avLst/>
          </a:prstGeom>
          <a:solidFill>
            <a:srgbClr val="11192D"/>
          </a:solidFill>
          <a:ln>
            <a:solidFill>
              <a:srgbClr val="405378"/>
            </a:solidFill>
          </a:ln>
        </p:spPr>
        <p:txBody>
          <a:bodyPr wrap="square" rtlCol="0" anchor="ctr"/>
          <a:lstStyle/>
          <a:p>
            <a:pPr marL="0" indent="0">
              <a:buNone/>
            </a:pPr>
            <a:r>
              <a:rPr lang="en-US" sz="1200" dirty="0">
                <a:solidFill>
                  <a:srgbClr val="F4F7FB"/>
                </a:solidFill>
              </a:rPr>
              <a:t>Dataset and code: Hugging Face dataset page for AmazonScience/XRAG.</a:t>
            </a:r>
            <a:endParaRPr lang="en-US" sz="1200" dirty="0"/>
          </a:p>
        </p:txBody>
      </p:sp>
      <p:sp>
        <p:nvSpPr>
          <p:cNvPr id="10" name="Text 8"/>
          <p:cNvSpPr/>
          <p:nvPr/>
        </p:nvSpPr>
        <p:spPr>
          <a:xfrm>
            <a:off x="822960" y="3429000"/>
            <a:ext cx="2286000" cy="320040"/>
          </a:xfrm>
          <a:prstGeom prst="rect">
            <a:avLst/>
          </a:prstGeom>
          <a:solidFill>
            <a:srgbClr val="11192D"/>
          </a:solidFill>
          <a:ln>
            <a:solidFill>
              <a:srgbClr val="405378"/>
            </a:solidFill>
          </a:ln>
        </p:spPr>
        <p:txBody>
          <a:bodyPr wrap="square" rtlCol="0" anchor="ctr"/>
          <a:lstStyle/>
          <a:p>
            <a:pPr marL="0" indent="0">
              <a:buNone/>
            </a:pPr>
            <a:r>
              <a:rPr lang="en-US" sz="1600" b="1" dirty="0">
                <a:solidFill>
                  <a:srgbClr val="22D3EE"/>
                </a:solidFill>
              </a:rPr>
              <a:t>Project results</a:t>
            </a:r>
            <a:endParaRPr lang="en-US" sz="1600" dirty="0"/>
          </a:p>
        </p:txBody>
      </p:sp>
      <p:sp>
        <p:nvSpPr>
          <p:cNvPr id="11" name="Text 9"/>
          <p:cNvSpPr/>
          <p:nvPr/>
        </p:nvSpPr>
        <p:spPr>
          <a:xfrm>
            <a:off x="822960" y="3886200"/>
            <a:ext cx="10424160" cy="594360"/>
          </a:xfrm>
          <a:prstGeom prst="rect">
            <a:avLst/>
          </a:prstGeom>
          <a:solidFill>
            <a:srgbClr val="11192D"/>
          </a:solidFill>
          <a:ln>
            <a:solidFill>
              <a:srgbClr val="405378"/>
            </a:solidFill>
          </a:ln>
        </p:spPr>
        <p:txBody>
          <a:bodyPr wrap="square" rtlCol="0" anchor="ctr">
            <a:normAutofit/>
          </a:bodyPr>
          <a:lstStyle/>
          <a:p>
            <a:pPr marL="0" indent="0">
              <a:buNone/>
            </a:pPr>
            <a:r>
              <a:rPr lang="en-US" sz="1250" dirty="0">
                <a:solidFill>
                  <a:srgbClr val="F4F7FB"/>
                </a:solidFill>
              </a:rPr>
              <a:t>Pilot results from my REU XRAG baseline tests: GPT-5.4 evidence-condition scoring, BM25 retrieval evaluation, chunked E5 retrieval evaluation, and BM25 Top-2 end-to-end generation.</a:t>
            </a:r>
            <a:endParaRPr lang="en-US" sz="1250" dirty="0"/>
          </a:p>
        </p:txBody>
      </p:sp>
      <p:sp>
        <p:nvSpPr>
          <p:cNvPr id="12" name="Text 10"/>
          <p:cNvSpPr/>
          <p:nvPr/>
        </p:nvSpPr>
        <p:spPr>
          <a:xfrm>
            <a:off x="822960" y="4892040"/>
            <a:ext cx="10424160" cy="457200"/>
          </a:xfrm>
          <a:prstGeom prst="rect">
            <a:avLst/>
          </a:prstGeom>
          <a:solidFill>
            <a:srgbClr val="11192D"/>
          </a:solidFill>
          <a:ln>
            <a:solidFill>
              <a:srgbClr val="405378"/>
            </a:solidFill>
          </a:ln>
        </p:spPr>
        <p:txBody>
          <a:bodyPr wrap="square" rtlCol="0" anchor="ctr">
            <a:normAutofit/>
          </a:bodyPr>
          <a:lstStyle/>
          <a:p>
            <a:pPr marL="0" indent="0">
              <a:buNone/>
            </a:pPr>
            <a:r>
              <a:rPr lang="en-US" sz="1150" dirty="0">
                <a:solidFill>
                  <a:srgbClr val="F4F7FB"/>
                </a:solidFill>
              </a:rPr>
              <a:t>Optional citation to mention verbally: the paper builds on the broader RAG idea introduced by Lewis et al. (2020), Retrieval-Augmented Generation for Knowledge-Intensive NLP Tasks.</a:t>
            </a:r>
            <a:endParaRPr lang="en-US" sz="1150" dirty="0"/>
          </a:p>
        </p:txBody>
      </p:sp>
      <p:sp>
        <p:nvSpPr>
          <p:cNvPr id="25" name="Slide Number Placeholder 0"/>
          <p:cNvSpPr>
            <a:spLocks noGrp="1"/>
          </p:cNvSpPr>
          <p:nvPr>
            <p:ph type="sldNum" sz="quarter" idx="4294967295"/>
          </p:nvPr>
        </p:nvSpPr>
        <p:spPr>
          <a:xfrm>
            <a:off x="11686032"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677487"/>
                </a:solidFill>
                <a:latin typeface="Aptos"/>
                <a:ea typeface="Aptos"/>
                <a:cs typeface="Aptos"/>
              </a:defRPr>
            </a:lvl1pPr>
          </a:lstStyle>
          <a:p>
            <a:pPr algn="l"/>
            <a:fld id="{F7021451-1387-4CA6-816F-3879F97B5CBC}" type="slidenum">
              <a:rPr lang="en-US" b="0"/>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4564</Words>
  <Application>Microsoft Office PowerPoint</Application>
  <PresentationFormat>Widescreen</PresentationFormat>
  <Paragraphs>609</Paragraphs>
  <Slides>34</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NSF Virtual REU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XRAG: Cross-lingual Retrieval-Augmented Generation</dc:title>
  <dc:subject>XRAG research paper presentation and project connection</dc:subject>
  <dc:creator>Zackery Lake</dc:creator>
  <cp:lastModifiedBy>Zackery Lake</cp:lastModifiedBy>
  <cp:revision>3</cp:revision>
  <dcterms:created xsi:type="dcterms:W3CDTF">2026-07-05T18:22:32Z</dcterms:created>
  <dcterms:modified xsi:type="dcterms:W3CDTF">2026-07-06T04:51:11Z</dcterms:modified>
</cp:coreProperties>
</file>