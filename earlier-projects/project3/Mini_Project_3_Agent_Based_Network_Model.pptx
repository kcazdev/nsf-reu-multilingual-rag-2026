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690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this as a simple agent-based model where strategies create population-level results 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explains the main project goal and questions. Emphasize that the model is local: agents only interact through network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the graph layout is just a visualization. The connections are what determine who can interact.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three strategies and the model update order. Emphasize that the model is not choosing a winner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three measurement graphs. Average energy stays flat, but survival declines and inequality rises.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before-and-after slide. Black nodes are dead agents. Large red nodes show aggressive agents with high energy.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aggressive agents both accumulate more energy and survive at a higher rate. Neutral agents can still be targeted, so neutrality is not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for the clean numerical summary. The Gini index and strategy outcomes are the strongest numbers to cite.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directly answers the project questions and mentions limitations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by stating that this project shows emergence: individual strategies lead to system-wide inequality and survival differences.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2"/>
          </a:solidFill>
          <a:ln w="12700">
            <a:solidFill>
              <a:srgbClr val="F6F7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8A2D"/>
          </a:solidFill>
          <a:ln w="12700">
            <a:solidFill>
              <a:srgbClr val="168A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594360"/>
            <a:ext cx="5760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19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Cooperate, Compete,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19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 Stay Neutral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21792" y="199339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6670"/>
                </a:solidFill>
              </a:rPr>
              <a:t>An agent-based network model of energy, survival, and inequality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" y="2514600"/>
            <a:ext cx="2423160" cy="310896"/>
          </a:xfrm>
          <a:prstGeom prst="roundRect">
            <a:avLst>
              <a:gd name="adj" fmla="val 23529"/>
            </a:avLst>
          </a:prstGeom>
          <a:solidFill>
            <a:srgbClr val="168A2D"/>
          </a:solidFill>
          <a:ln w="12700">
            <a:solidFill>
              <a:srgbClr val="168A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94944" y="2578608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Mini Project 3: Agent-Based Modeling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3218688" y="251460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E32626"/>
          </a:solidFill>
          <a:ln w="12700">
            <a:solidFill>
              <a:srgbClr val="E326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91840" y="2578608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Local interactions only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621792" y="31546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92026"/>
                </a:solidFill>
              </a:rPr>
              <a:t>Each node is an agent. Each edge is a relationship where two agents can interact.</a:t>
            </a:r>
            <a:endParaRPr lang="en-US" sz="1800" dirty="0"/>
          </a:p>
        </p:txBody>
      </p:sp>
      <p:pic>
        <p:nvPicPr>
          <p:cNvPr id="11" name="Image 0" descr="/mnt/data/assets_myplot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140460"/>
            <a:ext cx="5120640" cy="3982720"/>
          </a:xfrm>
          <a:prstGeom prst="rect">
            <a:avLst/>
          </a:prstGeom>
          <a:effectLst>
            <a:outerShdw blurRad="25400" dist="19050" dir="2700000" algn="bl" rotWithShape="0">
              <a:srgbClr val="000000">
                <a:alpha val="16000"/>
              </a:srgbClr>
            </a:outerShdw>
          </a:effectLst>
        </p:spPr>
      </p:pic>
      <p:sp>
        <p:nvSpPr>
          <p:cNvPr id="12" name="Text 9"/>
          <p:cNvSpPr/>
          <p:nvPr/>
        </p:nvSpPr>
        <p:spPr>
          <a:xfrm>
            <a:off x="6446520" y="598932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E6670"/>
                </a:solidFill>
              </a:rPr>
              <a:t>Green = helpers   Gray = neutral   Red = aggressive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02920" y="64922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670"/>
                </a:solidFill>
              </a:rPr>
              <a:t>Mini Project 3 • Agent-Based Modeling • 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2"/>
          </a:solidFill>
          <a:ln w="12700">
            <a:solidFill>
              <a:srgbClr val="F6F7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8A2D"/>
          </a:solidFill>
          <a:ln w="12700">
            <a:solidFill>
              <a:srgbClr val="168A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9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 &amp; research questions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larger patterns emerge when agents follow simple local behavior rules?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060704"/>
            <a:ext cx="11201400" cy="0"/>
          </a:xfrm>
          <a:prstGeom prst="line">
            <a:avLst/>
          </a:prstGeom>
          <a:noFill/>
          <a:ln w="12700">
            <a:solidFill>
              <a:srgbClr val="B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8A2D"/>
                </a:solidFill>
              </a:rPr>
              <a:t>Problem statement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71907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92026"/>
                </a:solidFill>
              </a:rPr>
              <a:t>We created an agent-based model to test how three individual strategies—helping, neutrality, and aggression—affect resource distribution, survival, and inequality in a connected population.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17220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32626"/>
                </a:solidFill>
              </a:rPr>
              <a:t>Research questions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172200" y="1783080"/>
            <a:ext cx="516636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9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strategy produces the highest average energy?
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9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strategy has the highest survival rate?
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9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local interaction create inequality even without a central controller?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3749040"/>
            <a:ext cx="10881360" cy="0"/>
          </a:xfrm>
          <a:prstGeom prst="line">
            <a:avLst/>
          </a:prstGeom>
          <a:noFill/>
          <a:ln w="12700">
            <a:solidFill>
              <a:srgbClr val="B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41605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92026"/>
                </a:solidFill>
              </a:rPr>
              <a:t>30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868680" y="45994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E6670"/>
                </a:solidFill>
              </a:rPr>
              <a:t>agents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331720" y="41605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92026"/>
                </a:solidFill>
              </a:rPr>
              <a:t>60</a:t>
            </a:r>
            <a:endParaRPr lang="en-US" sz="2900" dirty="0"/>
          </a:p>
        </p:txBody>
      </p:sp>
      <p:sp>
        <p:nvSpPr>
          <p:cNvPr id="15" name="Text 13"/>
          <p:cNvSpPr/>
          <p:nvPr/>
        </p:nvSpPr>
        <p:spPr>
          <a:xfrm>
            <a:off x="2331720" y="45994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E6670"/>
                </a:solidFill>
              </a:rPr>
              <a:t>connections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069080" y="41605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92026"/>
                </a:solidFill>
              </a:rPr>
              <a:t>100</a:t>
            </a:r>
            <a:endParaRPr lang="en-US" sz="2900" dirty="0"/>
          </a:p>
        </p:txBody>
      </p:sp>
      <p:sp>
        <p:nvSpPr>
          <p:cNvPr id="17" name="Text 15"/>
          <p:cNvSpPr/>
          <p:nvPr/>
        </p:nvSpPr>
        <p:spPr>
          <a:xfrm>
            <a:off x="4069080" y="45994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E6670"/>
                </a:solidFill>
              </a:rPr>
              <a:t>steps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806440" y="41605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92026"/>
                </a:solidFill>
              </a:rPr>
              <a:t>10</a:t>
            </a:r>
            <a:endParaRPr lang="en-US" sz="2900" dirty="0"/>
          </a:p>
        </p:txBody>
      </p:sp>
      <p:sp>
        <p:nvSpPr>
          <p:cNvPr id="19" name="Text 17"/>
          <p:cNvSpPr/>
          <p:nvPr/>
        </p:nvSpPr>
        <p:spPr>
          <a:xfrm>
            <a:off x="5806440" y="45994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E6670"/>
                </a:solidFill>
              </a:rPr>
              <a:t>starting energy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543800" y="41605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92026"/>
                </a:solidFill>
              </a:rPr>
              <a:t>+1 / −1</a:t>
            </a:r>
            <a:endParaRPr lang="en-US" sz="2900" dirty="0"/>
          </a:p>
        </p:txBody>
      </p:sp>
      <p:sp>
        <p:nvSpPr>
          <p:cNvPr id="21" name="Text 19"/>
          <p:cNvSpPr/>
          <p:nvPr/>
        </p:nvSpPr>
        <p:spPr>
          <a:xfrm>
            <a:off x="7543800" y="45994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E6670"/>
                </a:solidFill>
              </a:rPr>
              <a:t>income and cost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555480" y="41605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92026"/>
                </a:solidFill>
              </a:rPr>
              <a:t>3</a:t>
            </a:r>
            <a:endParaRPr lang="en-US" sz="2900" dirty="0"/>
          </a:p>
        </p:txBody>
      </p:sp>
      <p:sp>
        <p:nvSpPr>
          <p:cNvPr id="23" name="Text 21"/>
          <p:cNvSpPr/>
          <p:nvPr/>
        </p:nvSpPr>
        <p:spPr>
          <a:xfrm>
            <a:off x="9555480" y="45994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E6670"/>
                </a:solidFill>
              </a:rPr>
              <a:t>strategies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64922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670"/>
                </a:solidFill>
              </a:rPr>
              <a:t>Mini Project 3 • Agent-Based Modeling •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2"/>
          </a:solidFill>
          <a:ln w="12700">
            <a:solidFill>
              <a:srgbClr val="F6F7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8A2D"/>
          </a:solidFill>
          <a:ln w="12700">
            <a:solidFill>
              <a:srgbClr val="168A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9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setup: a connected network of agents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graph is the environment; strategies are the agent behaviors.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060704"/>
            <a:ext cx="11201400" cy="0"/>
          </a:xfrm>
          <a:prstGeom prst="line">
            <a:avLst/>
          </a:prstGeom>
          <a:noFill/>
          <a:ln w="12700">
            <a:solidFill>
              <a:srgbClr val="B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data/assets_myplot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42288"/>
            <a:ext cx="5486400" cy="4267200"/>
          </a:xfrm>
          <a:prstGeom prst="rect">
            <a:avLst/>
          </a:prstGeom>
          <a:effectLst>
            <a:outerShdw blurRad="25400" dist="19050" dir="2700000" algn="bl" rotWithShape="0">
              <a:srgbClr val="000000">
                <a:alpha val="16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6537960" y="1444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8A2D"/>
                </a:solidFill>
              </a:rPr>
              <a:t>Environment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537960" y="1719073"/>
            <a:ext cx="4846320" cy="197510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9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Nodes represent agents.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9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Edges represent relationships.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9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graph is connected, so every agent is part of the population.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9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can interact only with neighbors connected by edges.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537960" y="3749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32626"/>
                </a:solidFill>
              </a:rPr>
              <a:t>Starting strategies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37960" y="4160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8A2D"/>
                </a:solidFill>
              </a:rPr>
              <a:t>10 helpers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75320" y="4160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18181"/>
                </a:solidFill>
              </a:rPr>
              <a:t>10 neutral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921240" y="4160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32626"/>
                </a:solidFill>
              </a:rPr>
              <a:t>10 aggressive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537960" y="470916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92026"/>
                </a:solidFill>
              </a:rPr>
              <a:t>Node size represents energy; at step 0, everyone starts equal.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502920" y="64922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670"/>
                </a:solidFill>
              </a:rPr>
              <a:t>Mini Project 3 • Agent-Based Modeling •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2"/>
          </a:solidFill>
          <a:ln w="12700">
            <a:solidFill>
              <a:srgbClr val="F6F7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8A2D"/>
          </a:solidFill>
          <a:ln w="12700">
            <a:solidFill>
              <a:srgbClr val="168A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9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 rules: simple local choices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population-level pattern emerges from repeated neighbor-to-neighbor interactions.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060704"/>
            <a:ext cx="11201400" cy="0"/>
          </a:xfrm>
          <a:prstGeom prst="line">
            <a:avLst/>
          </a:prstGeom>
          <a:noFill/>
          <a:ln w="12700">
            <a:solidFill>
              <a:srgbClr val="B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150876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168A2D"/>
          </a:solidFill>
          <a:ln w="12700">
            <a:solidFill>
              <a:srgbClr val="168A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61848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Helper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167128"/>
            <a:ext cx="26517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92026"/>
                </a:solidFill>
              </a:rPr>
              <a:t>Gives 1 energy to a connected neighbor if it has enough energy to share.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977640" y="150876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818181"/>
          </a:solidFill>
          <a:ln w="12700">
            <a:solidFill>
              <a:srgbClr val="8181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977640" y="161848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Neutral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77640" y="2167128"/>
            <a:ext cx="26517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92026"/>
                </a:solidFill>
              </a:rPr>
              <a:t>Does not give or steal. It gains income and pays survival cost.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269480" y="150876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E32626"/>
          </a:solidFill>
          <a:ln w="12700">
            <a:solidFill>
              <a:srgbClr val="E326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269480" y="161848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Aggressive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269480" y="2167128"/>
            <a:ext cx="26517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92026"/>
                </a:solidFill>
              </a:rPr>
              <a:t>Takes 1 energy from a connected living neighbor whenever possible.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493008" y="1847088"/>
            <a:ext cx="384048" cy="0"/>
          </a:xfrm>
          <a:prstGeom prst="line">
            <a:avLst/>
          </a:prstGeom>
          <a:noFill/>
          <a:ln w="25400">
            <a:solidFill>
              <a:srgbClr val="B8BFB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784848" y="1847088"/>
            <a:ext cx="384048" cy="0"/>
          </a:xfrm>
          <a:prstGeom prst="line">
            <a:avLst/>
          </a:prstGeom>
          <a:noFill/>
          <a:ln w="25400">
            <a:solidFill>
              <a:srgbClr val="B8BFB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51560" y="3749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2026"/>
                </a:solidFill>
              </a:rPr>
              <a:t>Update sequence each step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51560" y="4187952"/>
            <a:ext cx="987552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9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Living agents gain +1 energy from the environment.
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9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Living agents pay −1 energy as metabolism cost.
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9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agent interacts with one living neighbor.
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9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with zero energy die and turn black in the visualization.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051560" y="57150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E32626"/>
                </a:solidFill>
              </a:rPr>
              <a:t>Key ABM idea: no global rule creates inequality. It appears from local behavior.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922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670"/>
                </a:solidFill>
              </a:rPr>
              <a:t>Mini Project 3 • Agent-Based Modeling •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2"/>
          </a:solidFill>
          <a:ln w="12700">
            <a:solidFill>
              <a:srgbClr val="F6F7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8A2D"/>
          </a:solidFill>
          <a:ln w="12700">
            <a:solidFill>
              <a:srgbClr val="168A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9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System-level measurements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tracks both individual survival and population-level patterns.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060704"/>
            <a:ext cx="11201400" cy="0"/>
          </a:xfrm>
          <a:prstGeom prst="line">
            <a:avLst/>
          </a:prstGeom>
          <a:noFill/>
          <a:ln w="12700">
            <a:solidFill>
              <a:srgbClr val="B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data/assets_myplot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63027"/>
            <a:ext cx="3611880" cy="2257425"/>
          </a:xfrm>
          <a:prstGeom prst="rect">
            <a:avLst/>
          </a:prstGeom>
          <a:effectLst>
            <a:outerShdw blurRad="25400" dist="19050" dir="2700000" algn="bl" rotWithShape="0">
              <a:srgbClr val="000000">
                <a:alpha val="16000"/>
              </a:srgbClr>
            </a:outerShdw>
          </a:effectLst>
        </p:spPr>
      </p:pic>
      <p:pic>
        <p:nvPicPr>
          <p:cNvPr id="8" name="Image 1" descr="/mnt/data/assets_myplot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1363027"/>
            <a:ext cx="3611880" cy="2257425"/>
          </a:xfrm>
          <a:prstGeom prst="rect">
            <a:avLst/>
          </a:prstGeom>
          <a:effectLst>
            <a:outerShdw blurRad="25400" dist="19050" dir="2700000" algn="bl" rotWithShape="0">
              <a:srgbClr val="000000">
                <a:alpha val="16000"/>
              </a:srgbClr>
            </a:outerShdw>
          </a:effectLst>
        </p:spPr>
      </p:pic>
      <p:pic>
        <p:nvPicPr>
          <p:cNvPr id="9" name="Image 2" descr="/mnt/data/assets_myplot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1363027"/>
            <a:ext cx="3611880" cy="2257425"/>
          </a:xfrm>
          <a:prstGeom prst="rect">
            <a:avLst/>
          </a:prstGeom>
          <a:effectLst>
            <a:outerShdw blurRad="25400" dist="19050" dir="2700000" algn="bl" rotWithShape="0">
              <a:srgbClr val="000000">
                <a:alpha val="16000"/>
              </a:srgbClr>
            </a:outerShdw>
          </a:effectLst>
        </p:spPr>
      </p:pic>
      <p:sp>
        <p:nvSpPr>
          <p:cNvPr id="10" name="Text 5"/>
          <p:cNvSpPr/>
          <p:nvPr/>
        </p:nvSpPr>
        <p:spPr>
          <a:xfrm>
            <a:off x="685800" y="395020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2026"/>
                </a:solidFill>
              </a:rPr>
              <a:t>Average energy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685800" y="4261104"/>
            <a:ext cx="32004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5E6670"/>
                </a:solidFill>
              </a:rPr>
              <a:t>Total resources stayed constant because +1 income and −1 metabolism cancel out.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4434840" y="395020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2026"/>
                </a:solidFill>
              </a:rPr>
              <a:t>Survival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4434840" y="4261104"/>
            <a:ext cx="32004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5E6670"/>
                </a:solidFill>
              </a:rPr>
              <a:t>Population fell from 30 living agents to 15 living agents by the end.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8247888" y="395020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2026"/>
                </a:solidFill>
              </a:rPr>
              <a:t>Inequality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247888" y="4261104"/>
            <a:ext cx="32004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5E6670"/>
                </a:solidFill>
              </a:rPr>
              <a:t>The Gini index rose to 0.713, showing energy became highly concentrated.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502920" y="64922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670"/>
                </a:solidFill>
              </a:rPr>
              <a:t>Mini Project 3 • Agent-Based Modeling •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2"/>
          </a:solidFill>
          <a:ln w="12700">
            <a:solidFill>
              <a:srgbClr val="F6F7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8A2D"/>
          </a:solidFill>
          <a:ln w="12700">
            <a:solidFill>
              <a:srgbClr val="168A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9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Emergence: the network starts balanced, then separates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agents begin with equal energy, but local interactions create an unequal final state.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060704"/>
            <a:ext cx="11201400" cy="0"/>
          </a:xfrm>
          <a:prstGeom prst="line">
            <a:avLst/>
          </a:prstGeom>
          <a:noFill/>
          <a:ln w="12700">
            <a:solidFill>
              <a:srgbClr val="B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data/assets_my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62100"/>
            <a:ext cx="4800600" cy="3733800"/>
          </a:xfrm>
          <a:prstGeom prst="rect">
            <a:avLst/>
          </a:prstGeom>
          <a:effectLst>
            <a:outerShdw blurRad="25400" dist="19050" dir="2700000" algn="bl" rotWithShape="0">
              <a:srgbClr val="000000">
                <a:alpha val="16000"/>
              </a:srgbClr>
            </a:outerShdw>
          </a:effectLst>
        </p:spPr>
      </p:pic>
      <p:pic>
        <p:nvPicPr>
          <p:cNvPr id="8" name="Image 1" descr="/mnt/data/assets_myplot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562100"/>
            <a:ext cx="4800600" cy="3733800"/>
          </a:xfrm>
          <a:prstGeom prst="rect">
            <a:avLst/>
          </a:prstGeom>
          <a:effectLst>
            <a:outerShdw blurRad="25400" dist="19050" dir="2700000" algn="bl" rotWithShape="0">
              <a:srgbClr val="000000">
                <a:alpha val="16000"/>
              </a:srgbClr>
            </a:outerShdw>
          </a:effectLst>
        </p:spPr>
      </p:pic>
      <p:sp>
        <p:nvSpPr>
          <p:cNvPr id="9" name="Text 5"/>
          <p:cNvSpPr/>
          <p:nvPr/>
        </p:nvSpPr>
        <p:spPr>
          <a:xfrm>
            <a:off x="640080" y="5650992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2026"/>
                </a:solidFill>
              </a:rPr>
              <a:t>Step 0: equal starting point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675120" y="5650992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32626"/>
                </a:solidFill>
              </a:rPr>
              <a:t>Step 100: energy concentrated in aggressive agents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623560" y="3401568"/>
            <a:ext cx="841248" cy="0"/>
          </a:xfrm>
          <a:prstGeom prst="line">
            <a:avLst/>
          </a:prstGeom>
          <a:noFill/>
          <a:ln w="27940">
            <a:solidFill>
              <a:srgbClr val="E3262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02920" y="64922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670"/>
                </a:solidFill>
              </a:rPr>
              <a:t>Mini Project 3 • Agent-Based Modeling •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2"/>
          </a:solidFill>
          <a:ln w="12700">
            <a:solidFill>
              <a:srgbClr val="F6F7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8A2D"/>
          </a:solidFill>
          <a:ln w="12700">
            <a:solidFill>
              <a:srgbClr val="168A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9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comparison: aggression wins under these rules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strategy-level graphs show where the energy and survival advantage went.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060704"/>
            <a:ext cx="11201400" cy="0"/>
          </a:xfrm>
          <a:prstGeom prst="line">
            <a:avLst/>
          </a:prstGeom>
          <a:noFill/>
          <a:ln w="12700">
            <a:solidFill>
              <a:srgbClr val="B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data/assets_myplot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37310"/>
            <a:ext cx="5303520" cy="3314700"/>
          </a:xfrm>
          <a:prstGeom prst="rect">
            <a:avLst/>
          </a:prstGeom>
          <a:effectLst>
            <a:outerShdw blurRad="25400" dist="19050" dir="2700000" algn="bl" rotWithShape="0">
              <a:srgbClr val="000000">
                <a:alpha val="16000"/>
              </a:srgbClr>
            </a:outerShdw>
          </a:effectLst>
        </p:spPr>
      </p:pic>
      <p:pic>
        <p:nvPicPr>
          <p:cNvPr id="8" name="Image 1" descr="/mnt/data/assets_myplot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337310"/>
            <a:ext cx="5303520" cy="3314700"/>
          </a:xfrm>
          <a:prstGeom prst="rect">
            <a:avLst/>
          </a:prstGeom>
          <a:effectLst>
            <a:outerShdw blurRad="25400" dist="19050" dir="2700000" algn="bl" rotWithShape="0">
              <a:srgbClr val="000000">
                <a:alpha val="16000"/>
              </a:srgbClr>
            </a:outerShdw>
          </a:effectLst>
        </p:spPr>
      </p:pic>
      <p:sp>
        <p:nvSpPr>
          <p:cNvPr id="9" name="Text 5"/>
          <p:cNvSpPr/>
          <p:nvPr/>
        </p:nvSpPr>
        <p:spPr>
          <a:xfrm>
            <a:off x="914400" y="515721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E32626"/>
                </a:solidFill>
              </a:rPr>
              <a:t>26.0</a:t>
            </a:r>
            <a:endParaRPr lang="en-US" sz="2900" dirty="0"/>
          </a:p>
        </p:txBody>
      </p:sp>
      <p:sp>
        <p:nvSpPr>
          <p:cNvPr id="10" name="Text 6"/>
          <p:cNvSpPr/>
          <p:nvPr/>
        </p:nvSpPr>
        <p:spPr>
          <a:xfrm>
            <a:off x="914400" y="559612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E6670"/>
                </a:solidFill>
              </a:rPr>
              <a:t>final avg. energy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E6670"/>
                </a:solidFill>
              </a:rPr>
              <a:t>aggressive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2697480" y="515721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68A2D"/>
                </a:solidFill>
              </a:rPr>
              <a:t>1.0</a:t>
            </a:r>
            <a:endParaRPr lang="en-US" sz="2900" dirty="0"/>
          </a:p>
        </p:txBody>
      </p:sp>
      <p:sp>
        <p:nvSpPr>
          <p:cNvPr id="12" name="Text 8"/>
          <p:cNvSpPr/>
          <p:nvPr/>
        </p:nvSpPr>
        <p:spPr>
          <a:xfrm>
            <a:off x="2697480" y="559612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E6670"/>
                </a:solidFill>
              </a:rPr>
              <a:t>final avg. energy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E6670"/>
                </a:solidFill>
              </a:rPr>
              <a:t>helpers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434840" y="515721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818181"/>
                </a:solidFill>
              </a:rPr>
              <a:t>3.0</a:t>
            </a:r>
            <a:endParaRPr lang="en-US" sz="2900" dirty="0"/>
          </a:p>
        </p:txBody>
      </p:sp>
      <p:sp>
        <p:nvSpPr>
          <p:cNvPr id="14" name="Text 10"/>
          <p:cNvSpPr/>
          <p:nvPr/>
        </p:nvSpPr>
        <p:spPr>
          <a:xfrm>
            <a:off x="4434840" y="559612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E6670"/>
                </a:solidFill>
              </a:rPr>
              <a:t>final avg. energy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E6670"/>
                </a:solidFill>
              </a:rPr>
              <a:t>neutral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720840" y="515721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E32626"/>
                </a:solidFill>
              </a:rPr>
              <a:t>80%</a:t>
            </a:r>
            <a:endParaRPr lang="en-US" sz="2900" dirty="0"/>
          </a:p>
        </p:txBody>
      </p:sp>
      <p:sp>
        <p:nvSpPr>
          <p:cNvPr id="16" name="Text 12"/>
          <p:cNvSpPr/>
          <p:nvPr/>
        </p:nvSpPr>
        <p:spPr>
          <a:xfrm>
            <a:off x="6720840" y="559612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E6670"/>
                </a:solidFill>
              </a:rPr>
              <a:t>aggressive survival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8641080" y="515721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68A2D"/>
                </a:solidFill>
              </a:rPr>
              <a:t>50%</a:t>
            </a:r>
            <a:endParaRPr lang="en-US" sz="2900" dirty="0"/>
          </a:p>
        </p:txBody>
      </p:sp>
      <p:sp>
        <p:nvSpPr>
          <p:cNvPr id="18" name="Text 14"/>
          <p:cNvSpPr/>
          <p:nvPr/>
        </p:nvSpPr>
        <p:spPr>
          <a:xfrm>
            <a:off x="8641080" y="559612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E6670"/>
                </a:solidFill>
              </a:rPr>
              <a:t>helper survival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10287000" y="515721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818181"/>
                </a:solidFill>
              </a:rPr>
              <a:t>20%</a:t>
            </a:r>
            <a:endParaRPr lang="en-US" sz="2900" dirty="0"/>
          </a:p>
        </p:txBody>
      </p:sp>
      <p:sp>
        <p:nvSpPr>
          <p:cNvPr id="20" name="Text 16"/>
          <p:cNvSpPr/>
          <p:nvPr/>
        </p:nvSpPr>
        <p:spPr>
          <a:xfrm>
            <a:off x="10287000" y="559612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E6670"/>
                </a:solidFill>
              </a:rPr>
              <a:t>neutral survival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02920" y="64922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670"/>
                </a:solidFill>
              </a:rPr>
              <a:t>Mini Project 3 • Agent-Based Modeling •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2"/>
          </a:solidFill>
          <a:ln w="12700">
            <a:solidFill>
              <a:srgbClr val="F6F7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8A2D"/>
          </a:solidFill>
          <a:ln w="12700">
            <a:solidFill>
              <a:srgbClr val="168A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9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results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run demonstrates high inequality and a strong strategy advantage.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060704"/>
            <a:ext cx="11201400" cy="0"/>
          </a:xfrm>
          <a:prstGeom prst="line">
            <a:avLst/>
          </a:prstGeom>
          <a:noFill/>
          <a:ln w="12700">
            <a:solidFill>
              <a:srgbClr val="B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353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92026"/>
                </a:solidFill>
              </a:rPr>
              <a:t>Population-level outcome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92026"/>
                </a:solidFill>
              </a:rPr>
              <a:t>15 / 30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868680" y="23134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E6670"/>
                </a:solidFill>
              </a:rPr>
              <a:t>living agents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834640" y="1874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92026"/>
                </a:solidFill>
              </a:rPr>
              <a:t>10.00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2834640" y="23134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E6670"/>
                </a:solidFill>
              </a:rPr>
              <a:t>average energy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00600" y="1874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E32626"/>
                </a:solidFill>
              </a:rPr>
              <a:t>0.713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4800600" y="23134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E6670"/>
                </a:solidFill>
              </a:rPr>
              <a:t>Gini inequality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3703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92026"/>
                </a:solidFill>
              </a:rPr>
              <a:t>Final average energy by strategy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68680" y="41605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68A2D"/>
                </a:solidFill>
              </a:rPr>
              <a:t>Helper: </a:t>
            </a:r>
            <a:r>
              <a:rPr lang="en-US" sz="1700" dirty="0">
                <a:solidFill>
                  <a:srgbClr val="192026"/>
                </a:solidFill>
              </a:rPr>
              <a:t>1.00
</a:t>
            </a:r>
            <a:r>
              <a:rPr lang="en-US" sz="1700" b="1" dirty="0">
                <a:solidFill>
                  <a:srgbClr val="818181"/>
                </a:solidFill>
              </a:rPr>
              <a:t>Neutral: </a:t>
            </a:r>
            <a:r>
              <a:rPr lang="en-US" sz="1700" dirty="0">
                <a:solidFill>
                  <a:srgbClr val="192026"/>
                </a:solidFill>
              </a:rPr>
              <a:t>3.00
</a:t>
            </a:r>
            <a:r>
              <a:rPr lang="en-US" sz="1700" b="1" dirty="0">
                <a:solidFill>
                  <a:srgbClr val="E32626"/>
                </a:solidFill>
              </a:rPr>
              <a:t>Aggressive: </a:t>
            </a:r>
            <a:r>
              <a:rPr lang="en-US" sz="1700" dirty="0">
                <a:solidFill>
                  <a:srgbClr val="192026"/>
                </a:solidFill>
              </a:rPr>
              <a:t>26.00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17720" y="3703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92026"/>
                </a:solidFill>
              </a:rPr>
              <a:t>Survival by strategy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00600" y="41605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68A2D"/>
                </a:solidFill>
              </a:rPr>
              <a:t>Helpers: </a:t>
            </a:r>
            <a:r>
              <a:rPr lang="en-US" sz="1700" dirty="0">
                <a:solidFill>
                  <a:srgbClr val="192026"/>
                </a:solidFill>
              </a:rPr>
              <a:t>5 of 10 survived
</a:t>
            </a:r>
            <a:r>
              <a:rPr lang="en-US" sz="1700" b="1" dirty="0">
                <a:solidFill>
                  <a:srgbClr val="818181"/>
                </a:solidFill>
              </a:rPr>
              <a:t>Neutral: </a:t>
            </a:r>
            <a:r>
              <a:rPr lang="en-US" sz="1700" dirty="0">
                <a:solidFill>
                  <a:srgbClr val="192026"/>
                </a:solidFill>
              </a:rPr>
              <a:t>2 of 10 survived
</a:t>
            </a:r>
            <a:r>
              <a:rPr lang="en-US" sz="1700" b="1" dirty="0">
                <a:solidFill>
                  <a:srgbClr val="E32626"/>
                </a:solidFill>
              </a:rPr>
              <a:t>Aggressive: </a:t>
            </a:r>
            <a:r>
              <a:rPr lang="en-US" sz="1700" dirty="0">
                <a:solidFill>
                  <a:srgbClr val="192026"/>
                </a:solidFill>
              </a:rPr>
              <a:t>8 of 10 survived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0392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32626"/>
                </a:solidFill>
              </a:rPr>
              <a:t>Main interpretation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03920" y="1783080"/>
            <a:ext cx="297180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92026"/>
                </a:solidFill>
              </a:rPr>
              <a:t>Total energy did not disappear. It moved from many agents into a smaller number of highly successful aggressive agents.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03920" y="4297680"/>
            <a:ext cx="29718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E6670"/>
                </a:solidFill>
              </a:rPr>
              <a:t>This is an emergent result because no global rule assigned the final inequality.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" y="64922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670"/>
                </a:solidFill>
              </a:rPr>
              <a:t>Mini Project 3 • Agent-Based Modeling • 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2"/>
          </a:solidFill>
          <a:ln w="12700">
            <a:solidFill>
              <a:srgbClr val="F6F7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8A2D"/>
          </a:solidFill>
          <a:ln w="12700">
            <a:solidFill>
              <a:srgbClr val="168A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9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Answers to the research questions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patterns are caused by local strategy rules, not by a central controller.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060704"/>
            <a:ext cx="11201400" cy="0"/>
          </a:xfrm>
          <a:prstGeom prst="line">
            <a:avLst/>
          </a:prstGeom>
          <a:noFill/>
          <a:ln w="12700">
            <a:solidFill>
              <a:srgbClr val="B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320040" cy="320040"/>
          </a:xfrm>
          <a:prstGeom prst="rect">
            <a:avLst/>
          </a:prstGeom>
          <a:solidFill>
            <a:srgbClr val="E3262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42646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92026"/>
                </a:solidFill>
              </a:rPr>
              <a:t>Which strategy produced the highest average energy?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25880" y="1773936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E6670"/>
                </a:solidFill>
              </a:rPr>
              <a:t>Aggressive agents had the highest final average energy: 26.00.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697480"/>
            <a:ext cx="320040" cy="320040"/>
          </a:xfrm>
          <a:prstGeom prst="rect">
            <a:avLst/>
          </a:prstGeom>
          <a:solidFill>
            <a:srgbClr val="E3262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27066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92026"/>
                </a:solidFill>
              </a:rPr>
              <a:t>Which strategy had the highest survival rate?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25880" y="3054096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E6670"/>
                </a:solidFill>
              </a:rPr>
              <a:t>Aggressive agents had the highest survival rate: 8 of 10 survived.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977640"/>
            <a:ext cx="320040" cy="320040"/>
          </a:xfrm>
          <a:prstGeom prst="rect">
            <a:avLst/>
          </a:prstGeom>
          <a:solidFill>
            <a:srgbClr val="E3262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39867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92026"/>
                </a:solidFill>
              </a:rPr>
              <a:t>Did local interaction create inequality?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25880" y="4334256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E6670"/>
                </a:solidFill>
              </a:rPr>
              <a:t>Yes. Inequality rose to 0.713 even though the model did not contain a global inequality rule.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0120" y="5349240"/>
            <a:ext cx="9966960" cy="0"/>
          </a:xfrm>
          <a:prstGeom prst="line">
            <a:avLst/>
          </a:prstGeom>
          <a:noFill/>
          <a:ln w="12700">
            <a:solidFill>
              <a:srgbClr val="B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0120" y="559612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92026"/>
                </a:solidFill>
              </a:rPr>
              <a:t>Limitations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606040" y="557784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5E6670"/>
                </a:solidFill>
              </a:rPr>
              <a:t>One run does not prove a universal law. A stronger study would repeat runs while changing C, income, metabolism cost, and strategy ratios.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02920" y="64922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670"/>
                </a:solidFill>
              </a:rPr>
              <a:t>Mini Project 3 • Agent-Based Modeling • 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088" y="274320"/>
            <a:ext cx="12191695" cy="6858000"/>
          </a:xfrm>
          <a:prstGeom prst="rect">
            <a:avLst/>
          </a:prstGeom>
          <a:solidFill>
            <a:srgbClr val="F6F7F2"/>
          </a:solidFill>
          <a:ln w="12700">
            <a:solidFill>
              <a:srgbClr val="F6F7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8A2D"/>
          </a:solidFill>
          <a:ln w="12700">
            <a:solidFill>
              <a:srgbClr val="168A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9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local rules produced a clear population-level pattern.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060704"/>
            <a:ext cx="11201400" cy="0"/>
          </a:xfrm>
          <a:prstGeom prst="line">
            <a:avLst/>
          </a:prstGeom>
          <a:noFill/>
          <a:ln w="12700">
            <a:solidFill>
              <a:srgbClr val="B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8A2D"/>
                </a:solidFill>
              </a:rPr>
              <a:t>Main takeaway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92026"/>
                </a:solidFill>
              </a:rPr>
              <a:t>Aggressive behavior created an individual advantage, but the population-level result was high inequality and a large drop in the number of living agents.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32626"/>
                </a:solidFill>
              </a:rPr>
              <a:t>Why this fits agent-based modeling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6280" y="3634739"/>
            <a:ext cx="5303520" cy="18059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9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have individual states and strategies.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9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Interactions are local through network edges.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9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is updated step by step over time.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9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large-scale pattern emerges from small repeated decisions.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629400" y="592531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5E6670"/>
                </a:solidFill>
              </a:rPr>
              <a:t>Final visual: black nodes died; large red nodes accumulated most of the energy.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02920" y="64922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670"/>
                </a:solidFill>
              </a:rPr>
              <a:t>Mini Project 3 • Agent-Based Modeling • 10</a:t>
            </a:r>
            <a:endParaRPr lang="en-US" sz="850" dirty="0"/>
          </a:p>
        </p:txBody>
      </p:sp>
      <p:pic>
        <p:nvPicPr>
          <p:cNvPr id="14" name="agent_based_model_full_animation">
            <a:hlinkClick r:id="" action="ppaction://media"/>
            <a:extLst>
              <a:ext uri="{FF2B5EF4-FFF2-40B4-BE49-F238E27FC236}">
                <a16:creationId xmlns:a16="http://schemas.microsoft.com/office/drawing/2014/main" id="{46D3B9E0-978C-3BC1-57E8-2AAD56E1819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399457" y="2674140"/>
            <a:ext cx="6076263" cy="3818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625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1101</TotalTime>
  <Words>1102</Words>
  <Application>Microsoft Office PowerPoint</Application>
  <PresentationFormat>Widescreen</PresentationFormat>
  <Paragraphs>151</Paragraphs>
  <Slides>10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Portland State University NSF Virtual REU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Cooperate, Compete, or Stay Neutral</dc:title>
  <dc:subject>Agent-based model of strategies on a network</dc:subject>
  <dc:creator>Zackery Lake</dc:creator>
  <cp:lastModifiedBy>Zackery Lake</cp:lastModifiedBy>
  <cp:revision>3</cp:revision>
  <dcterms:created xsi:type="dcterms:W3CDTF">2026-06-16T01:01:41Z</dcterms:created>
  <dcterms:modified xsi:type="dcterms:W3CDTF">2026-06-16T19:29:36Z</dcterms:modified>
</cp:coreProperties>
</file>